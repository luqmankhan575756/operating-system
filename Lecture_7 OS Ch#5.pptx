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4121" r:id="rId1"/>
  </p:sldMasterIdLst>
  <p:notesMasterIdLst>
    <p:notesMasterId r:id="rId22"/>
  </p:notesMasterIdLst>
  <p:handoutMasterIdLst>
    <p:handoutMasterId r:id="rId23"/>
  </p:handoutMasterIdLst>
  <p:sldIdLst>
    <p:sldId id="331" r:id="rId2"/>
    <p:sldId id="334" r:id="rId3"/>
    <p:sldId id="335" r:id="rId4"/>
    <p:sldId id="336" r:id="rId5"/>
    <p:sldId id="401" r:id="rId6"/>
    <p:sldId id="337" r:id="rId7"/>
    <p:sldId id="338" r:id="rId8"/>
    <p:sldId id="339" r:id="rId9"/>
    <p:sldId id="340" r:id="rId10"/>
    <p:sldId id="341" r:id="rId11"/>
    <p:sldId id="342" r:id="rId12"/>
    <p:sldId id="403" r:id="rId13"/>
    <p:sldId id="343" r:id="rId14"/>
    <p:sldId id="347" r:id="rId15"/>
    <p:sldId id="348" r:id="rId16"/>
    <p:sldId id="349" r:id="rId17"/>
    <p:sldId id="405" r:id="rId18"/>
    <p:sldId id="408" r:id="rId19"/>
    <p:sldId id="407" r:id="rId20"/>
    <p:sldId id="404" r:id="rId21"/>
  </p:sldIdLst>
  <p:sldSz cx="12192000" cy="6858000"/>
  <p:notesSz cx="7086600" cy="93726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 userDrawn="1">
          <p15:clr>
            <a:srgbClr val="A4A3A4"/>
          </p15:clr>
        </p15:guide>
        <p15:guide id="2" pos="5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85" autoAdjust="0"/>
    <p:restoredTop sz="94635"/>
  </p:normalViewPr>
  <p:slideViewPr>
    <p:cSldViewPr snapToGrid="0">
      <p:cViewPr varScale="1">
        <p:scale>
          <a:sx n="62" d="100"/>
          <a:sy n="62" d="100"/>
        </p:scale>
        <p:origin x="876" y="66"/>
      </p:cViewPr>
      <p:guideLst>
        <p:guide orient="horz" pos="816"/>
        <p:guide pos="5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2027A3F3-A935-4BDC-812E-9120B643162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6738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defTabSz="890588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7271601B-176A-4BB3-AC87-58251574C75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4150" y="0"/>
            <a:ext cx="3105150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algn="r" defTabSz="890588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AC7F65B7-06EB-44DB-B452-D2D38318152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39213"/>
            <a:ext cx="3106738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defTabSz="890588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B2508938-9467-485D-A454-F81218F2ADB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4150" y="8939213"/>
            <a:ext cx="3105150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algn="r" defTabSz="890588">
              <a:defRPr sz="1100">
                <a:latin typeface="Helvetica" charset="0"/>
                <a:ea typeface="MS PGothic" charset="-128"/>
              </a:defRPr>
            </a:lvl1pPr>
          </a:lstStyle>
          <a:p>
            <a:pPr>
              <a:defRPr/>
            </a:pPr>
            <a:fld id="{E0F0762C-192C-43F0-9235-1ED3B30BABF7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99FA718-A6D5-4F45-AA4A-4BEBC20AD73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defTabSz="93980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D00055E3-33CD-4C16-B1E7-137DC8ED073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algn="r" defTabSz="93980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4A5BA436-A0A2-4A15-B145-2DD97D7A307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20688" y="704850"/>
            <a:ext cx="6246812" cy="351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7145563E-578D-4EA3-A924-014C2A79C5A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1EE489C0-8AB7-4BF4-AFB6-59687BD0D42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defTabSz="93980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311BAF64-3980-48A7-93B5-275428159D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algn="r" defTabSz="939800">
              <a:defRPr sz="1200">
                <a:latin typeface="Times New Roman" charset="0"/>
                <a:ea typeface="MS PGothic" charset="-128"/>
              </a:defRPr>
            </a:lvl1pPr>
          </a:lstStyle>
          <a:p>
            <a:pPr>
              <a:defRPr/>
            </a:pPr>
            <a:fld id="{C9F949B7-291A-4420-9D9C-B1ABA67FB313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5776ACBD-4645-43B7-892F-697D57D495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0CF72FA-BC85-4452-9FD4-6F163D5E4845}" type="slidenum">
              <a:rPr lang="en-US" altLang="en-US" smtClean="0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48A88ED8-0C05-4DF8-A678-F55DA039B3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74978C2-165A-418A-AF53-B86870696A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>
            <a:extLst>
              <a:ext uri="{FF2B5EF4-FFF2-40B4-BE49-F238E27FC236}">
                <a16:creationId xmlns:a16="http://schemas.microsoft.com/office/drawing/2014/main" id="{405F6187-9AEA-4432-A06C-1C71DC9098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3A31E14-A3B9-4040-8D31-E2E402615F68}" type="slidenum">
              <a:rPr lang="en-US" altLang="en-US" smtClean="0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92AB0F5E-8A1E-4B4A-A2A0-FE71829D0E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9A7828BA-2BF1-4802-82BB-DA5609DDA8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>
            <a:extLst>
              <a:ext uri="{FF2B5EF4-FFF2-40B4-BE49-F238E27FC236}">
                <a16:creationId xmlns:a16="http://schemas.microsoft.com/office/drawing/2014/main" id="{1DCCDE05-0681-4707-90EF-7D1EEA3E3A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01F39FF-FF4B-4DB5-A12B-99992D735DF8}" type="slidenum">
              <a:rPr lang="en-US" altLang="en-US" smtClean="0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F0E0EA84-2041-4AE8-806B-3AAE9F7A03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1DC70842-3A74-4598-A4CA-0474C81F1B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764C6DB2-A3B2-4D18-A415-9F1EB91BC1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559FA64-B840-47E0-A280-D112047F7636}" type="slidenum">
              <a:rPr lang="en-US" altLang="en-US" smtClean="0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3E063D3B-C605-4809-885A-65B64372A9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A0FFA38-D7C5-4747-B0EF-688A1B1056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764C6DB2-A3B2-4D18-A415-9F1EB91BC1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559FA64-B840-47E0-A280-D112047F7636}" type="slidenum">
              <a:rPr lang="en-US" altLang="en-US" smtClean="0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3E063D3B-C605-4809-885A-65B64372A9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A0FFA38-D7C5-4747-B0EF-688A1B1056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7889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A01F25CF-FF7D-432D-AEB3-6710154153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72593EA-83E9-49DF-9A69-061BE7580B7A}" type="slidenum">
              <a:rPr lang="en-US" altLang="en-US" smtClean="0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7EBD862C-4A3E-4654-8B80-448A34563F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25E9679F-2A37-45A8-BEFD-99A5560446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4449CF17-6DE0-42A8-AF6D-65582A8B77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1DD403B-DC2E-496B-BDE4-8AC536A45743}" type="slidenum">
              <a:rPr lang="en-US" altLang="en-US" smtClean="0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51D3904E-C473-48EE-9DE3-D37AD52B1B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26B73BA7-C0AE-4B26-9EE2-89053DF39E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782373FB-7979-43C3-9CD1-428D9B5060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982816C-CEF7-47A7-92DB-2D0700EC55E4}" type="slidenum">
              <a:rPr lang="en-US" altLang="en-US" smtClean="0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DD50E9C8-67EF-4556-969A-2795FF1442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5BF3A816-A617-46B9-9536-0B761391AA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>
            <a:extLst>
              <a:ext uri="{FF2B5EF4-FFF2-40B4-BE49-F238E27FC236}">
                <a16:creationId xmlns:a16="http://schemas.microsoft.com/office/drawing/2014/main" id="{4D8F9928-8869-45F7-BA42-5A488A3E1B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85554BC-4E9D-46F3-8CDA-F7DF99B87F74}" type="slidenum">
              <a:rPr lang="en-US" altLang="en-US" smtClean="0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D40412E3-E257-462F-AEEC-27F4A0E78C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1D67F792-BDD9-43A7-AAE4-80F3F09C95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5BA74056-F347-47E7-8F80-E67498FF6C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D2E19D3-36AF-42FB-A3BF-7AE756C80D6F}" type="slidenum">
              <a:rPr lang="en-US" altLang="en-US" smtClean="0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EBB136E9-59A5-44E7-9BD0-1637A76BE6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4EED1A63-8694-46B7-9400-1442886D34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B1A60390-627A-4274-847E-47EB601902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97320C0-8E4B-4B1E-A830-FE5886CA5D53}" type="slidenum">
              <a:rPr lang="en-US" altLang="en-US" smtClean="0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EA2463C4-B80E-4B8C-85AE-C8401A286E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4309114D-ADAD-450C-8806-B9C750BE98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B1A60390-627A-4274-847E-47EB601902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97320C0-8E4B-4B1E-A830-FE5886CA5D53}" type="slidenum">
              <a:rPr lang="en-US" altLang="en-US" smtClean="0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EA2463C4-B80E-4B8C-85AE-C8401A286E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4309114D-ADAD-450C-8806-B9C750BE98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542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id="{7380D259-8709-44FC-8E19-F922D8C495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5C6A69F-A1A7-4195-B308-73F52EF032EA}" type="slidenum">
              <a:rPr lang="en-US" altLang="en-US" smtClean="0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F684A191-C264-4532-87A6-9B7C803DC0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CC595F0D-327E-463B-9214-2FB095AD25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>
            <a:extLst>
              <a:ext uri="{FF2B5EF4-FFF2-40B4-BE49-F238E27FC236}">
                <a16:creationId xmlns:a16="http://schemas.microsoft.com/office/drawing/2014/main" id="{4C2245F4-0687-48BF-BF76-797F8BC2AC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799B002-221E-4ACE-82C8-ADA61FD05C07}" type="slidenum">
              <a:rPr lang="en-US" altLang="en-US" smtClean="0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2946022D-15EE-4829-ABB0-2302B5FB73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833E1FE6-F684-4288-B04E-1699B856B6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>
            <a:extLst>
              <a:ext uri="{FF2B5EF4-FFF2-40B4-BE49-F238E27FC236}">
                <a16:creationId xmlns:a16="http://schemas.microsoft.com/office/drawing/2014/main" id="{0A17CE6B-6039-43D7-A98A-F4F050EBD8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6B59C17-8BC0-4D12-8CAC-4CF08CD54505}" type="slidenum">
              <a:rPr lang="en-US" altLang="en-US" smtClean="0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069692E4-A9F9-42A3-BEE3-5D68069DF0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F137D665-2B0C-4C02-9EBA-DAA2DE83B2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>
            <a:extLst>
              <a:ext uri="{FF2B5EF4-FFF2-40B4-BE49-F238E27FC236}">
                <a16:creationId xmlns:a16="http://schemas.microsoft.com/office/drawing/2014/main" id="{469870DE-ED07-4369-A35C-886FE9BF9D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753270A-71CB-4C96-9EF2-586D51F6CA41}" type="slidenum">
              <a:rPr lang="en-US" altLang="en-US" smtClean="0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709C325C-9D3C-44A6-8500-BB6A220D2B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940CBAB1-EA8F-4B67-816C-288C9B0978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38600" y="1171525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136642" y="312860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dirty="0"/>
              <a:t>Ayesha Asmat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4237923" y="1445845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Image result for umt logo">
            <a:extLst>
              <a:ext uri="{FF2B5EF4-FFF2-40B4-BE49-F238E27FC236}">
                <a16:creationId xmlns:a16="http://schemas.microsoft.com/office/drawing/2014/main" id="{253E27E3-48B1-4D5D-899A-017DAC31E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4192" y="1241948"/>
            <a:ext cx="2843409" cy="215293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54183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687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00" y="1712254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36933" y="3702664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Ayesha Asmat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4319810" y="1986574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Image result for umt logo">
            <a:extLst>
              <a:ext uri="{FF2B5EF4-FFF2-40B4-BE49-F238E27FC236}">
                <a16:creationId xmlns:a16="http://schemas.microsoft.com/office/drawing/2014/main" id="{4D2EEAFE-E713-4623-9201-47216875D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9340" y="1556102"/>
            <a:ext cx="2834995" cy="21465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49337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6290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9993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682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2098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6466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51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26227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203512" y="1928646"/>
            <a:ext cx="7642745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Image result for umt logo">
            <a:extLst>
              <a:ext uri="{FF2B5EF4-FFF2-40B4-BE49-F238E27FC236}">
                <a16:creationId xmlns:a16="http://schemas.microsoft.com/office/drawing/2014/main" id="{3FFFB8F1-AE55-4891-9DA1-CBAFA455F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85671" y="1928646"/>
            <a:ext cx="2809490" cy="2127250"/>
          </a:xfrm>
          <a:prstGeom prst="rect">
            <a:avLst/>
          </a:prstGeom>
          <a:noFill/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64282BF-FBAF-4E94-835C-01FA473C0CF9}"/>
              </a:ext>
            </a:extLst>
          </p:cNvPr>
          <p:cNvCxnSpPr/>
          <p:nvPr/>
        </p:nvCxnSpPr>
        <p:spPr>
          <a:xfrm flipV="1">
            <a:off x="4210629" y="2514600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886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333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2" r:id="rId1"/>
    <p:sldLayoutId id="2147484123" r:id="rId2"/>
    <p:sldLayoutId id="2147484124" r:id="rId3"/>
    <p:sldLayoutId id="2147484125" r:id="rId4"/>
    <p:sldLayoutId id="2147484126" r:id="rId5"/>
    <p:sldLayoutId id="2147484127" r:id="rId6"/>
    <p:sldLayoutId id="2147484128" r:id="rId7"/>
    <p:sldLayoutId id="2147484129" r:id="rId8"/>
    <p:sldLayoutId id="2147484130" r:id="rId9"/>
    <p:sldLayoutId id="2147484131" r:id="rId10"/>
    <p:sldLayoutId id="2147484132" r:id="rId11"/>
    <p:sldLayoutId id="2147484133" r:id="rId12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218F8D62-A6F5-4F18-9BB3-A18FA6B4E22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687529" y="2006754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5:  CPU Scheduling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>
            <a:extLst>
              <a:ext uri="{FF2B5EF4-FFF2-40B4-BE49-F238E27FC236}">
                <a16:creationId xmlns:a16="http://schemas.microsoft.com/office/drawing/2014/main" id="{AC8CABCD-F408-4385-AC6D-CB5E8038C3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23450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Basic Concepts</a:t>
            </a:r>
          </a:p>
        </p:txBody>
      </p:sp>
      <p:sp>
        <p:nvSpPr>
          <p:cNvPr id="11266" name="Rectangle 3">
            <a:extLst>
              <a:ext uri="{FF2B5EF4-FFF2-40B4-BE49-F238E27FC236}">
                <a16:creationId xmlns:a16="http://schemas.microsoft.com/office/drawing/2014/main" id="{B2D356C4-1B27-4D4C-8A80-D241E2CD7B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28914" y="1274764"/>
            <a:ext cx="5414737" cy="5057775"/>
          </a:xfrm>
        </p:spPr>
        <p:txBody>
          <a:bodyPr/>
          <a:lstStyle/>
          <a:p>
            <a:r>
              <a:rPr lang="en-US" altLang="en-US" sz="2800" dirty="0"/>
              <a:t>Maximum CPU utilization obtained with multiprogramming</a:t>
            </a:r>
          </a:p>
          <a:p>
            <a:r>
              <a:rPr lang="en-US" altLang="en-US" sz="2800" dirty="0"/>
              <a:t>CPU–I/O Burst Cycle – Process execution consists of a </a:t>
            </a:r>
            <a:r>
              <a:rPr lang="en-US" altLang="en-US" sz="2800" b="1" dirty="0">
                <a:solidFill>
                  <a:srgbClr val="006699"/>
                </a:solidFill>
                <a:latin typeface="+mj-lt"/>
              </a:rPr>
              <a:t>cycle</a:t>
            </a:r>
            <a:r>
              <a:rPr lang="en-US" altLang="en-US" sz="2800" dirty="0"/>
              <a:t> of CPU execution and I/O wait</a:t>
            </a:r>
          </a:p>
          <a:p>
            <a:r>
              <a:rPr lang="en-US" altLang="en-US" sz="2800" b="1" dirty="0">
                <a:solidFill>
                  <a:srgbClr val="006699"/>
                </a:solidFill>
                <a:latin typeface="+mj-lt"/>
              </a:rPr>
              <a:t>CPU</a:t>
            </a:r>
            <a:r>
              <a:rPr lang="en-US" altLang="en-US" sz="2800" b="1" dirty="0">
                <a:solidFill>
                  <a:srgbClr val="3366FF"/>
                </a:solidFill>
              </a:rPr>
              <a:t> </a:t>
            </a:r>
            <a:r>
              <a:rPr lang="en-US" altLang="en-US" sz="2800" b="1" dirty="0">
                <a:solidFill>
                  <a:srgbClr val="006699"/>
                </a:solidFill>
                <a:latin typeface="+mj-lt"/>
              </a:rPr>
              <a:t>burst</a:t>
            </a:r>
            <a:r>
              <a:rPr lang="en-US" altLang="en-US" sz="2800" b="1" dirty="0">
                <a:solidFill>
                  <a:srgbClr val="3366FF"/>
                </a:solidFill>
              </a:rPr>
              <a:t> </a:t>
            </a:r>
            <a:r>
              <a:rPr lang="en-US" altLang="en-US" sz="2800" dirty="0"/>
              <a:t>followed by </a:t>
            </a:r>
            <a:r>
              <a:rPr lang="en-US" altLang="en-US" sz="2800" b="1" dirty="0">
                <a:solidFill>
                  <a:srgbClr val="006699"/>
                </a:solidFill>
                <a:latin typeface="+mj-lt"/>
              </a:rPr>
              <a:t>I/O burst</a:t>
            </a:r>
          </a:p>
          <a:p>
            <a:r>
              <a:rPr lang="en-US" altLang="en-US" sz="2800" dirty="0"/>
              <a:t>CPU burst distribution is of main concern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  <p:pic>
        <p:nvPicPr>
          <p:cNvPr id="11267" name="Picture 1">
            <a:extLst>
              <a:ext uri="{FF2B5EF4-FFF2-40B4-BE49-F238E27FC236}">
                <a16:creationId xmlns:a16="http://schemas.microsoft.com/office/drawing/2014/main" id="{42D4194B-20FB-49DE-95E2-D3F1F7D61B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4215" y="603932"/>
            <a:ext cx="3017383" cy="5617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272FB29C-A265-4A5A-90F0-4EA35A1717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90800" y="222868"/>
            <a:ext cx="76200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Histogram of CPU-burst Times</a:t>
            </a:r>
          </a:p>
        </p:txBody>
      </p:sp>
      <p:sp>
        <p:nvSpPr>
          <p:cNvPr id="13314" name="TextBox 2">
            <a:extLst>
              <a:ext uri="{FF2B5EF4-FFF2-40B4-BE49-F238E27FC236}">
                <a16:creationId xmlns:a16="http://schemas.microsoft.com/office/drawing/2014/main" id="{199A0D9E-EDB0-4B00-B274-814CD65DE9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3526" y="1323975"/>
            <a:ext cx="3725863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>
                <a:latin typeface="Verdana" panose="020B0604030504040204" pitchFamily="34" charset="0"/>
              </a:rPr>
              <a:t>Large number of short bursts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>
              <a:latin typeface="Verdan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>
                <a:latin typeface="Verdana" panose="020B0604030504040204" pitchFamily="34" charset="0"/>
              </a:rPr>
              <a:t>Small number of longer bursts</a:t>
            </a:r>
          </a:p>
        </p:txBody>
      </p:sp>
      <p:pic>
        <p:nvPicPr>
          <p:cNvPr id="13315" name="Picture 1">
            <a:extLst>
              <a:ext uri="{FF2B5EF4-FFF2-40B4-BE49-F238E27FC236}">
                <a16:creationId xmlns:a16="http://schemas.microsoft.com/office/drawing/2014/main" id="{A278EA04-1701-4441-AB9A-E05347064E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200" y="2349048"/>
            <a:ext cx="6716487" cy="4017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1EB4A270-3C01-4E70-B6CB-FA456BBCDA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52371" y="258634"/>
            <a:ext cx="7848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CPU Scheduler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6B795676-7DD0-4F16-8B81-4EFFF754D5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6886" y="1082904"/>
            <a:ext cx="10482943" cy="526030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200" dirty="0">
                <a:ea typeface="ＭＳ Ｐゴシック" charset="0"/>
                <a:cs typeface="ＭＳ Ｐゴシック" charset="0"/>
              </a:rPr>
              <a:t>The</a:t>
            </a:r>
            <a:r>
              <a:rPr lang="en-US" sz="3200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 </a:t>
            </a:r>
            <a:r>
              <a:rPr lang="en-US" sz="3200" b="1" dirty="0">
                <a:solidFill>
                  <a:srgbClr val="006699"/>
                </a:solidFill>
                <a:latin typeface="+mj-lt"/>
              </a:rPr>
              <a:t>CPU scheduler </a:t>
            </a:r>
            <a:r>
              <a:rPr lang="en-US" sz="3200" dirty="0">
                <a:ea typeface="ＭＳ Ｐゴシック" charset="-128"/>
                <a:cs typeface="ＭＳ Ｐゴシック" charset="-128"/>
              </a:rPr>
              <a:t>selects from among the processes in ready queue, and allocates a CPU core to one of them</a:t>
            </a:r>
          </a:p>
          <a:p>
            <a:pPr marL="742835" lvl="1">
              <a:defRPr/>
            </a:pPr>
            <a:r>
              <a:rPr lang="en-US" sz="2400" dirty="0">
                <a:ea typeface="ＭＳ Ｐゴシック" charset="-128"/>
              </a:rPr>
              <a:t>Queue may be ordered in various ways</a:t>
            </a:r>
          </a:p>
          <a:p>
            <a:pPr>
              <a:defRPr/>
            </a:pPr>
            <a:r>
              <a:rPr lang="en-US" sz="3200" dirty="0">
                <a:ea typeface="ＭＳ Ｐゴシック" charset="-128"/>
                <a:cs typeface="ＭＳ Ｐゴシック" charset="-128"/>
              </a:rPr>
              <a:t>CPU scheduling decisions may take place when a process:</a:t>
            </a:r>
          </a:p>
          <a:p>
            <a:pPr marL="914285" lvl="1" indent="-457200">
              <a:buFont typeface="+mj-lt"/>
              <a:buAutoNum type="arabicPeriod"/>
              <a:defRPr/>
            </a:pPr>
            <a:r>
              <a:rPr lang="en-US" sz="2400" dirty="0">
                <a:ea typeface="ＭＳ Ｐゴシック" charset="-128"/>
              </a:rPr>
              <a:t>Switches from running to waiting state</a:t>
            </a:r>
          </a:p>
          <a:p>
            <a:pPr marL="914285" lvl="1" indent="-457200">
              <a:buFont typeface="+mj-lt"/>
              <a:buAutoNum type="arabicPeriod"/>
              <a:defRPr/>
            </a:pPr>
            <a:r>
              <a:rPr lang="en-US" sz="2400" dirty="0">
                <a:ea typeface="ＭＳ Ｐゴシック" charset="-128"/>
              </a:rPr>
              <a:t>Switches from running to ready state</a:t>
            </a:r>
          </a:p>
          <a:p>
            <a:pPr marL="914285" lvl="1" indent="-457200">
              <a:buFont typeface="+mj-lt"/>
              <a:buAutoNum type="arabicPeriod"/>
              <a:defRPr/>
            </a:pPr>
            <a:r>
              <a:rPr lang="en-US" sz="2400" dirty="0">
                <a:ea typeface="ＭＳ Ｐゴシック" charset="-128"/>
              </a:rPr>
              <a:t>Switches from waiting to ready</a:t>
            </a:r>
          </a:p>
          <a:p>
            <a:pPr marL="914285" lvl="1" indent="-457200">
              <a:buFont typeface="+mj-lt"/>
              <a:buAutoNum type="arabicPeriod"/>
              <a:defRPr/>
            </a:pPr>
            <a:r>
              <a:rPr lang="en-US" sz="2400" dirty="0">
                <a:ea typeface="ＭＳ Ｐゴシック" charset="-128"/>
              </a:rPr>
              <a:t>Terminates</a:t>
            </a:r>
          </a:p>
          <a:p>
            <a:pPr marL="799900" lvl="1" indent="-342815">
              <a:buFont typeface="Monotype Sorts" charset="2"/>
              <a:buAutoNum type="arabicPeriod" startAt="4"/>
              <a:defRPr/>
            </a:pPr>
            <a:endParaRPr lang="en-US" sz="2400" dirty="0">
              <a:ea typeface="ＭＳ Ｐゴシック" charset="-128"/>
            </a:endParaRPr>
          </a:p>
          <a:p>
            <a:pPr fontAlgn="base">
              <a:spcBef>
                <a:spcPts val="48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ea typeface="ＭＳ Ｐゴシック" charset="-128"/>
              </a:rPr>
              <a:t>Scheduling under1and 4 is </a:t>
            </a:r>
            <a:r>
              <a:rPr lang="en-US" sz="3200" b="1" dirty="0">
                <a:solidFill>
                  <a:srgbClr val="006699"/>
                </a:solidFill>
                <a:latin typeface="+mj-lt"/>
              </a:rPr>
              <a:t>non-preemptive</a:t>
            </a:r>
            <a:r>
              <a:rPr lang="en-US" sz="3200" dirty="0">
                <a:ea typeface="ＭＳ Ｐゴシック" charset="-128"/>
              </a:rPr>
              <a:t>.</a:t>
            </a:r>
          </a:p>
          <a:p>
            <a:pPr fontAlgn="base">
              <a:spcBef>
                <a:spcPts val="48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ea typeface="ＭＳ Ｐゴシック" charset="-128"/>
              </a:rPr>
              <a:t> All other scheduling is </a:t>
            </a:r>
            <a:r>
              <a:rPr lang="en-US" sz="3200" b="1" dirty="0">
                <a:solidFill>
                  <a:srgbClr val="006699"/>
                </a:solidFill>
                <a:latin typeface="+mj-lt"/>
              </a:rPr>
              <a:t>preemptive</a:t>
            </a:r>
            <a:r>
              <a:rPr lang="en-US" sz="3200" dirty="0">
                <a:ea typeface="ＭＳ Ｐゴシック" charset="-128"/>
              </a:rPr>
              <a:t>.</a:t>
            </a:r>
          </a:p>
          <a:p>
            <a:pPr marL="799900" lvl="1" indent="-342815">
              <a:buFont typeface="Monotype Sorts" charset="2"/>
              <a:buAutoNum type="arabicPeriod" startAt="4"/>
              <a:defRPr/>
            </a:pPr>
            <a:endParaRPr lang="en-US" sz="1800" dirty="0">
              <a:ea typeface="ＭＳ Ｐゴシック" charset="-128"/>
            </a:endParaRPr>
          </a:p>
          <a:p>
            <a:pPr marL="799900" lvl="1" indent="-342815">
              <a:buFont typeface="Monotype Sorts" charset="2"/>
              <a:buAutoNum type="arabicPeriod" startAt="4"/>
              <a:defRPr/>
            </a:pPr>
            <a:endParaRPr lang="en-US" sz="1800" dirty="0">
              <a:ea typeface="ＭＳ Ｐゴシック" charset="-128"/>
            </a:endParaRPr>
          </a:p>
          <a:p>
            <a:pPr marL="799900" lvl="1" indent="-342815">
              <a:buFont typeface="Monotype Sorts" charset="2"/>
              <a:buAutoNum type="arabicPeriod" startAt="4"/>
              <a:defRPr/>
            </a:pPr>
            <a:endParaRPr lang="en-US" sz="1800" dirty="0">
              <a:ea typeface="ＭＳ Ｐゴシック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1EB4A270-3C01-4E70-B6CB-FA456BBCDA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28549" y="515429"/>
            <a:ext cx="7848600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Preemptive and Nonpreemptive Scheduling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6B795676-7DD0-4F16-8B81-4EFFF754D5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28915" y="1193434"/>
            <a:ext cx="10450286" cy="4931596"/>
          </a:xfrm>
        </p:spPr>
        <p:txBody>
          <a:bodyPr>
            <a:normAutofit/>
          </a:bodyPr>
          <a:lstStyle/>
          <a:p>
            <a:pPr algn="just"/>
            <a:endParaRPr lang="en-PK" sz="1800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 algn="just"/>
            <a:r>
              <a:rPr lang="en-US" sz="2800" dirty="0">
                <a:latin typeface="Tw Cen MT (Body)"/>
              </a:rPr>
              <a:t>In </a:t>
            </a:r>
            <a:r>
              <a:rPr lang="en-US" sz="2800" b="1" dirty="0">
                <a:latin typeface="Tw Cen MT (Body)"/>
              </a:rPr>
              <a:t>Pre-emptive scheduling </a:t>
            </a:r>
            <a:r>
              <a:rPr lang="en-US" sz="2800" dirty="0">
                <a:latin typeface="Tw Cen MT (Body)"/>
              </a:rPr>
              <a:t>the currently running process may be interrupted and moved to the ready state by OS (forcefully) </a:t>
            </a:r>
          </a:p>
          <a:p>
            <a:pPr algn="just"/>
            <a:r>
              <a:rPr lang="en-US" sz="2800" dirty="0">
                <a:latin typeface="Tw Cen MT (Body)"/>
              </a:rPr>
              <a:t>In </a:t>
            </a:r>
            <a:r>
              <a:rPr lang="en-US" sz="2800" b="1" dirty="0">
                <a:latin typeface="Tw Cen MT (Body)"/>
              </a:rPr>
              <a:t>Non-preemptive Scheduling</a:t>
            </a:r>
            <a:r>
              <a:rPr lang="en-US" sz="2800" dirty="0">
                <a:latin typeface="Tw Cen MT (Body)"/>
              </a:rPr>
              <a:t>, the running process can only lose the processor voluntarily by terminating or by requesting an I/O. OR, Once CPU given to a process it cannot be preempted until the process completes its CPU burst </a:t>
            </a:r>
          </a:p>
          <a:p>
            <a:pPr algn="just"/>
            <a:endParaRPr lang="en-US" sz="1800" dirty="0">
              <a:latin typeface="Tw Cen MT (Body)"/>
              <a:ea typeface="ＭＳ Ｐゴシック" charset="-128"/>
            </a:endParaRPr>
          </a:p>
          <a:p>
            <a:pPr algn="just"/>
            <a:r>
              <a:rPr lang="en-US" sz="2800" dirty="0">
                <a:ea typeface="ＭＳ Ｐゴシック" charset="0"/>
              </a:rPr>
              <a:t>Under Non-preemptive scheduling, once the CPU has been allocated to a process, the process keeps the CPU until it releases it either by terminating or by switching to the waiting state. </a:t>
            </a:r>
          </a:p>
          <a:p>
            <a:pPr algn="just"/>
            <a:endParaRPr lang="en-US" sz="2800" dirty="0">
              <a:latin typeface="Tw Cen MT (Body)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28729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C185CC1F-4F14-4AFD-8E13-6930EBB32C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17330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Dispatcher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E113DAE6-D3A7-45EF-87B5-890976FCB8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54743" y="1119236"/>
            <a:ext cx="6908799" cy="5222571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Dispatcher module gives control of the CPU to the process selected by the CPU scheduler</a:t>
            </a:r>
          </a:p>
          <a:p>
            <a:r>
              <a:rPr lang="en-US" altLang="en-US" sz="3200" b="1" dirty="0">
                <a:solidFill>
                  <a:srgbClr val="006699"/>
                </a:solidFill>
                <a:latin typeface="+mj-lt"/>
              </a:rPr>
              <a:t>Dispatch latency </a:t>
            </a:r>
            <a:r>
              <a:rPr lang="en-US" altLang="en-US" sz="3200" dirty="0"/>
              <a:t>– time it takes for the dispatcher to stop one process and start another running</a:t>
            </a:r>
          </a:p>
        </p:txBody>
      </p:sp>
      <p:pic>
        <p:nvPicPr>
          <p:cNvPr id="17411" name="Picture 1">
            <a:extLst>
              <a:ext uri="{FF2B5EF4-FFF2-40B4-BE49-F238E27FC236}">
                <a16:creationId xmlns:a16="http://schemas.microsoft.com/office/drawing/2014/main" id="{4B24D036-ECCD-4EE8-9908-C3EEA54E5C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876"/>
          <a:stretch/>
        </p:blipFill>
        <p:spPr bwMode="auto">
          <a:xfrm>
            <a:off x="7543409" y="413099"/>
            <a:ext cx="4198649" cy="5713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684BC100-CBCD-4FBD-A30F-9EBDD59CA0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14600" y="214313"/>
            <a:ext cx="76962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Scheduling Criteria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4338C466-115B-47DE-A288-6C7152DF07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38630" y="1246189"/>
            <a:ext cx="10755084" cy="5299754"/>
          </a:xfrm>
        </p:spPr>
        <p:txBody>
          <a:bodyPr>
            <a:normAutofit/>
          </a:bodyPr>
          <a:lstStyle/>
          <a:p>
            <a:pPr algn="just"/>
            <a:r>
              <a:rPr lang="en-US" altLang="en-US" sz="3200" b="1" dirty="0"/>
              <a:t>CPU utilization </a:t>
            </a:r>
            <a:r>
              <a:rPr lang="en-US" altLang="en-US" sz="3200" dirty="0"/>
              <a:t>– keep the CPU as busy as possible</a:t>
            </a:r>
          </a:p>
          <a:p>
            <a:pPr algn="just"/>
            <a:r>
              <a:rPr lang="en-US" altLang="en-US" sz="3200" b="1" dirty="0"/>
              <a:t>Throughput</a:t>
            </a:r>
            <a:r>
              <a:rPr lang="en-US" altLang="en-US" sz="3200" dirty="0"/>
              <a:t> – # of processes that complete their execution per time unit</a:t>
            </a:r>
          </a:p>
          <a:p>
            <a:pPr algn="just"/>
            <a:r>
              <a:rPr lang="en-US" altLang="en-US" sz="3200" b="1" dirty="0"/>
              <a:t>Turnaround time </a:t>
            </a:r>
            <a:r>
              <a:rPr lang="en-US" altLang="en-US" sz="3200" dirty="0"/>
              <a:t>– amount of time to execute a particular process</a:t>
            </a:r>
          </a:p>
          <a:p>
            <a:pPr algn="just"/>
            <a:r>
              <a:rPr lang="en-US" altLang="en-US" sz="3200" b="1" dirty="0"/>
              <a:t>Waiting time </a:t>
            </a:r>
            <a:r>
              <a:rPr lang="en-US" altLang="en-US" sz="3200" dirty="0"/>
              <a:t>– amount of time a process has been waiting in the ready queue</a:t>
            </a:r>
          </a:p>
          <a:p>
            <a:pPr algn="just"/>
            <a:r>
              <a:rPr lang="en-US" altLang="en-US" sz="3200" b="1" dirty="0"/>
              <a:t>Response time </a:t>
            </a:r>
            <a:r>
              <a:rPr lang="en-US" altLang="en-US" sz="3200" dirty="0"/>
              <a:t>– amount of time it takes from when a request was submitted until the first response is produced.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A22DB2EC-3AE5-4A50-BF1F-F8FE7B96CE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47451" y="143942"/>
            <a:ext cx="7513637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Scheduling Algorithm Optimization Criteria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DA102F21-0BD1-4162-8066-37183DF9B9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16000" y="1113511"/>
            <a:ext cx="7475538" cy="4483100"/>
          </a:xfrm>
        </p:spPr>
        <p:txBody>
          <a:bodyPr>
            <a:normAutofit/>
          </a:bodyPr>
          <a:lstStyle/>
          <a:p>
            <a:pPr marL="536575" indent="-536575">
              <a:buFont typeface="Wingdings" panose="05000000000000000000" pitchFamily="2" charset="2"/>
              <a:buChar char="Ø"/>
            </a:pPr>
            <a:r>
              <a:rPr lang="en-US" altLang="en-US" sz="2800" dirty="0"/>
              <a:t>Max CPU utilization</a:t>
            </a:r>
          </a:p>
          <a:p>
            <a:pPr marL="536575" indent="-536575">
              <a:buFont typeface="Wingdings" panose="05000000000000000000" pitchFamily="2" charset="2"/>
              <a:buChar char="Ø"/>
            </a:pPr>
            <a:r>
              <a:rPr lang="en-US" altLang="en-US" sz="2800" dirty="0"/>
              <a:t>Max throughput</a:t>
            </a:r>
          </a:p>
          <a:p>
            <a:pPr marL="536575" indent="-536575">
              <a:buFont typeface="Wingdings" panose="05000000000000000000" pitchFamily="2" charset="2"/>
              <a:buChar char="Ø"/>
            </a:pPr>
            <a:r>
              <a:rPr lang="en-US" altLang="en-US" sz="2800" dirty="0"/>
              <a:t>Min turnaround time </a:t>
            </a:r>
          </a:p>
          <a:p>
            <a:pPr marL="536575" indent="-536575">
              <a:buFont typeface="Wingdings" panose="05000000000000000000" pitchFamily="2" charset="2"/>
              <a:buChar char="Ø"/>
            </a:pPr>
            <a:r>
              <a:rPr lang="en-US" altLang="en-US" sz="2800" dirty="0"/>
              <a:t>Min waiting time </a:t>
            </a:r>
          </a:p>
          <a:p>
            <a:pPr marL="536575" indent="-536575">
              <a:buFont typeface="Wingdings" panose="05000000000000000000" pitchFamily="2" charset="2"/>
              <a:buChar char="Ø"/>
            </a:pPr>
            <a:r>
              <a:rPr lang="en-US" altLang="en-US" sz="2800" dirty="0"/>
              <a:t>Min response 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A3AF8A99-5400-4B88-80AE-AE6C448E05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31397" y="287515"/>
            <a:ext cx="7997825" cy="45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First- Come, First-Served (FCFS) Scheduling</a:t>
            </a:r>
          </a:p>
        </p:txBody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00593719-A5A4-4326-8529-37EC324927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9257" y="744716"/>
            <a:ext cx="9058086" cy="5319535"/>
          </a:xfrm>
        </p:spPr>
        <p:txBody>
          <a:bodyPr>
            <a:noAutofit/>
          </a:bodyPr>
          <a:lstStyle/>
          <a:p>
            <a:pPr>
              <a:buNone/>
              <a:tabLst>
                <a:tab pos="3028950" algn="ctr"/>
                <a:tab pos="4633913" algn="ctr"/>
              </a:tabLst>
            </a:pPr>
            <a:r>
              <a:rPr lang="en-US" altLang="en-US" sz="2500" dirty="0"/>
              <a:t>		</a:t>
            </a:r>
            <a:r>
              <a:rPr lang="en-US" altLang="en-US" sz="2500" u="sng" dirty="0"/>
              <a:t>Process</a:t>
            </a:r>
            <a:r>
              <a:rPr lang="en-US" altLang="en-US" sz="2500" dirty="0"/>
              <a:t>	</a:t>
            </a:r>
            <a:r>
              <a:rPr lang="en-US" altLang="en-US" sz="2500" u="sng" dirty="0"/>
              <a:t>Burst Time	</a:t>
            </a:r>
          </a:p>
          <a:p>
            <a:pPr>
              <a:buNone/>
              <a:tabLst>
                <a:tab pos="3028950" algn="ctr"/>
                <a:tab pos="4633913" algn="ctr"/>
              </a:tabLst>
            </a:pPr>
            <a:r>
              <a:rPr lang="en-US" altLang="en-US" sz="2500" dirty="0"/>
              <a:t>		 </a:t>
            </a:r>
            <a:r>
              <a:rPr lang="en-US" altLang="en-US" sz="2500" i="1" dirty="0"/>
              <a:t>P</a:t>
            </a:r>
            <a:r>
              <a:rPr lang="en-US" altLang="en-US" sz="2500" i="1" baseline="-25000" dirty="0"/>
              <a:t>1</a:t>
            </a:r>
            <a:r>
              <a:rPr lang="en-US" altLang="en-US" sz="2500" dirty="0"/>
              <a:t>	24</a:t>
            </a:r>
          </a:p>
          <a:p>
            <a:pPr>
              <a:buNone/>
              <a:tabLst>
                <a:tab pos="3028950" algn="ctr"/>
                <a:tab pos="4633913" algn="ctr"/>
              </a:tabLst>
            </a:pPr>
            <a:r>
              <a:rPr lang="en-US" altLang="en-US" sz="2500" dirty="0"/>
              <a:t>		 </a:t>
            </a:r>
            <a:r>
              <a:rPr lang="en-US" altLang="en-US" sz="2500" i="1" dirty="0"/>
              <a:t>P</a:t>
            </a:r>
            <a:r>
              <a:rPr lang="en-US" altLang="en-US" sz="2500" i="1" baseline="-25000" dirty="0"/>
              <a:t>2</a:t>
            </a:r>
            <a:r>
              <a:rPr lang="en-US" altLang="en-US" sz="2500" dirty="0"/>
              <a:t> 	3</a:t>
            </a:r>
          </a:p>
          <a:p>
            <a:pPr>
              <a:buNone/>
              <a:tabLst>
                <a:tab pos="3028950" algn="ctr"/>
                <a:tab pos="4633913" algn="ctr"/>
              </a:tabLst>
            </a:pPr>
            <a:r>
              <a:rPr lang="en-US" altLang="en-US" sz="2500" dirty="0"/>
              <a:t>		 </a:t>
            </a:r>
            <a:r>
              <a:rPr lang="en-US" altLang="en-US" sz="2500" i="1" dirty="0"/>
              <a:t>P</a:t>
            </a:r>
            <a:r>
              <a:rPr lang="en-US" altLang="en-US" sz="2500" i="1" baseline="-25000" dirty="0"/>
              <a:t>3	 </a:t>
            </a:r>
            <a:r>
              <a:rPr lang="en-US" altLang="en-US" sz="2500" dirty="0"/>
              <a:t>3</a:t>
            </a:r>
            <a:r>
              <a:rPr lang="en-US" altLang="en-US" sz="2500" i="1" baseline="-25000" dirty="0"/>
              <a:t> </a:t>
            </a:r>
          </a:p>
          <a:p>
            <a:pPr>
              <a:tabLst>
                <a:tab pos="3028950" algn="ctr"/>
                <a:tab pos="4633913" algn="ctr"/>
              </a:tabLst>
            </a:pPr>
            <a:r>
              <a:rPr lang="en-US" altLang="en-US" sz="2500" dirty="0"/>
              <a:t>Suppose that the processes arrive in the order: </a:t>
            </a:r>
            <a:r>
              <a:rPr lang="en-US" altLang="en-US" sz="2500" i="1" dirty="0"/>
              <a:t>P</a:t>
            </a:r>
            <a:r>
              <a:rPr lang="en-US" altLang="en-US" sz="2500" i="1" baseline="-25000" dirty="0"/>
              <a:t>1</a:t>
            </a:r>
            <a:r>
              <a:rPr lang="en-US" altLang="en-US" sz="2500" dirty="0"/>
              <a:t> , </a:t>
            </a:r>
            <a:r>
              <a:rPr lang="en-US" altLang="en-US" sz="2500" i="1" dirty="0"/>
              <a:t>P</a:t>
            </a:r>
            <a:r>
              <a:rPr lang="en-US" altLang="en-US" sz="2500" i="1" baseline="-25000" dirty="0"/>
              <a:t>2</a:t>
            </a:r>
            <a:r>
              <a:rPr lang="en-US" altLang="en-US" sz="2500" dirty="0"/>
              <a:t> , </a:t>
            </a:r>
            <a:r>
              <a:rPr lang="en-US" altLang="en-US" sz="2500" i="1" dirty="0"/>
              <a:t>P</a:t>
            </a:r>
            <a:r>
              <a:rPr lang="en-US" altLang="en-US" sz="2500" i="1" baseline="-25000" dirty="0"/>
              <a:t>3  </a:t>
            </a:r>
            <a:br>
              <a:rPr lang="en-US" altLang="en-US" sz="2500" i="1" baseline="-25000" dirty="0"/>
            </a:br>
            <a:r>
              <a:rPr lang="en-US" altLang="en-US" sz="2500" dirty="0"/>
              <a:t>The Gantt Chart for the schedule is:</a:t>
            </a:r>
            <a:br>
              <a:rPr lang="en-US" altLang="en-US" sz="2500" dirty="0"/>
            </a:br>
            <a:br>
              <a:rPr lang="en-US" altLang="en-US" sz="2500" dirty="0"/>
            </a:br>
            <a:br>
              <a:rPr lang="en-US" altLang="en-US" sz="2500" dirty="0"/>
            </a:br>
            <a:br>
              <a:rPr lang="en-US" altLang="en-US" sz="2500" dirty="0"/>
            </a:br>
            <a:br>
              <a:rPr lang="en-US" altLang="en-US" sz="2500" dirty="0"/>
            </a:br>
            <a:r>
              <a:rPr lang="en-US" altLang="en-US" sz="2500" dirty="0"/>
              <a:t>Waiting time for </a:t>
            </a:r>
            <a:r>
              <a:rPr lang="en-US" altLang="en-US" sz="2500" i="1" dirty="0"/>
              <a:t>P</a:t>
            </a:r>
            <a:r>
              <a:rPr lang="en-US" altLang="en-US" sz="2500" i="1" baseline="-25000" dirty="0"/>
              <a:t>1</a:t>
            </a:r>
            <a:r>
              <a:rPr lang="en-US" altLang="en-US" sz="2500" dirty="0"/>
              <a:t>  = 0; </a:t>
            </a:r>
            <a:r>
              <a:rPr lang="en-US" altLang="en-US" sz="2500" i="1" dirty="0"/>
              <a:t>P</a:t>
            </a:r>
            <a:r>
              <a:rPr lang="en-US" altLang="en-US" sz="2500" i="1" baseline="-25000" dirty="0"/>
              <a:t>2</a:t>
            </a:r>
            <a:r>
              <a:rPr lang="en-US" altLang="en-US" sz="2500" dirty="0"/>
              <a:t>  = 24; </a:t>
            </a:r>
            <a:r>
              <a:rPr lang="en-US" altLang="en-US" sz="2500" i="1" dirty="0"/>
              <a:t>P</a:t>
            </a:r>
            <a:r>
              <a:rPr lang="en-US" altLang="en-US" sz="2500" i="1" baseline="-25000" dirty="0"/>
              <a:t>3 </a:t>
            </a:r>
            <a:r>
              <a:rPr lang="en-US" altLang="en-US" sz="2500" dirty="0"/>
              <a:t>= 27</a:t>
            </a:r>
          </a:p>
          <a:p>
            <a:pPr>
              <a:tabLst>
                <a:tab pos="3028950" algn="ctr"/>
                <a:tab pos="4633913" algn="ctr"/>
              </a:tabLst>
            </a:pPr>
            <a:r>
              <a:rPr lang="en-US" altLang="en-US" sz="2500" dirty="0"/>
              <a:t>Average waiting time:  (0 + 24 + 27)/3 = 17</a:t>
            </a:r>
          </a:p>
          <a:p>
            <a:pPr>
              <a:tabLst>
                <a:tab pos="3028950" algn="ctr"/>
                <a:tab pos="4633913" algn="ctr"/>
              </a:tabLst>
            </a:pPr>
            <a:r>
              <a:rPr lang="en-US" altLang="en-US" sz="2400" dirty="0"/>
              <a:t>Turnaround</a:t>
            </a:r>
            <a:r>
              <a:rPr lang="en-US" altLang="en-US" sz="2500" dirty="0"/>
              <a:t> time for </a:t>
            </a:r>
            <a:r>
              <a:rPr lang="en-US" altLang="en-US" sz="2500" i="1" dirty="0"/>
              <a:t>P</a:t>
            </a:r>
            <a:r>
              <a:rPr lang="en-US" altLang="en-US" sz="2500" i="1" baseline="-25000" dirty="0"/>
              <a:t>1</a:t>
            </a:r>
            <a:r>
              <a:rPr lang="en-US" altLang="en-US" sz="2500" dirty="0"/>
              <a:t>  = 24; </a:t>
            </a:r>
            <a:r>
              <a:rPr lang="en-US" altLang="en-US" sz="2500" i="1" dirty="0"/>
              <a:t>P</a:t>
            </a:r>
            <a:r>
              <a:rPr lang="en-US" altLang="en-US" sz="2500" i="1" baseline="-25000" dirty="0"/>
              <a:t>2</a:t>
            </a:r>
            <a:r>
              <a:rPr lang="en-US" altLang="en-US" sz="2500" dirty="0"/>
              <a:t>  = 27; </a:t>
            </a:r>
            <a:r>
              <a:rPr lang="en-US" altLang="en-US" sz="2500" i="1" dirty="0"/>
              <a:t>P</a:t>
            </a:r>
            <a:r>
              <a:rPr lang="en-US" altLang="en-US" sz="2500" i="1" baseline="-25000" dirty="0"/>
              <a:t>3 </a:t>
            </a:r>
            <a:r>
              <a:rPr lang="en-US" altLang="en-US" sz="2500" dirty="0"/>
              <a:t>= 30</a:t>
            </a:r>
          </a:p>
          <a:p>
            <a:pPr>
              <a:tabLst>
                <a:tab pos="3028950" algn="ctr"/>
                <a:tab pos="4633913" algn="ctr"/>
              </a:tabLst>
            </a:pPr>
            <a:r>
              <a:rPr lang="en-US" altLang="en-US" sz="2500" dirty="0"/>
              <a:t>Average </a:t>
            </a:r>
            <a:r>
              <a:rPr lang="en-US" altLang="en-US" sz="2400" dirty="0"/>
              <a:t>turnaround</a:t>
            </a:r>
            <a:r>
              <a:rPr lang="en-US" altLang="en-US" sz="2500" dirty="0"/>
              <a:t> time:  (24 + 27 + 30)/3 = 27</a:t>
            </a:r>
          </a:p>
          <a:p>
            <a:pPr>
              <a:tabLst>
                <a:tab pos="3028950" algn="ctr"/>
                <a:tab pos="4633913" algn="ctr"/>
              </a:tabLst>
            </a:pPr>
            <a:endParaRPr lang="en-US" altLang="en-US" sz="2500" dirty="0"/>
          </a:p>
        </p:txBody>
      </p:sp>
      <p:pic>
        <p:nvPicPr>
          <p:cNvPr id="23555" name="Picture 1">
            <a:extLst>
              <a:ext uri="{FF2B5EF4-FFF2-40B4-BE49-F238E27FC236}">
                <a16:creationId xmlns:a16="http://schemas.microsoft.com/office/drawing/2014/main" id="{6693C49E-F1BF-40FA-ACEB-79D52B112D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4946" y="3828143"/>
            <a:ext cx="6954838" cy="80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624DA10D-55B3-4B35-A002-F73DC17E00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6664" y="231158"/>
            <a:ext cx="77041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FCFS Scheduling (Cont.)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332EE341-968F-42D6-9F71-9462061509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59544" y="1233489"/>
            <a:ext cx="10551886" cy="4887093"/>
          </a:xfrm>
        </p:spPr>
        <p:txBody>
          <a:bodyPr>
            <a:normAutofit fontScale="92500" lnSpcReduction="20000"/>
          </a:bodyPr>
          <a:lstStyle/>
          <a:p>
            <a:pPr>
              <a:buNone/>
              <a:tabLst>
                <a:tab pos="3649345" algn="ctr"/>
              </a:tabLst>
              <a:defRPr/>
            </a:pPr>
            <a:r>
              <a:rPr lang="en-US" altLang="en-US" sz="2400" dirty="0">
                <a:cs typeface="ＭＳ Ｐゴシック" charset="-128"/>
              </a:rPr>
              <a:t>Suppose that the processes arrive in the order:</a:t>
            </a:r>
          </a:p>
          <a:p>
            <a:pPr>
              <a:buNone/>
              <a:tabLst>
                <a:tab pos="3649345" algn="ctr"/>
              </a:tabLst>
              <a:defRPr/>
            </a:pPr>
            <a:r>
              <a:rPr lang="en-US" altLang="en-US" sz="2400" dirty="0">
                <a:cs typeface="ＭＳ Ｐゴシック" charset="-128"/>
              </a:rPr>
              <a:t>		 </a:t>
            </a:r>
            <a:r>
              <a:rPr lang="en-US" altLang="en-US" sz="2400" i="1" dirty="0">
                <a:cs typeface="ＭＳ Ｐゴシック" charset="-128"/>
              </a:rPr>
              <a:t>P</a:t>
            </a:r>
            <a:r>
              <a:rPr lang="en-US" altLang="en-US" sz="2400" i="1" baseline="-25000" dirty="0">
                <a:cs typeface="ＭＳ Ｐゴシック" charset="-128"/>
              </a:rPr>
              <a:t>2</a:t>
            </a:r>
            <a:r>
              <a:rPr lang="en-US" altLang="en-US" sz="2400" dirty="0">
                <a:cs typeface="ＭＳ Ｐゴシック" charset="-128"/>
              </a:rPr>
              <a:t> , </a:t>
            </a:r>
            <a:r>
              <a:rPr lang="en-US" altLang="en-US" sz="2400" i="1" dirty="0">
                <a:cs typeface="ＭＳ Ｐゴシック" charset="-128"/>
              </a:rPr>
              <a:t>P</a:t>
            </a:r>
            <a:r>
              <a:rPr lang="en-US" altLang="en-US" sz="2400" i="1" baseline="-25000" dirty="0">
                <a:cs typeface="ＭＳ Ｐゴシック" charset="-128"/>
              </a:rPr>
              <a:t>3</a:t>
            </a:r>
            <a:r>
              <a:rPr lang="en-US" altLang="en-US" sz="2400" dirty="0">
                <a:cs typeface="ＭＳ Ｐゴシック" charset="-128"/>
              </a:rPr>
              <a:t> , </a:t>
            </a:r>
            <a:r>
              <a:rPr lang="en-US" altLang="en-US" sz="2400" i="1" dirty="0">
                <a:cs typeface="ＭＳ Ｐゴシック" charset="-128"/>
              </a:rPr>
              <a:t>P</a:t>
            </a:r>
            <a:r>
              <a:rPr lang="en-US" altLang="en-US" sz="2400" i="1" baseline="-25000" dirty="0">
                <a:cs typeface="ＭＳ Ｐゴシック" charset="-128"/>
              </a:rPr>
              <a:t>1</a:t>
            </a:r>
            <a:r>
              <a:rPr lang="en-US" altLang="en-US" sz="2400" dirty="0">
                <a:cs typeface="ＭＳ Ｐゴシック" charset="-128"/>
              </a:rPr>
              <a:t> </a:t>
            </a:r>
          </a:p>
          <a:p>
            <a:pPr>
              <a:tabLst>
                <a:tab pos="3649345" algn="ctr"/>
              </a:tabLst>
              <a:defRPr/>
            </a:pPr>
            <a:r>
              <a:rPr lang="en-US" altLang="en-US" sz="2400" dirty="0">
                <a:cs typeface="ＭＳ Ｐゴシック" charset="-128"/>
              </a:rPr>
              <a:t>The Gantt chart for the schedule is:</a:t>
            </a:r>
            <a:br>
              <a:rPr lang="en-US" altLang="en-US" sz="2400" dirty="0">
                <a:cs typeface="ＭＳ Ｐゴシック" charset="-128"/>
              </a:rPr>
            </a:br>
            <a:endParaRPr lang="en-US" altLang="en-US" sz="2400" dirty="0">
              <a:cs typeface="ＭＳ Ｐゴシック" charset="-128"/>
            </a:endParaRPr>
          </a:p>
          <a:p>
            <a:pPr>
              <a:tabLst>
                <a:tab pos="3649345" algn="ctr"/>
              </a:tabLst>
              <a:defRPr/>
            </a:pPr>
            <a:endParaRPr lang="en-US" altLang="en-US" sz="2400" dirty="0">
              <a:cs typeface="ＭＳ Ｐゴシック" charset="-128"/>
            </a:endParaRPr>
          </a:p>
          <a:p>
            <a:pPr>
              <a:tabLst>
                <a:tab pos="3649345" algn="ctr"/>
              </a:tabLst>
              <a:defRPr/>
            </a:pPr>
            <a:endParaRPr lang="en-US" altLang="en-US" sz="2400" dirty="0">
              <a:cs typeface="ＭＳ Ｐゴシック" charset="-128"/>
            </a:endParaRPr>
          </a:p>
          <a:p>
            <a:pPr marL="0" indent="0">
              <a:buNone/>
              <a:tabLst>
                <a:tab pos="3649345" algn="ctr"/>
              </a:tabLst>
              <a:defRPr/>
            </a:pPr>
            <a:endParaRPr lang="en-US" altLang="en-US" sz="2400" dirty="0">
              <a:cs typeface="ＭＳ Ｐゴシック" charset="-128"/>
            </a:endParaRPr>
          </a:p>
          <a:p>
            <a:pPr>
              <a:tabLst>
                <a:tab pos="3649345" algn="ctr"/>
              </a:tabLst>
              <a:defRPr/>
            </a:pPr>
            <a:r>
              <a:rPr lang="en-US" altLang="en-US" sz="2400" dirty="0">
                <a:cs typeface="ＭＳ Ｐゴシック" charset="-128"/>
              </a:rPr>
              <a:t>Waiting time for </a:t>
            </a:r>
            <a:r>
              <a:rPr lang="en-US" altLang="en-US" sz="2400" i="1" dirty="0">
                <a:cs typeface="ＭＳ Ｐゴシック" charset="-128"/>
              </a:rPr>
              <a:t>P</a:t>
            </a:r>
            <a:r>
              <a:rPr lang="en-US" altLang="en-US" sz="2400" i="1" baseline="-25000" dirty="0">
                <a:cs typeface="ＭＳ Ｐゴシック" charset="-128"/>
              </a:rPr>
              <a:t>1 </a:t>
            </a:r>
            <a:r>
              <a:rPr lang="en-US" altLang="en-US" sz="2400" i="1" dirty="0">
                <a:cs typeface="ＭＳ Ｐゴシック" charset="-128"/>
              </a:rPr>
              <a:t>=</a:t>
            </a:r>
            <a:r>
              <a:rPr lang="en-US" altLang="en-US" sz="2400" dirty="0">
                <a:cs typeface="ＭＳ Ｐゴシック" charset="-128"/>
              </a:rPr>
              <a:t> 6</a:t>
            </a:r>
            <a:r>
              <a:rPr lang="en-US" altLang="en-US" sz="2400" i="1" dirty="0">
                <a:cs typeface="ＭＳ Ｐゴシック" charset="-128"/>
              </a:rPr>
              <a:t>;</a:t>
            </a:r>
            <a:r>
              <a:rPr lang="en-US" altLang="en-US" sz="2400" i="1" baseline="-25000" dirty="0">
                <a:cs typeface="ＭＳ Ｐゴシック" charset="-128"/>
              </a:rPr>
              <a:t> </a:t>
            </a:r>
            <a:r>
              <a:rPr lang="en-US" altLang="en-US" sz="2400" i="1" dirty="0">
                <a:cs typeface="ＭＳ Ｐゴシック" charset="-128"/>
              </a:rPr>
              <a:t>P</a:t>
            </a:r>
            <a:r>
              <a:rPr lang="en-US" altLang="en-US" sz="2400" i="1" baseline="-25000" dirty="0">
                <a:cs typeface="ＭＳ Ｐゴシック" charset="-128"/>
              </a:rPr>
              <a:t>2</a:t>
            </a:r>
            <a:r>
              <a:rPr lang="en-US" altLang="en-US" sz="2400" dirty="0">
                <a:cs typeface="ＭＳ Ｐゴシック" charset="-128"/>
              </a:rPr>
              <a:t> = 0</a:t>
            </a:r>
            <a:r>
              <a:rPr lang="en-US" altLang="en-US" sz="2400" i="1" baseline="-25000" dirty="0">
                <a:cs typeface="ＭＳ Ｐゴシック" charset="-128"/>
              </a:rPr>
              <a:t>; </a:t>
            </a:r>
            <a:r>
              <a:rPr lang="en-US" altLang="en-US" sz="2400" i="1" dirty="0">
                <a:cs typeface="ＭＳ Ｐゴシック" charset="-128"/>
              </a:rPr>
              <a:t>P</a:t>
            </a:r>
            <a:r>
              <a:rPr lang="en-US" altLang="en-US" sz="2400" i="1" baseline="-25000" dirty="0">
                <a:cs typeface="ＭＳ Ｐゴシック" charset="-128"/>
              </a:rPr>
              <a:t>3 </a:t>
            </a:r>
            <a:r>
              <a:rPr lang="en-US" altLang="en-US" sz="2400" i="1" dirty="0">
                <a:cs typeface="ＭＳ Ｐゴシック" charset="-128"/>
              </a:rPr>
              <a:t>= </a:t>
            </a:r>
            <a:r>
              <a:rPr lang="en-US" altLang="en-US" sz="2400" dirty="0">
                <a:cs typeface="ＭＳ Ｐゴシック" charset="-128"/>
              </a:rPr>
              <a:t>3</a:t>
            </a:r>
            <a:endParaRPr lang="en-US" altLang="en-US" sz="2400" i="1" dirty="0">
              <a:cs typeface="ＭＳ Ｐゴシック" charset="-128"/>
            </a:endParaRPr>
          </a:p>
          <a:p>
            <a:pPr>
              <a:tabLst>
                <a:tab pos="3649345" algn="ctr"/>
              </a:tabLst>
              <a:defRPr/>
            </a:pPr>
            <a:r>
              <a:rPr lang="en-US" altLang="en-US" sz="2400" dirty="0">
                <a:cs typeface="ＭＳ Ｐゴシック" charset="-128"/>
              </a:rPr>
              <a:t>Average waiting time:   (6 + 0 + 3)/3 = 3</a:t>
            </a:r>
          </a:p>
          <a:p>
            <a:pPr>
              <a:tabLst>
                <a:tab pos="3649345" algn="ctr"/>
              </a:tabLst>
              <a:defRPr/>
            </a:pPr>
            <a:r>
              <a:rPr lang="en-US" altLang="en-US" sz="2400" dirty="0">
                <a:cs typeface="ＭＳ Ｐゴシック" charset="-128"/>
              </a:rPr>
              <a:t>Much better than previous case</a:t>
            </a:r>
          </a:p>
          <a:p>
            <a:pPr>
              <a:tabLst>
                <a:tab pos="3649345" algn="ctr"/>
              </a:tabLst>
              <a:defRPr/>
            </a:pP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Convoy</a:t>
            </a:r>
            <a:r>
              <a:rPr lang="en-US" altLang="en-US" sz="2400" b="1" dirty="0">
                <a:solidFill>
                  <a:srgbClr val="3366FF"/>
                </a:solidFill>
                <a:cs typeface="ＭＳ Ｐゴシック" charset="-128"/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effect</a:t>
            </a:r>
            <a:r>
              <a:rPr lang="en-US" altLang="en-US" sz="2400" b="1" dirty="0">
                <a:solidFill>
                  <a:srgbClr val="3366FF"/>
                </a:solidFill>
                <a:cs typeface="ＭＳ Ｐゴシック" charset="-128"/>
              </a:rPr>
              <a:t> </a:t>
            </a:r>
            <a:r>
              <a:rPr lang="en-US" altLang="en-US" sz="2400" dirty="0">
                <a:cs typeface="ＭＳ Ｐゴシック" charset="-128"/>
              </a:rPr>
              <a:t>- short process behind long process</a:t>
            </a:r>
          </a:p>
          <a:p>
            <a:pPr lvl="1">
              <a:tabLst>
                <a:tab pos="3649345" algn="ctr"/>
              </a:tabLst>
              <a:defRPr/>
            </a:pPr>
            <a:r>
              <a:rPr lang="en-US" altLang="en-US" sz="1800" dirty="0"/>
              <a:t>Consider one CPU-bound and many I/O-bound processes</a:t>
            </a:r>
          </a:p>
        </p:txBody>
      </p:sp>
      <p:pic>
        <p:nvPicPr>
          <p:cNvPr id="25603" name="Picture 1">
            <a:extLst>
              <a:ext uri="{FF2B5EF4-FFF2-40B4-BE49-F238E27FC236}">
                <a16:creationId xmlns:a16="http://schemas.microsoft.com/office/drawing/2014/main" id="{AA51E2F7-6758-4662-8420-58D4F08902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172" y="2820762"/>
            <a:ext cx="7123113" cy="8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75370DA6-23EE-4245-8D59-2BE3CA1120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32910" y="129252"/>
            <a:ext cx="77041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Shortest-Job-First (SJF) Scheduling</a:t>
            </a:r>
          </a:p>
        </p:txBody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823814F7-CEBB-4A55-80A1-4EA7BB1EEA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88572" y="1233489"/>
            <a:ext cx="10435772" cy="4804454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Associate with each process the length of its next CPU burst</a:t>
            </a:r>
          </a:p>
          <a:p>
            <a:pPr lvl="1"/>
            <a:r>
              <a:rPr lang="en-US" altLang="en-US" sz="2400" dirty="0"/>
              <a:t> Use these lengths to schedule the process with the shortest time</a:t>
            </a:r>
          </a:p>
          <a:p>
            <a:r>
              <a:rPr lang="en-US" altLang="en-US" sz="3200" dirty="0"/>
              <a:t>SJF is optimal – gives minimum average waiting time for a given set of processes</a:t>
            </a:r>
          </a:p>
          <a:p>
            <a:pPr lvl="1"/>
            <a:r>
              <a:rPr lang="en-US" altLang="en-US" sz="2400" dirty="0"/>
              <a:t>The difficulty is knowing the length of the next CPU request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75370DA6-23EE-4245-8D59-2BE3CA1120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81367" y="434052"/>
            <a:ext cx="77041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Shortest-Job-First (SJF) Scheduling</a:t>
            </a:r>
          </a:p>
        </p:txBody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823814F7-CEBB-4A55-80A1-4EA7BB1EEA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233489"/>
            <a:ext cx="9608457" cy="4862511"/>
          </a:xfrm>
        </p:spPr>
        <p:txBody>
          <a:bodyPr>
            <a:normAutofit/>
          </a:bodyPr>
          <a:lstStyle/>
          <a:p>
            <a:r>
              <a:rPr lang="en-US" altLang="en-US" sz="2800" dirty="0"/>
              <a:t>Associate with each process the length of its next CPU burst</a:t>
            </a:r>
          </a:p>
          <a:p>
            <a:pPr lvl="1"/>
            <a:r>
              <a:rPr lang="en-US" altLang="en-US" sz="2000" dirty="0"/>
              <a:t>Use these lengths to schedule the process with the shortest time</a:t>
            </a:r>
          </a:p>
          <a:p>
            <a:r>
              <a:rPr lang="en-US" altLang="en-US" sz="2800" dirty="0"/>
              <a:t>SJF is optimal – gives minimum average waiting time for a given set of processes</a:t>
            </a:r>
          </a:p>
          <a:p>
            <a:r>
              <a:rPr lang="en-US" altLang="en-US" sz="2800" dirty="0">
                <a:cs typeface="ＭＳ Ｐゴシック" charset="-128"/>
              </a:rPr>
              <a:t>Preemptive version called </a:t>
            </a:r>
            <a:r>
              <a:rPr lang="en-US" altLang="en-US" sz="2800" b="1" dirty="0">
                <a:solidFill>
                  <a:srgbClr val="006699"/>
                </a:solidFill>
                <a:latin typeface="+mj-lt"/>
              </a:rPr>
              <a:t>shortest-remaining-time-first</a:t>
            </a:r>
          </a:p>
          <a:p>
            <a:r>
              <a:rPr lang="en-US" altLang="en-US" sz="2800" dirty="0"/>
              <a:t>How do we determine the length of the next CPU burst?</a:t>
            </a:r>
          </a:p>
          <a:p>
            <a:pPr lvl="1"/>
            <a:r>
              <a:rPr lang="en-US" altLang="en-US" sz="2000" dirty="0"/>
              <a:t>Estimate</a:t>
            </a:r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3677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D5874AFB-A934-48C3-B837-CB30012F18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29606"/>
            <a:ext cx="8229600" cy="576262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Example of SJF - </a:t>
            </a:r>
            <a:r>
              <a:rPr lang="en-US" altLang="en-US" sz="4000" b="1" dirty="0"/>
              <a:t>Non-Preemptive</a:t>
            </a:r>
            <a:endParaRPr lang="en-US" altLang="en-US" dirty="0"/>
          </a:p>
        </p:txBody>
      </p:sp>
      <p:sp>
        <p:nvSpPr>
          <p:cNvPr id="29698" name="Rectangle 36">
            <a:extLst>
              <a:ext uri="{FF2B5EF4-FFF2-40B4-BE49-F238E27FC236}">
                <a16:creationId xmlns:a16="http://schemas.microsoft.com/office/drawing/2014/main" id="{460FD1BF-5C0A-458E-A664-05111F8290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1" y="1150374"/>
            <a:ext cx="7600951" cy="5158986"/>
          </a:xfrm>
          <a:noFill/>
        </p:spPr>
        <p:txBody>
          <a:bodyPr>
            <a:normAutofit fontScale="92500" lnSpcReduction="20000"/>
          </a:bodyPr>
          <a:lstStyle/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</a:t>
            </a:r>
            <a:r>
              <a:rPr lang="en-US" altLang="en-US" sz="2600" dirty="0"/>
              <a:t>      	                </a:t>
            </a:r>
            <a:r>
              <a:rPr lang="en-US" altLang="en-US" sz="2600" u="sng" dirty="0" err="1"/>
              <a:t>Process</a:t>
            </a:r>
            <a:r>
              <a:rPr lang="en-US" altLang="en-US" sz="2600" u="sng" dirty="0" err="1">
                <a:solidFill>
                  <a:schemeClr val="bg1"/>
                </a:solidFill>
              </a:rPr>
              <a:t>Arriva</a:t>
            </a:r>
            <a:r>
              <a:rPr lang="en-US" altLang="en-US" sz="2600" u="sng" dirty="0">
                <a:solidFill>
                  <a:schemeClr val="bg1"/>
                </a:solidFill>
              </a:rPr>
              <a:t>	l </a:t>
            </a:r>
            <a:r>
              <a:rPr lang="en-US" altLang="en-US" sz="2600" u="sng" dirty="0" err="1">
                <a:solidFill>
                  <a:schemeClr val="bg1"/>
                </a:solidFill>
              </a:rPr>
              <a:t>Time</a:t>
            </a:r>
            <a:r>
              <a:rPr lang="en-US" altLang="en-US" sz="2600" u="sng" dirty="0" err="1"/>
              <a:t>Burst</a:t>
            </a:r>
            <a:r>
              <a:rPr lang="en-US" altLang="en-US" sz="2600" u="sng" dirty="0"/>
              <a:t> Time</a:t>
            </a:r>
            <a:endParaRPr lang="en-US" altLang="en-US" sz="2600" dirty="0"/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2600" dirty="0"/>
              <a:t>		             </a:t>
            </a:r>
            <a:r>
              <a:rPr lang="en-US" altLang="en-US" sz="2600" i="1" dirty="0"/>
              <a:t>P</a:t>
            </a:r>
            <a:r>
              <a:rPr lang="en-US" altLang="en-US" sz="2600" i="1" baseline="-25000" dirty="0"/>
              <a:t>1</a:t>
            </a:r>
            <a:r>
              <a:rPr lang="en-US" altLang="en-US" sz="2600" dirty="0"/>
              <a:t>	</a:t>
            </a:r>
            <a:r>
              <a:rPr lang="en-US" altLang="en-US" sz="2600" dirty="0">
                <a:solidFill>
                  <a:schemeClr val="bg1"/>
                </a:solidFill>
              </a:rPr>
              <a:t>0.0</a:t>
            </a:r>
            <a:r>
              <a:rPr lang="en-US" altLang="en-US" sz="2600" dirty="0"/>
              <a:t>	6</a:t>
            </a:r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2600" dirty="0"/>
              <a:t>		            </a:t>
            </a:r>
            <a:r>
              <a:rPr lang="en-US" altLang="en-US" sz="2600" i="1" dirty="0"/>
              <a:t>P</a:t>
            </a:r>
            <a:r>
              <a:rPr lang="en-US" altLang="en-US" sz="2600" i="1" baseline="-25000" dirty="0"/>
              <a:t>2 	</a:t>
            </a:r>
            <a:r>
              <a:rPr lang="en-US" altLang="en-US" sz="2600" dirty="0">
                <a:solidFill>
                  <a:schemeClr val="bg1"/>
                </a:solidFill>
              </a:rPr>
              <a:t>2.0</a:t>
            </a:r>
            <a:r>
              <a:rPr lang="en-US" altLang="en-US" sz="2600" dirty="0"/>
              <a:t>	8</a:t>
            </a:r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2600" dirty="0"/>
              <a:t>		            </a:t>
            </a:r>
            <a:r>
              <a:rPr lang="en-US" altLang="en-US" sz="2600" i="1" dirty="0"/>
              <a:t>P</a:t>
            </a:r>
            <a:r>
              <a:rPr lang="en-US" altLang="en-US" sz="2600" i="1" baseline="-25000" dirty="0"/>
              <a:t>3</a:t>
            </a:r>
            <a:r>
              <a:rPr lang="en-US" altLang="en-US" sz="2600" dirty="0"/>
              <a:t>	</a:t>
            </a:r>
            <a:r>
              <a:rPr lang="en-US" altLang="en-US" sz="2600" dirty="0">
                <a:solidFill>
                  <a:schemeClr val="bg1"/>
                </a:solidFill>
              </a:rPr>
              <a:t>4.0</a:t>
            </a:r>
            <a:r>
              <a:rPr lang="en-US" altLang="en-US" sz="2600" dirty="0"/>
              <a:t>	7</a:t>
            </a:r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2600" dirty="0"/>
              <a:t>		            </a:t>
            </a:r>
            <a:r>
              <a:rPr lang="en-US" altLang="en-US" sz="2600" i="1" dirty="0"/>
              <a:t>P</a:t>
            </a:r>
            <a:r>
              <a:rPr lang="en-US" altLang="en-US" sz="2600" i="1" baseline="-25000" dirty="0"/>
              <a:t>4</a:t>
            </a:r>
            <a:r>
              <a:rPr lang="en-US" altLang="en-US" sz="2600" dirty="0"/>
              <a:t>	</a:t>
            </a:r>
            <a:r>
              <a:rPr lang="en-US" altLang="en-US" sz="2600" dirty="0">
                <a:solidFill>
                  <a:schemeClr val="bg1"/>
                </a:solidFill>
              </a:rPr>
              <a:t>5.0</a:t>
            </a:r>
            <a:r>
              <a:rPr lang="en-US" altLang="en-US" sz="2600" dirty="0"/>
              <a:t>	3</a:t>
            </a:r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sz="2600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2600" dirty="0"/>
              <a:t>SJF scheduling chart</a:t>
            </a:r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sz="2600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sz="2600" dirty="0"/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sz="2600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2600" dirty="0"/>
              <a:t>Average waiting time = (3 + 16 + 9 + 0) / 4 = 7</a:t>
            </a:r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2400" dirty="0"/>
              <a:t>Average turnaround time </a:t>
            </a:r>
            <a:r>
              <a:rPr lang="en-US" altLang="en-US" sz="2600" dirty="0"/>
              <a:t>= (9 +24 + 16 + 3) / 4 = 13</a:t>
            </a:r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sz="2600" i="1" baseline="-25000" dirty="0"/>
          </a:p>
        </p:txBody>
      </p:sp>
      <p:pic>
        <p:nvPicPr>
          <p:cNvPr id="29699" name="Picture 1">
            <a:extLst>
              <a:ext uri="{FF2B5EF4-FFF2-40B4-BE49-F238E27FC236}">
                <a16:creationId xmlns:a16="http://schemas.microsoft.com/office/drawing/2014/main" id="{AD4AB8A1-1681-46C1-BDAD-E7E14E963D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6065" y="4489655"/>
            <a:ext cx="6796087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E841C6C2-8CFF-4FDC-A9E1-6B260CB171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70344" y="394776"/>
            <a:ext cx="7594600" cy="576262"/>
          </a:xfrm>
        </p:spPr>
        <p:txBody>
          <a:bodyPr>
            <a:normAutofit fontScale="90000"/>
          </a:bodyPr>
          <a:lstStyle/>
          <a:p>
            <a:r>
              <a:rPr lang="en-US" altLang="en-US" sz="3000" dirty="0"/>
              <a:t>Example of Shortest-remaining-time-first- </a:t>
            </a:r>
            <a:r>
              <a:rPr lang="en-US" altLang="en-US" sz="3200" b="1" dirty="0"/>
              <a:t>Preemptive</a:t>
            </a:r>
            <a:endParaRPr lang="en-US" altLang="en-US" sz="3000" dirty="0"/>
          </a:p>
        </p:txBody>
      </p:sp>
      <p:sp>
        <p:nvSpPr>
          <p:cNvPr id="19459" name="Rectangle 36">
            <a:extLst>
              <a:ext uri="{FF2B5EF4-FFF2-40B4-BE49-F238E27FC236}">
                <a16:creationId xmlns:a16="http://schemas.microsoft.com/office/drawing/2014/main" id="{F6B280F4-20CD-4AA5-887B-A75AC06E0F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20800" y="1415378"/>
            <a:ext cx="9716145" cy="5191433"/>
          </a:xfrm>
        </p:spPr>
        <p:txBody>
          <a:bodyPr>
            <a:normAutofit fontScale="92500" lnSpcReduction="20000"/>
          </a:bodyPr>
          <a:lstStyle/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sz="2400" dirty="0">
                <a:cs typeface="ＭＳ Ｐゴシック" charset="-128"/>
              </a:rPr>
              <a:t>Now we add the concepts of varying arrival times and preemption to the analysis</a:t>
            </a:r>
          </a:p>
          <a:p>
            <a:pPr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sz="2400" dirty="0">
                <a:cs typeface="ＭＳ Ｐゴシック" charset="-128"/>
              </a:rPr>
              <a:t>		         </a:t>
            </a:r>
            <a:r>
              <a:rPr lang="en-US" altLang="en-US" sz="2400" u="sng" dirty="0" err="1">
                <a:cs typeface="ＭＳ Ｐゴシック" charset="-128"/>
              </a:rPr>
              <a:t>Process</a:t>
            </a:r>
            <a:r>
              <a:rPr lang="en-US" altLang="en-US" sz="2400" u="sng" dirty="0" err="1">
                <a:solidFill>
                  <a:schemeClr val="bg1"/>
                </a:solidFill>
                <a:cs typeface="ＭＳ Ｐゴシック" charset="-128"/>
              </a:rPr>
              <a:t>A</a:t>
            </a:r>
            <a:r>
              <a:rPr lang="en-US" altLang="en-US" sz="2400" u="sng" dirty="0">
                <a:solidFill>
                  <a:schemeClr val="bg1"/>
                </a:solidFill>
                <a:cs typeface="ＭＳ Ｐゴシック" charset="-128"/>
              </a:rPr>
              <a:t>	</a:t>
            </a:r>
            <a:r>
              <a:rPr lang="en-US" altLang="en-US" sz="2400" u="sng" dirty="0" err="1">
                <a:solidFill>
                  <a:schemeClr val="bg1"/>
                </a:solidFill>
                <a:cs typeface="ＭＳ Ｐゴシック" charset="-128"/>
              </a:rPr>
              <a:t>arri</a:t>
            </a:r>
            <a:r>
              <a:rPr lang="en-US" altLang="en-US" sz="2400" u="sng" dirty="0">
                <a:solidFill>
                  <a:schemeClr val="bg1"/>
                </a:solidFill>
                <a:cs typeface="ＭＳ Ｐゴシック" charset="-128"/>
              </a:rPr>
              <a:t> </a:t>
            </a:r>
            <a:r>
              <a:rPr lang="en-US" altLang="en-US" sz="2400" i="1" u="sng" dirty="0">
                <a:cs typeface="ＭＳ Ｐゴシック" charset="-128"/>
              </a:rPr>
              <a:t>Arrival </a:t>
            </a:r>
            <a:r>
              <a:rPr lang="en-US" altLang="en-US" sz="2400" u="sng" dirty="0" err="1">
                <a:cs typeface="ＭＳ Ｐゴシック" charset="-128"/>
              </a:rPr>
              <a:t>Time</a:t>
            </a:r>
            <a:r>
              <a:rPr lang="en-US" altLang="en-US" sz="2400" u="sng" dirty="0" err="1">
                <a:solidFill>
                  <a:schemeClr val="bg1"/>
                </a:solidFill>
                <a:cs typeface="ＭＳ Ｐゴシック" charset="-128"/>
              </a:rPr>
              <a:t>T</a:t>
            </a:r>
            <a:r>
              <a:rPr lang="en-US" altLang="en-US" sz="2400" dirty="0">
                <a:cs typeface="ＭＳ Ｐゴシック" charset="-128"/>
              </a:rPr>
              <a:t>	</a:t>
            </a:r>
            <a:r>
              <a:rPr lang="en-US" altLang="en-US" sz="2400" u="sng" dirty="0">
                <a:cs typeface="ＭＳ Ｐゴシック" charset="-128"/>
              </a:rPr>
              <a:t>Burst Time</a:t>
            </a:r>
            <a:endParaRPr lang="en-US" altLang="en-US" sz="2400" dirty="0">
              <a:cs typeface="ＭＳ Ｐゴシック" charset="-128"/>
            </a:endParaRPr>
          </a:p>
          <a:p>
            <a:pPr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sz="2400" dirty="0">
                <a:cs typeface="ＭＳ Ｐゴシック" charset="-128"/>
              </a:rPr>
              <a:t>		 </a:t>
            </a:r>
            <a:r>
              <a:rPr lang="en-US" altLang="en-US" sz="2400" i="1" dirty="0">
                <a:cs typeface="ＭＳ Ｐゴシック" charset="-128"/>
              </a:rPr>
              <a:t>P</a:t>
            </a:r>
            <a:r>
              <a:rPr lang="en-US" altLang="en-US" sz="2400" i="1" baseline="-25000" dirty="0">
                <a:cs typeface="ＭＳ Ｐゴシック" charset="-128"/>
              </a:rPr>
              <a:t>1</a:t>
            </a:r>
            <a:r>
              <a:rPr lang="en-US" altLang="en-US" sz="2400" dirty="0">
                <a:cs typeface="ＭＳ Ｐゴシック" charset="-128"/>
              </a:rPr>
              <a:t>	</a:t>
            </a:r>
            <a:r>
              <a:rPr lang="en-US" altLang="en-US" sz="2400" dirty="0">
                <a:solidFill>
                  <a:srgbClr val="000000"/>
                </a:solidFill>
                <a:cs typeface="ＭＳ Ｐゴシック" charset="-128"/>
              </a:rPr>
              <a:t>0</a:t>
            </a:r>
            <a:r>
              <a:rPr lang="en-US" altLang="en-US" sz="2400" dirty="0">
                <a:cs typeface="ＭＳ Ｐゴシック" charset="-128"/>
              </a:rPr>
              <a:t>	8</a:t>
            </a:r>
          </a:p>
          <a:p>
            <a:pPr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sz="2400" dirty="0">
                <a:cs typeface="ＭＳ Ｐゴシック" charset="-128"/>
              </a:rPr>
              <a:t>		 </a:t>
            </a:r>
            <a:r>
              <a:rPr lang="en-US" altLang="en-US" sz="2400" i="1" dirty="0">
                <a:cs typeface="ＭＳ Ｐゴシック" charset="-128"/>
              </a:rPr>
              <a:t>P</a:t>
            </a:r>
            <a:r>
              <a:rPr lang="en-US" altLang="en-US" sz="2400" i="1" baseline="-25000" dirty="0">
                <a:cs typeface="ＭＳ Ｐゴシック" charset="-128"/>
              </a:rPr>
              <a:t>2 	</a:t>
            </a:r>
            <a:r>
              <a:rPr lang="en-US" altLang="en-US" sz="2400" dirty="0">
                <a:solidFill>
                  <a:srgbClr val="000000"/>
                </a:solidFill>
                <a:cs typeface="ＭＳ Ｐゴシック" charset="-128"/>
              </a:rPr>
              <a:t>1</a:t>
            </a:r>
            <a:r>
              <a:rPr lang="en-US" altLang="en-US" sz="2400" dirty="0">
                <a:cs typeface="ＭＳ Ｐゴシック" charset="-128"/>
              </a:rPr>
              <a:t>	4</a:t>
            </a:r>
          </a:p>
          <a:p>
            <a:pPr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sz="2400" dirty="0">
                <a:cs typeface="ＭＳ Ｐゴシック" charset="-128"/>
              </a:rPr>
              <a:t>		 </a:t>
            </a:r>
            <a:r>
              <a:rPr lang="en-US" altLang="en-US" sz="2400" i="1" dirty="0">
                <a:cs typeface="ＭＳ Ｐゴシック" charset="-128"/>
              </a:rPr>
              <a:t>P</a:t>
            </a:r>
            <a:r>
              <a:rPr lang="en-US" altLang="en-US" sz="2400" i="1" baseline="-25000" dirty="0">
                <a:cs typeface="ＭＳ Ｐゴシック" charset="-128"/>
              </a:rPr>
              <a:t>3</a:t>
            </a:r>
            <a:r>
              <a:rPr lang="en-US" altLang="en-US" sz="2400" dirty="0">
                <a:cs typeface="ＭＳ Ｐゴシック" charset="-128"/>
              </a:rPr>
              <a:t>	</a:t>
            </a:r>
            <a:r>
              <a:rPr lang="en-US" altLang="en-US" sz="2400" dirty="0">
                <a:solidFill>
                  <a:srgbClr val="000000"/>
                </a:solidFill>
                <a:cs typeface="ＭＳ Ｐゴシック" charset="-128"/>
              </a:rPr>
              <a:t>2</a:t>
            </a:r>
            <a:r>
              <a:rPr lang="en-US" altLang="en-US" sz="2400" dirty="0">
                <a:cs typeface="ＭＳ Ｐゴシック" charset="-128"/>
              </a:rPr>
              <a:t>	9</a:t>
            </a:r>
          </a:p>
          <a:p>
            <a:pPr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sz="2400" dirty="0">
                <a:cs typeface="ＭＳ Ｐゴシック" charset="-128"/>
              </a:rPr>
              <a:t>		 </a:t>
            </a:r>
            <a:r>
              <a:rPr lang="en-US" altLang="en-US" sz="2400" i="1" dirty="0">
                <a:cs typeface="ＭＳ Ｐゴシック" charset="-128"/>
              </a:rPr>
              <a:t>P</a:t>
            </a:r>
            <a:r>
              <a:rPr lang="en-US" altLang="en-US" sz="2400" i="1" baseline="-25000" dirty="0">
                <a:cs typeface="ＭＳ Ｐゴシック" charset="-128"/>
              </a:rPr>
              <a:t>4</a:t>
            </a:r>
            <a:r>
              <a:rPr lang="en-US" altLang="en-US" sz="2400" dirty="0">
                <a:cs typeface="ＭＳ Ｐゴシック" charset="-128"/>
              </a:rPr>
              <a:t>	</a:t>
            </a:r>
            <a:r>
              <a:rPr lang="en-US" altLang="en-US" sz="2400" dirty="0">
                <a:solidFill>
                  <a:srgbClr val="000000"/>
                </a:solidFill>
                <a:cs typeface="ＭＳ Ｐゴシック" charset="-128"/>
              </a:rPr>
              <a:t>3</a:t>
            </a:r>
            <a:r>
              <a:rPr lang="en-US" altLang="en-US" sz="2400" dirty="0">
                <a:cs typeface="ＭＳ Ｐゴシック" charset="-128"/>
              </a:rPr>
              <a:t>	5</a:t>
            </a: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sz="2400" i="1" dirty="0">
                <a:cs typeface="ＭＳ Ｐゴシック" charset="-128"/>
              </a:rPr>
              <a:t>Preemptive </a:t>
            </a:r>
            <a:r>
              <a:rPr lang="en-US" altLang="en-US" sz="2400" dirty="0">
                <a:cs typeface="ＭＳ Ｐゴシック" charset="-128"/>
              </a:rPr>
              <a:t>SJF Gantt Chart</a:t>
            </a: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sz="2400" dirty="0">
              <a:cs typeface="ＭＳ Ｐゴシック" charset="-128"/>
            </a:endParaRP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sz="2400" dirty="0">
              <a:cs typeface="ＭＳ Ｐゴシック" charset="-128"/>
            </a:endParaRPr>
          </a:p>
          <a:p>
            <a:pPr marL="0" indent="0"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sz="2400" dirty="0">
              <a:cs typeface="ＭＳ Ｐゴシック" charset="-128"/>
            </a:endParaRP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sz="2400" dirty="0">
                <a:cs typeface="ＭＳ Ｐゴシック" charset="-128"/>
              </a:rPr>
              <a:t>Average waiting time = [(10-1)+(1-1)+(17-2)+(5-3)]/4 = 26/4 = 6.5</a:t>
            </a: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sz="2400" dirty="0">
                <a:cs typeface="ＭＳ Ｐゴシック" charset="-128"/>
              </a:rPr>
              <a:t>Average turnaround time = [(17-0)+(5-1)+(26-2)+(10-3)]/4 = 52/4 = 13</a:t>
            </a: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sz="2400" dirty="0">
              <a:cs typeface="ＭＳ Ｐゴシック" charset="-128"/>
            </a:endParaRP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sz="2000" i="1" baseline="-25000" dirty="0">
              <a:cs typeface="ＭＳ Ｐゴシック" charset="-128"/>
            </a:endParaRPr>
          </a:p>
          <a:p>
            <a:pPr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sz="2000" i="1" baseline="-25000" dirty="0">
              <a:cs typeface="ＭＳ Ｐゴシック" charset="-128"/>
            </a:endParaRPr>
          </a:p>
        </p:txBody>
      </p:sp>
      <p:pic>
        <p:nvPicPr>
          <p:cNvPr id="37891" name="Picture 1">
            <a:extLst>
              <a:ext uri="{FF2B5EF4-FFF2-40B4-BE49-F238E27FC236}">
                <a16:creationId xmlns:a16="http://schemas.microsoft.com/office/drawing/2014/main" id="{100802A9-2833-4519-B21E-A1B2D0AF97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9208" y="4786109"/>
            <a:ext cx="6535737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97EB9085-4F50-4C0E-A2E6-8B8193DC54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87614" y="229606"/>
            <a:ext cx="7723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Priority Scheduling</a:t>
            </a:r>
          </a:p>
        </p:txBody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328AB413-1FAE-4AEC-A110-AFD45B9A75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54743" y="988143"/>
            <a:ext cx="11248571" cy="5369114"/>
          </a:xfrm>
        </p:spPr>
        <p:txBody>
          <a:bodyPr>
            <a:noAutofit/>
          </a:bodyPr>
          <a:lstStyle/>
          <a:p>
            <a:r>
              <a:rPr lang="en-US" altLang="en-US" sz="2400" dirty="0"/>
              <a:t>A priority number (integer) is associated with each process</a:t>
            </a:r>
          </a:p>
          <a:p>
            <a:r>
              <a:rPr lang="en-US" altLang="en-US" sz="2400" dirty="0"/>
              <a:t>The CPU is allocated to the process with the highest priority</a:t>
            </a:r>
          </a:p>
          <a:p>
            <a:pPr algn="ctr"/>
            <a:r>
              <a:rPr lang="en-US" altLang="en-US" sz="2400" dirty="0"/>
              <a:t> </a:t>
            </a:r>
            <a:r>
              <a:rPr lang="en-US" altLang="en-US" sz="2800" b="1" dirty="0">
                <a:solidFill>
                  <a:srgbClr val="006699"/>
                </a:solidFill>
                <a:latin typeface="+mj-lt"/>
              </a:rPr>
              <a:t>(smallest integer </a:t>
            </a:r>
            <a:r>
              <a:rPr lang="en-US" altLang="en-US" sz="2800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 highest priority)</a:t>
            </a:r>
          </a:p>
          <a:p>
            <a:pPr lvl="1"/>
            <a:r>
              <a:rPr lang="en-US" altLang="en-US" sz="2000" b="1" dirty="0"/>
              <a:t>Preemptive</a:t>
            </a:r>
          </a:p>
          <a:p>
            <a:pPr lvl="2"/>
            <a:r>
              <a:rPr lang="en-US" sz="2000" dirty="0"/>
              <a:t>A Preemptive priority scheduling algorithm will preempt the CPU if the priority of the newly arrived process is higher than the priority of the currently running process. E.g. SRTF is a priority scheduling algorithm where priority is the predicted next CPU burst time </a:t>
            </a:r>
          </a:p>
          <a:p>
            <a:pPr lvl="1"/>
            <a:r>
              <a:rPr lang="en-US" altLang="en-US" sz="2000" b="1" dirty="0"/>
              <a:t>Non-preemptive</a:t>
            </a:r>
          </a:p>
          <a:p>
            <a:pPr lvl="2"/>
            <a:r>
              <a:rPr lang="en-US" sz="2000" dirty="0"/>
              <a:t>A Non preemptive priority scheduling algorithm will simply put the new process at the tail of the Ready Queue </a:t>
            </a:r>
          </a:p>
          <a:p>
            <a:pPr lvl="1"/>
            <a:endParaRPr lang="en-US" altLang="en-US" sz="1050" dirty="0"/>
          </a:p>
          <a:p>
            <a:r>
              <a:rPr lang="en-US" altLang="en-US" sz="2400" dirty="0"/>
              <a:t>Problem </a:t>
            </a:r>
            <a:r>
              <a:rPr lang="en-US" altLang="en-US" sz="2400" dirty="0">
                <a:sym typeface="Symbol" panose="05050102010706020507" pitchFamily="18" charset="2"/>
              </a:rPr>
              <a:t>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Starvation</a:t>
            </a:r>
            <a:r>
              <a:rPr lang="en-US" altLang="en-US" sz="2400" b="1" dirty="0"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– low priority processes may never execute</a:t>
            </a:r>
          </a:p>
          <a:p>
            <a:endParaRPr lang="en-US" altLang="en-US" sz="1050" dirty="0">
              <a:sym typeface="Symbol" panose="05050102010706020507" pitchFamily="18" charset="2"/>
            </a:endParaRPr>
          </a:p>
          <a:p>
            <a:pPr algn="just"/>
            <a:r>
              <a:rPr lang="en-US" altLang="en-US" sz="2400" dirty="0">
                <a:sym typeface="Symbol" panose="05050102010706020507" pitchFamily="18" charset="2"/>
              </a:rPr>
              <a:t>Solution 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Aging</a:t>
            </a:r>
            <a:r>
              <a:rPr lang="en-US" altLang="en-US" sz="2400" b="1" dirty="0"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– </a:t>
            </a:r>
            <a:r>
              <a:rPr lang="en-US" sz="2400" dirty="0"/>
              <a:t>It is a technique of gradually increasing the priority of processes that wait in the system for long time </a:t>
            </a:r>
          </a:p>
          <a:p>
            <a:endParaRPr lang="en-US" altLang="en-US" sz="2000" dirty="0">
              <a:sym typeface="Symbol" panose="05050102010706020507" pitchFamily="18" charset="2"/>
            </a:endParaRPr>
          </a:p>
          <a:p>
            <a:pPr>
              <a:buFont typeface="Monotype Sorts" pitchFamily="-84" charset="2"/>
              <a:buNone/>
            </a:pPr>
            <a:endParaRPr lang="en-US" altLang="en-US" b="1" dirty="0">
              <a:solidFill>
                <a:srgbClr val="3366FF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BD1CE599-A709-401F-8DD0-F7F4CCB2DD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30526" y="229606"/>
            <a:ext cx="728027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Example of Priority Scheduling</a:t>
            </a:r>
          </a:p>
        </p:txBody>
      </p:sp>
      <p:sp>
        <p:nvSpPr>
          <p:cNvPr id="50178" name="Rectangle 36">
            <a:extLst>
              <a:ext uri="{FF2B5EF4-FFF2-40B4-BE49-F238E27FC236}">
                <a16:creationId xmlns:a16="http://schemas.microsoft.com/office/drawing/2014/main" id="{CDADF2B2-580D-4F09-8A23-D969CD6146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32114" y="929147"/>
            <a:ext cx="9535888" cy="5747423"/>
          </a:xfrm>
          <a:noFill/>
        </p:spPr>
        <p:txBody>
          <a:bodyPr>
            <a:normAutofit fontScale="62500" lnSpcReduction="20000"/>
          </a:bodyPr>
          <a:lstStyle/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</a:t>
            </a:r>
            <a:r>
              <a:rPr lang="en-US" altLang="en-US" sz="3400" dirty="0"/>
              <a:t>	         </a:t>
            </a:r>
            <a:r>
              <a:rPr lang="en-US" altLang="en-US" sz="3400" u="sng" dirty="0" err="1"/>
              <a:t>Process</a:t>
            </a:r>
            <a:r>
              <a:rPr lang="en-US" altLang="en-US" sz="3400" u="sng" dirty="0" err="1">
                <a:solidFill>
                  <a:schemeClr val="bg1"/>
                </a:solidFill>
              </a:rPr>
              <a:t>A</a:t>
            </a:r>
            <a:r>
              <a:rPr lang="en-US" altLang="en-US" sz="3400" u="sng" dirty="0">
                <a:solidFill>
                  <a:schemeClr val="bg1"/>
                </a:solidFill>
              </a:rPr>
              <a:t>	</a:t>
            </a:r>
            <a:r>
              <a:rPr lang="en-US" altLang="en-US" sz="3400" u="sng" dirty="0" err="1">
                <a:solidFill>
                  <a:schemeClr val="bg1"/>
                </a:solidFill>
              </a:rPr>
              <a:t>arri</a:t>
            </a:r>
            <a:r>
              <a:rPr lang="en-US" altLang="en-US" sz="3400" u="sng" dirty="0">
                <a:solidFill>
                  <a:schemeClr val="bg1"/>
                </a:solidFill>
              </a:rPr>
              <a:t> </a:t>
            </a:r>
            <a:r>
              <a:rPr lang="en-US" altLang="en-US" sz="3400" u="sng" dirty="0"/>
              <a:t>Burst </a:t>
            </a:r>
            <a:r>
              <a:rPr lang="en-US" altLang="en-US" sz="3400" u="sng" dirty="0" err="1"/>
              <a:t>Time</a:t>
            </a:r>
            <a:r>
              <a:rPr lang="en-US" altLang="en-US" sz="3400" u="sng" dirty="0" err="1">
                <a:solidFill>
                  <a:schemeClr val="bg1"/>
                </a:solidFill>
              </a:rPr>
              <a:t>T</a:t>
            </a:r>
            <a:r>
              <a:rPr lang="en-US" altLang="en-US" sz="3400" dirty="0"/>
              <a:t>	</a:t>
            </a:r>
            <a:r>
              <a:rPr lang="en-US" altLang="en-US" sz="3400" u="sng" dirty="0"/>
              <a:t>Priority</a:t>
            </a:r>
            <a:endParaRPr lang="en-US" altLang="en-US" sz="3400" dirty="0"/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3400" dirty="0"/>
              <a:t>		 </a:t>
            </a:r>
            <a:r>
              <a:rPr lang="en-US" altLang="en-US" sz="3400" i="1" dirty="0"/>
              <a:t>P</a:t>
            </a:r>
            <a:r>
              <a:rPr lang="en-US" altLang="en-US" sz="3400" i="1" baseline="-25000" dirty="0"/>
              <a:t>1</a:t>
            </a:r>
            <a:r>
              <a:rPr lang="en-US" altLang="en-US" sz="3400" dirty="0"/>
              <a:t>	1</a:t>
            </a:r>
            <a:r>
              <a:rPr lang="en-US" altLang="en-US" sz="3400" dirty="0">
                <a:solidFill>
                  <a:srgbClr val="000000"/>
                </a:solidFill>
              </a:rPr>
              <a:t>0</a:t>
            </a:r>
            <a:r>
              <a:rPr lang="en-US" altLang="en-US" sz="3400" dirty="0"/>
              <a:t>	3</a:t>
            </a:r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3400" dirty="0"/>
              <a:t>		 </a:t>
            </a:r>
            <a:r>
              <a:rPr lang="en-US" altLang="en-US" sz="3400" i="1" dirty="0"/>
              <a:t>P</a:t>
            </a:r>
            <a:r>
              <a:rPr lang="en-US" altLang="en-US" sz="3400" i="1" baseline="-25000" dirty="0"/>
              <a:t>2 	</a:t>
            </a:r>
            <a:r>
              <a:rPr lang="en-US" altLang="en-US" sz="3400" dirty="0">
                <a:solidFill>
                  <a:srgbClr val="000000"/>
                </a:solidFill>
              </a:rPr>
              <a:t>1</a:t>
            </a:r>
            <a:r>
              <a:rPr lang="en-US" altLang="en-US" sz="3400" dirty="0"/>
              <a:t>	1</a:t>
            </a:r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3400" dirty="0"/>
              <a:t>		 </a:t>
            </a:r>
            <a:r>
              <a:rPr lang="en-US" altLang="en-US" sz="3400" i="1" dirty="0"/>
              <a:t>P</a:t>
            </a:r>
            <a:r>
              <a:rPr lang="en-US" altLang="en-US" sz="3400" i="1" baseline="-25000" dirty="0"/>
              <a:t>3</a:t>
            </a:r>
            <a:r>
              <a:rPr lang="en-US" altLang="en-US" sz="3400" dirty="0"/>
              <a:t>	</a:t>
            </a:r>
            <a:r>
              <a:rPr lang="en-US" altLang="en-US" sz="3400" dirty="0">
                <a:solidFill>
                  <a:srgbClr val="000000"/>
                </a:solidFill>
              </a:rPr>
              <a:t>2</a:t>
            </a:r>
            <a:r>
              <a:rPr lang="en-US" altLang="en-US" sz="3400" dirty="0"/>
              <a:t>	4</a:t>
            </a:r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3400" dirty="0"/>
              <a:t>		 </a:t>
            </a:r>
            <a:r>
              <a:rPr lang="en-US" altLang="en-US" sz="3400" i="1" dirty="0"/>
              <a:t>P</a:t>
            </a:r>
            <a:r>
              <a:rPr lang="en-US" altLang="en-US" sz="3400" i="1" baseline="-25000" dirty="0"/>
              <a:t>4</a:t>
            </a:r>
            <a:r>
              <a:rPr lang="en-US" altLang="en-US" sz="3400" dirty="0"/>
              <a:t>	</a:t>
            </a:r>
            <a:r>
              <a:rPr lang="en-US" altLang="en-US" sz="3400" dirty="0">
                <a:solidFill>
                  <a:srgbClr val="000000"/>
                </a:solidFill>
              </a:rPr>
              <a:t>1</a:t>
            </a:r>
            <a:r>
              <a:rPr lang="en-US" altLang="en-US" sz="3400" dirty="0"/>
              <a:t>	5</a:t>
            </a:r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3400" dirty="0"/>
              <a:t>		</a:t>
            </a:r>
            <a:r>
              <a:rPr lang="en-US" altLang="en-US" sz="3400" i="1" dirty="0"/>
              <a:t>P</a:t>
            </a:r>
            <a:r>
              <a:rPr lang="en-US" altLang="en-US" sz="3400" i="1" baseline="-25000" dirty="0"/>
              <a:t>5	</a:t>
            </a:r>
            <a:r>
              <a:rPr lang="en-US" altLang="en-US" sz="3400" dirty="0"/>
              <a:t>5	2</a:t>
            </a:r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sz="3400" baseline="-25000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3400" dirty="0"/>
              <a:t>Priority scheduling Gantt Chart</a:t>
            </a:r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sz="3400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sz="3400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sz="3400" dirty="0"/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sz="3400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3400" dirty="0"/>
              <a:t>Average waiting time = 8.2</a:t>
            </a:r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3600" dirty="0">
                <a:cs typeface="ＭＳ Ｐゴシック" charset="-128"/>
              </a:rPr>
              <a:t>Average turnaround time =12</a:t>
            </a:r>
            <a:endParaRPr lang="en-US" altLang="en-US" sz="3400" i="1" baseline="-25000" dirty="0"/>
          </a:p>
        </p:txBody>
      </p:sp>
      <p:pic>
        <p:nvPicPr>
          <p:cNvPr id="50179" name="Picture 1">
            <a:extLst>
              <a:ext uri="{FF2B5EF4-FFF2-40B4-BE49-F238E27FC236}">
                <a16:creationId xmlns:a16="http://schemas.microsoft.com/office/drawing/2014/main" id="{A77EE5E1-F152-4172-9935-567FC2AB99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5550" y="4173794"/>
            <a:ext cx="8162912" cy="949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B86BF-385B-422A-B014-5130BC342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7968" y="128016"/>
            <a:ext cx="9720072" cy="1499616"/>
          </a:xfrm>
        </p:spPr>
        <p:txBody>
          <a:bodyPr/>
          <a:lstStyle/>
          <a:p>
            <a:r>
              <a:rPr lang="en-US" altLang="en-US" dirty="0"/>
              <a:t>Example of Priority Scheduling - Practice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48173-7453-4A7B-9C08-CD443595E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5791" y="1428206"/>
            <a:ext cx="9720073" cy="4023360"/>
          </a:xfrm>
        </p:spPr>
        <p:txBody>
          <a:bodyPr/>
          <a:lstStyle/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2400" dirty="0"/>
              <a:t> 		</a:t>
            </a:r>
            <a:r>
              <a:rPr lang="en-US" altLang="en-US" sz="2400" u="sng" dirty="0" err="1"/>
              <a:t>Process</a:t>
            </a:r>
            <a:r>
              <a:rPr lang="en-US" altLang="en-US" sz="2400" u="sng" dirty="0" err="1">
                <a:solidFill>
                  <a:schemeClr val="bg1"/>
                </a:solidFill>
              </a:rPr>
              <a:t>A</a:t>
            </a:r>
            <a:r>
              <a:rPr lang="en-US" altLang="en-US" sz="2400" u="sng" dirty="0">
                <a:solidFill>
                  <a:schemeClr val="bg1"/>
                </a:solidFill>
              </a:rPr>
              <a:t>	</a:t>
            </a:r>
            <a:r>
              <a:rPr lang="en-US" altLang="en-US" sz="2400" u="sng" dirty="0" err="1">
                <a:solidFill>
                  <a:schemeClr val="bg1"/>
                </a:solidFill>
              </a:rPr>
              <a:t>arri</a:t>
            </a:r>
            <a:r>
              <a:rPr lang="en-US" altLang="en-US" sz="2400" u="sng" dirty="0">
                <a:solidFill>
                  <a:schemeClr val="bg1"/>
                </a:solidFill>
              </a:rPr>
              <a:t> </a:t>
            </a:r>
            <a:r>
              <a:rPr lang="en-US" altLang="en-US" sz="2400" u="sng" dirty="0"/>
              <a:t>Burst </a:t>
            </a:r>
            <a:r>
              <a:rPr lang="en-US" altLang="en-US" sz="2400" u="sng" dirty="0" err="1"/>
              <a:t>Time</a:t>
            </a:r>
            <a:r>
              <a:rPr lang="en-US" altLang="en-US" sz="2400" u="sng" dirty="0" err="1">
                <a:solidFill>
                  <a:schemeClr val="bg1"/>
                </a:solidFill>
              </a:rPr>
              <a:t>T</a:t>
            </a:r>
            <a:r>
              <a:rPr lang="en-US" altLang="en-US" sz="2400" dirty="0"/>
              <a:t>	</a:t>
            </a:r>
            <a:r>
              <a:rPr lang="en-US" altLang="en-US" sz="2400" u="sng" dirty="0"/>
              <a:t>Priority</a:t>
            </a:r>
            <a:endParaRPr lang="en-US" altLang="en-US" sz="2400" dirty="0"/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2400" dirty="0"/>
              <a:t>		 </a:t>
            </a:r>
            <a:r>
              <a:rPr lang="en-US" altLang="en-US" sz="2400" i="1" dirty="0"/>
              <a:t>P</a:t>
            </a:r>
            <a:r>
              <a:rPr lang="en-US" altLang="en-US" sz="2400" i="1" baseline="-25000" dirty="0"/>
              <a:t>1</a:t>
            </a:r>
            <a:r>
              <a:rPr lang="en-US" altLang="en-US" sz="2400" dirty="0"/>
              <a:t>	6	4</a:t>
            </a:r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2400" dirty="0"/>
              <a:t>		 </a:t>
            </a:r>
            <a:r>
              <a:rPr lang="en-US" altLang="en-US" sz="2400" i="1" dirty="0"/>
              <a:t>P</a:t>
            </a:r>
            <a:r>
              <a:rPr lang="en-US" altLang="en-US" sz="2400" i="1" baseline="-25000" dirty="0"/>
              <a:t>2 	</a:t>
            </a:r>
            <a:r>
              <a:rPr lang="en-US" altLang="en-US" sz="2400" dirty="0">
                <a:solidFill>
                  <a:srgbClr val="000000"/>
                </a:solidFill>
              </a:rPr>
              <a:t>8</a:t>
            </a:r>
            <a:r>
              <a:rPr lang="en-US" altLang="en-US" sz="2400" dirty="0"/>
              <a:t>	1</a:t>
            </a:r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2400" dirty="0"/>
              <a:t>		 </a:t>
            </a:r>
            <a:r>
              <a:rPr lang="en-US" altLang="en-US" sz="2400" i="1" dirty="0"/>
              <a:t>P</a:t>
            </a:r>
            <a:r>
              <a:rPr lang="en-US" altLang="en-US" sz="2400" i="1" baseline="-25000" dirty="0"/>
              <a:t>3</a:t>
            </a:r>
            <a:r>
              <a:rPr lang="en-US" altLang="en-US" sz="2400" dirty="0"/>
              <a:t>	</a:t>
            </a:r>
            <a:r>
              <a:rPr lang="en-US" altLang="en-US" sz="2400" dirty="0">
                <a:solidFill>
                  <a:srgbClr val="000000"/>
                </a:solidFill>
              </a:rPr>
              <a:t>7</a:t>
            </a:r>
            <a:r>
              <a:rPr lang="en-US" altLang="en-US" sz="2400" dirty="0"/>
              <a:t>	3</a:t>
            </a:r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2400" dirty="0"/>
              <a:t>		 </a:t>
            </a:r>
            <a:r>
              <a:rPr lang="en-US" altLang="en-US" sz="2400" i="1" dirty="0"/>
              <a:t>P</a:t>
            </a:r>
            <a:r>
              <a:rPr lang="en-US" altLang="en-US" sz="2400" i="1" baseline="-25000" dirty="0"/>
              <a:t>4</a:t>
            </a:r>
            <a:r>
              <a:rPr lang="en-US" altLang="en-US" sz="2400" dirty="0"/>
              <a:t>	</a:t>
            </a:r>
            <a:r>
              <a:rPr lang="en-US" altLang="en-US" sz="2400" dirty="0">
                <a:solidFill>
                  <a:srgbClr val="000000"/>
                </a:solidFill>
              </a:rPr>
              <a:t>3</a:t>
            </a:r>
            <a:r>
              <a:rPr lang="en-US" altLang="en-US" sz="2400" dirty="0"/>
              <a:t>	2</a:t>
            </a:r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2400" dirty="0"/>
              <a:t>		</a:t>
            </a:r>
            <a:endParaRPr lang="en-P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CD4C5D-4DE9-47B0-97E3-B5D34CE3B4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4948"/>
          <a:stretch/>
        </p:blipFill>
        <p:spPr>
          <a:xfrm>
            <a:off x="1255776" y="4340352"/>
            <a:ext cx="7181850" cy="11612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CD4C5D-4DE9-47B0-97E3-B5D34CE3B4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809" t="38272" r="4382" b="31369"/>
          <a:stretch/>
        </p:blipFill>
        <p:spPr>
          <a:xfrm>
            <a:off x="1097280" y="5623560"/>
            <a:ext cx="400812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949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0872D-E117-4A4C-9257-F7DBAC488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Example of Priority Scheduling - </a:t>
            </a:r>
            <a:br>
              <a:rPr lang="en-US" altLang="en-US" dirty="0"/>
            </a:br>
            <a:r>
              <a:rPr lang="en-US" altLang="en-US" sz="4000" b="1" dirty="0"/>
              <a:t>Non-Preemptive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7D572-31C9-4C40-AB60-E2BCF488E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2097" y="5967787"/>
            <a:ext cx="7726975" cy="477258"/>
          </a:xfrm>
        </p:spPr>
        <p:txBody>
          <a:bodyPr>
            <a:normAutofit/>
          </a:bodyPr>
          <a:lstStyle/>
          <a:p>
            <a:r>
              <a:rPr lang="en-US" dirty="0"/>
              <a:t>Solution discussed in class</a:t>
            </a:r>
            <a:endParaRPr lang="en-PK" dirty="0"/>
          </a:p>
        </p:txBody>
      </p:sp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3EB17E1F-4647-4C61-AD2C-FA3542903D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704146"/>
              </p:ext>
            </p:extLst>
          </p:nvPr>
        </p:nvGraphicFramePr>
        <p:xfrm>
          <a:off x="2353241" y="1976283"/>
          <a:ext cx="7604684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1171">
                  <a:extLst>
                    <a:ext uri="{9D8B030D-6E8A-4147-A177-3AD203B41FA5}">
                      <a16:colId xmlns:a16="http://schemas.microsoft.com/office/drawing/2014/main" val="2919603092"/>
                    </a:ext>
                  </a:extLst>
                </a:gridCol>
                <a:gridCol w="1901171">
                  <a:extLst>
                    <a:ext uri="{9D8B030D-6E8A-4147-A177-3AD203B41FA5}">
                      <a16:colId xmlns:a16="http://schemas.microsoft.com/office/drawing/2014/main" val="1111340567"/>
                    </a:ext>
                  </a:extLst>
                </a:gridCol>
                <a:gridCol w="1901171">
                  <a:extLst>
                    <a:ext uri="{9D8B030D-6E8A-4147-A177-3AD203B41FA5}">
                      <a16:colId xmlns:a16="http://schemas.microsoft.com/office/drawing/2014/main" val="4170163553"/>
                    </a:ext>
                  </a:extLst>
                </a:gridCol>
                <a:gridCol w="1901171">
                  <a:extLst>
                    <a:ext uri="{9D8B030D-6E8A-4147-A177-3AD203B41FA5}">
                      <a16:colId xmlns:a16="http://schemas.microsoft.com/office/drawing/2014/main" val="3069233972"/>
                    </a:ext>
                  </a:extLst>
                </a:gridCol>
              </a:tblGrid>
              <a:tr h="484239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effectLst/>
                        </a:rPr>
                        <a:t>Process Id</a:t>
                      </a:r>
                      <a:endParaRPr lang="en-US" sz="2400" dirty="0">
                        <a:effectLst/>
                      </a:endParaRP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effectLst/>
                        </a:rPr>
                        <a:t>Arrival time</a:t>
                      </a:r>
                      <a:endParaRPr lang="en-US" sz="2400">
                        <a:effectLst/>
                      </a:endParaRP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effectLst/>
                        </a:rPr>
                        <a:t>Burst time</a:t>
                      </a:r>
                      <a:endParaRPr lang="en-US" sz="2400">
                        <a:effectLst/>
                      </a:endParaRP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effectLst/>
                        </a:rPr>
                        <a:t>Priority</a:t>
                      </a:r>
                      <a:endParaRPr lang="en-US" sz="2400">
                        <a:effectLst/>
                      </a:endParaRP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2858524392"/>
                  </a:ext>
                </a:extLst>
              </a:tr>
              <a:tr h="484239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</a:rPr>
                        <a:t>P1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>
                          <a:effectLst/>
                        </a:rPr>
                        <a:t>0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 dirty="0">
                          <a:effectLst/>
                        </a:rPr>
                        <a:t>4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3</a:t>
                      </a:r>
                      <a:endParaRPr lang="en-PK" sz="2400" dirty="0">
                        <a:effectLst/>
                      </a:endParaRP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4245972890"/>
                  </a:ext>
                </a:extLst>
              </a:tr>
              <a:tr h="484239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</a:rPr>
                        <a:t>P2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0</a:t>
                      </a:r>
                      <a:endParaRPr lang="en-PK" sz="2400" dirty="0">
                        <a:effectLst/>
                      </a:endParaRP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>
                          <a:effectLst/>
                        </a:rPr>
                        <a:t>3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2</a:t>
                      </a:r>
                      <a:endParaRPr lang="en-PK" sz="2400" dirty="0">
                        <a:effectLst/>
                      </a:endParaRP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1841014899"/>
                  </a:ext>
                </a:extLst>
              </a:tr>
              <a:tr h="484239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</a:rPr>
                        <a:t>P3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0</a:t>
                      </a:r>
                      <a:endParaRPr lang="en-PK" sz="2400" dirty="0">
                        <a:effectLst/>
                      </a:endParaRP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>
                          <a:effectLst/>
                        </a:rPr>
                        <a:t>1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0</a:t>
                      </a:r>
                      <a:endParaRPr lang="en-PK" sz="2400" dirty="0">
                        <a:effectLst/>
                      </a:endParaRP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2755672639"/>
                  </a:ext>
                </a:extLst>
              </a:tr>
              <a:tr h="484239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</a:rPr>
                        <a:t>P4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0</a:t>
                      </a:r>
                      <a:endParaRPr lang="en-PK" sz="2400" dirty="0">
                        <a:effectLst/>
                      </a:endParaRP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>
                          <a:effectLst/>
                        </a:rPr>
                        <a:t>5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4</a:t>
                      </a:r>
                      <a:endParaRPr lang="en-PK" sz="2400" dirty="0">
                        <a:effectLst/>
                      </a:endParaRP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522388938"/>
                  </a:ext>
                </a:extLst>
              </a:tr>
              <a:tr h="484239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</a:rPr>
                        <a:t>P5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0</a:t>
                      </a:r>
                      <a:endParaRPr lang="en-PK" sz="2400" dirty="0">
                        <a:effectLst/>
                      </a:endParaRP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>
                          <a:effectLst/>
                        </a:rPr>
                        <a:t>2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1</a:t>
                      </a:r>
                      <a:endParaRPr lang="en-PK" sz="2400" dirty="0">
                        <a:effectLst/>
                      </a:endParaRP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2244252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15241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0872D-E117-4A4C-9257-F7DBAC488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Example of Priority Scheduling - </a:t>
            </a:r>
            <a:r>
              <a:rPr lang="en-US" altLang="en-US" sz="4000" b="1" dirty="0"/>
              <a:t>Preemptive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7D572-31C9-4C40-AB60-E2BCF488E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2097" y="5967787"/>
            <a:ext cx="7726975" cy="477258"/>
          </a:xfrm>
        </p:spPr>
        <p:txBody>
          <a:bodyPr>
            <a:normAutofit/>
          </a:bodyPr>
          <a:lstStyle/>
          <a:p>
            <a:r>
              <a:rPr lang="en-US" dirty="0"/>
              <a:t>Solution discussed in class</a:t>
            </a:r>
            <a:endParaRPr lang="en-PK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40EA1B2F-CDD5-4B09-B3D7-A69B69E3B5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391325"/>
              </p:ext>
            </p:extLst>
          </p:nvPr>
        </p:nvGraphicFramePr>
        <p:xfrm>
          <a:off x="2353241" y="1976283"/>
          <a:ext cx="7604684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1171">
                  <a:extLst>
                    <a:ext uri="{9D8B030D-6E8A-4147-A177-3AD203B41FA5}">
                      <a16:colId xmlns:a16="http://schemas.microsoft.com/office/drawing/2014/main" val="2919603092"/>
                    </a:ext>
                  </a:extLst>
                </a:gridCol>
                <a:gridCol w="1901171">
                  <a:extLst>
                    <a:ext uri="{9D8B030D-6E8A-4147-A177-3AD203B41FA5}">
                      <a16:colId xmlns:a16="http://schemas.microsoft.com/office/drawing/2014/main" val="1111340567"/>
                    </a:ext>
                  </a:extLst>
                </a:gridCol>
                <a:gridCol w="1901171">
                  <a:extLst>
                    <a:ext uri="{9D8B030D-6E8A-4147-A177-3AD203B41FA5}">
                      <a16:colId xmlns:a16="http://schemas.microsoft.com/office/drawing/2014/main" val="4170163553"/>
                    </a:ext>
                  </a:extLst>
                </a:gridCol>
                <a:gridCol w="1901171">
                  <a:extLst>
                    <a:ext uri="{9D8B030D-6E8A-4147-A177-3AD203B41FA5}">
                      <a16:colId xmlns:a16="http://schemas.microsoft.com/office/drawing/2014/main" val="3069233972"/>
                    </a:ext>
                  </a:extLst>
                </a:gridCol>
              </a:tblGrid>
              <a:tr h="484239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effectLst/>
                        </a:rPr>
                        <a:t>Process Id</a:t>
                      </a:r>
                      <a:endParaRPr lang="en-US" sz="2400" dirty="0">
                        <a:effectLst/>
                      </a:endParaRP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effectLst/>
                        </a:rPr>
                        <a:t>Arrival time</a:t>
                      </a:r>
                      <a:endParaRPr lang="en-US" sz="2400">
                        <a:effectLst/>
                      </a:endParaRP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effectLst/>
                        </a:rPr>
                        <a:t>Burst time</a:t>
                      </a:r>
                      <a:endParaRPr lang="en-US" sz="2400">
                        <a:effectLst/>
                      </a:endParaRP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effectLst/>
                        </a:rPr>
                        <a:t>Priority</a:t>
                      </a:r>
                      <a:endParaRPr lang="en-US" sz="2400">
                        <a:effectLst/>
                      </a:endParaRP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2858524392"/>
                  </a:ext>
                </a:extLst>
              </a:tr>
              <a:tr h="484239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</a:rPr>
                        <a:t>P1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>
                          <a:effectLst/>
                        </a:rPr>
                        <a:t>0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 dirty="0">
                          <a:effectLst/>
                        </a:rPr>
                        <a:t>4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3</a:t>
                      </a:r>
                      <a:endParaRPr lang="en-PK" sz="2400" dirty="0">
                        <a:effectLst/>
                      </a:endParaRP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4245972890"/>
                  </a:ext>
                </a:extLst>
              </a:tr>
              <a:tr h="484239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</a:rPr>
                        <a:t>P2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>
                          <a:effectLst/>
                        </a:rPr>
                        <a:t>1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>
                          <a:effectLst/>
                        </a:rPr>
                        <a:t>3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2</a:t>
                      </a:r>
                      <a:endParaRPr lang="en-PK" sz="2400" dirty="0">
                        <a:effectLst/>
                      </a:endParaRP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1841014899"/>
                  </a:ext>
                </a:extLst>
              </a:tr>
              <a:tr h="484239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</a:rPr>
                        <a:t>P3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>
                          <a:effectLst/>
                        </a:rPr>
                        <a:t>2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>
                          <a:effectLst/>
                        </a:rPr>
                        <a:t>1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0</a:t>
                      </a:r>
                      <a:endParaRPr lang="en-PK" sz="2400" dirty="0">
                        <a:effectLst/>
                      </a:endParaRP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2755672639"/>
                  </a:ext>
                </a:extLst>
              </a:tr>
              <a:tr h="484239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</a:rPr>
                        <a:t>P4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>
                          <a:effectLst/>
                        </a:rPr>
                        <a:t>3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>
                          <a:effectLst/>
                        </a:rPr>
                        <a:t>5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4</a:t>
                      </a:r>
                      <a:endParaRPr lang="en-PK" sz="2400" dirty="0">
                        <a:effectLst/>
                      </a:endParaRP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522388938"/>
                  </a:ext>
                </a:extLst>
              </a:tr>
              <a:tr h="484239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</a:rPr>
                        <a:t>P5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>
                          <a:effectLst/>
                        </a:rPr>
                        <a:t>4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>
                          <a:effectLst/>
                        </a:rPr>
                        <a:t>2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1</a:t>
                      </a:r>
                      <a:endParaRPr lang="en-PK" sz="2400" dirty="0">
                        <a:effectLst/>
                      </a:endParaRP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2244252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20355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9EE99-D81C-4211-9A6F-3E520507D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2645" y="585216"/>
            <a:ext cx="7099505" cy="860126"/>
          </a:xfrm>
        </p:spPr>
        <p:txBody>
          <a:bodyPr/>
          <a:lstStyle/>
          <a:p>
            <a:r>
              <a:rPr lang="en-US" altLang="en-US" dirty="0"/>
              <a:t>Scheduling- IMP formulas</a:t>
            </a:r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D8AF14-2EF4-4209-8CB1-D138CAA3D26F}"/>
              </a:ext>
            </a:extLst>
          </p:cNvPr>
          <p:cNvSpPr txBox="1"/>
          <p:nvPr/>
        </p:nvSpPr>
        <p:spPr>
          <a:xfrm>
            <a:off x="1016000" y="1445344"/>
            <a:ext cx="1055188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PK" dirty="0">
              <a:solidFill>
                <a:srgbClr val="000000"/>
              </a:solidFill>
              <a:latin typeface="Tw Cen MT (Body)"/>
            </a:endParaRPr>
          </a:p>
          <a:p>
            <a:r>
              <a:rPr lang="en-US" sz="3200" dirty="0">
                <a:latin typeface="Tw Cen MT (Body)"/>
              </a:rPr>
              <a:t>For preemptive algos, we calculate Turn Around Time. Whenever a process enters Ready Queue more than once we use turn around time instead of waiting time. </a:t>
            </a:r>
          </a:p>
          <a:p>
            <a:r>
              <a:rPr lang="en-US" sz="3200" b="1" dirty="0">
                <a:latin typeface="Tw Cen MT (Body)"/>
              </a:rPr>
              <a:t>For non-preemptive algo: </a:t>
            </a:r>
          </a:p>
          <a:p>
            <a:pPr lvl="1"/>
            <a:r>
              <a:rPr lang="en-US" sz="3200" dirty="0">
                <a:latin typeface="Tw Cen MT (Body)"/>
              </a:rPr>
              <a:t>Waiting time = Start time – Arrival time </a:t>
            </a:r>
          </a:p>
          <a:p>
            <a:pPr lvl="1"/>
            <a:r>
              <a:rPr lang="en-US" sz="3200" dirty="0">
                <a:latin typeface="Tw Cen MT (Body)"/>
              </a:rPr>
              <a:t>Turn around time = Finish time – Arrival time</a:t>
            </a:r>
          </a:p>
          <a:p>
            <a:r>
              <a:rPr lang="en-US" sz="3200" b="1" dirty="0">
                <a:latin typeface="Tw Cen MT (Body)"/>
              </a:rPr>
              <a:t>For preemptive algo: </a:t>
            </a:r>
          </a:p>
          <a:p>
            <a:r>
              <a:rPr lang="en-US" sz="3200" dirty="0">
                <a:latin typeface="Tw Cen MT (Body)"/>
              </a:rPr>
              <a:t>	Waiting time = Finish time – Burst time – Arrival time </a:t>
            </a:r>
          </a:p>
          <a:p>
            <a:r>
              <a:rPr lang="en-US" sz="3200" dirty="0">
                <a:latin typeface="Tw Cen MT (Body)"/>
              </a:rPr>
              <a:t>    Turn around time = Finish time – Arrival time </a:t>
            </a:r>
          </a:p>
        </p:txBody>
      </p:sp>
    </p:spTree>
    <p:extLst>
      <p:ext uri="{BB962C8B-B14F-4D97-AF65-F5344CB8AC3E}">
        <p14:creationId xmlns:p14="http://schemas.microsoft.com/office/powerpoint/2010/main" val="27886676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S UMT fin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S UMT final" id="{CBCE36D3-05F5-44F6-A4CC-389087D412BE}" vid="{0986A359-476F-454E-A987-D9FB90AED5DF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 UMT final</Template>
  <TotalTime>15384</TotalTime>
  <Words>1274</Words>
  <Application>Microsoft Office PowerPoint</Application>
  <PresentationFormat>Widescreen</PresentationFormat>
  <Paragraphs>214</Paragraphs>
  <Slides>20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Arial</vt:lpstr>
      <vt:lpstr>Comic Sans MS</vt:lpstr>
      <vt:lpstr>Helvetica</vt:lpstr>
      <vt:lpstr>Monotype Sorts</vt:lpstr>
      <vt:lpstr>Times New Roman</vt:lpstr>
      <vt:lpstr>Tw Cen MT</vt:lpstr>
      <vt:lpstr>Tw Cen MT (Body)</vt:lpstr>
      <vt:lpstr>Tw Cen MT Condensed</vt:lpstr>
      <vt:lpstr>Verdana</vt:lpstr>
      <vt:lpstr>Wingdings</vt:lpstr>
      <vt:lpstr>Wingdings 3</vt:lpstr>
      <vt:lpstr>OS UMT final</vt:lpstr>
      <vt:lpstr>Chapter 5:  CPU Scheduling</vt:lpstr>
      <vt:lpstr>Basic Concepts</vt:lpstr>
      <vt:lpstr>Histogram of CPU-burst Times</vt:lpstr>
      <vt:lpstr>CPU Scheduler</vt:lpstr>
      <vt:lpstr>Preemptive and Nonpreemptive Scheduling</vt:lpstr>
      <vt:lpstr>Dispatcher</vt:lpstr>
      <vt:lpstr>Scheduling Criteria</vt:lpstr>
      <vt:lpstr>Scheduling Algorithm Optimization Criteria</vt:lpstr>
      <vt:lpstr>First- Come, First-Served (FCFS) Scheduling</vt:lpstr>
      <vt:lpstr>FCFS Scheduling (Cont.)</vt:lpstr>
      <vt:lpstr>Shortest-Job-First (SJF) Scheduling</vt:lpstr>
      <vt:lpstr>Shortest-Job-First (SJF) Scheduling</vt:lpstr>
      <vt:lpstr>Example of SJF - Non-Preemptive</vt:lpstr>
      <vt:lpstr>Example of Shortest-remaining-time-first- Preemptive</vt:lpstr>
      <vt:lpstr>Priority Scheduling</vt:lpstr>
      <vt:lpstr>Example of Priority Scheduling</vt:lpstr>
      <vt:lpstr>Example of Priority Scheduling - Practice</vt:lpstr>
      <vt:lpstr>Example of Priority Scheduling -  Non-Preemptive</vt:lpstr>
      <vt:lpstr>Example of Priority Scheduling - Preemptive</vt:lpstr>
      <vt:lpstr>Scheduling- IMP formulas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Ayesha Asmat</cp:lastModifiedBy>
  <cp:revision>282</cp:revision>
  <cp:lastPrinted>2013-09-10T17:57:57Z</cp:lastPrinted>
  <dcterms:created xsi:type="dcterms:W3CDTF">2011-01-13T23:43:38Z</dcterms:created>
  <dcterms:modified xsi:type="dcterms:W3CDTF">2023-11-06T05:53:53Z</dcterms:modified>
</cp:coreProperties>
</file>