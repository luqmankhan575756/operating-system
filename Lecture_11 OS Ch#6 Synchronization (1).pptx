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82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4" r:id="rId29"/>
    <p:sldId id="285" r:id="rId30"/>
    <p:sldId id="286" r:id="rId31"/>
    <p:sldId id="290" r:id="rId32"/>
    <p:sldId id="289" r:id="rId33"/>
    <p:sldId id="291" r:id="rId34"/>
    <p:sldId id="292" r:id="rId35"/>
    <p:sldId id="293" r:id="rId36"/>
    <p:sldId id="294" r:id="rId37"/>
    <p:sldId id="296" r:id="rId38"/>
    <p:sldId id="297" r:id="rId39"/>
    <p:sldId id="300" r:id="rId40"/>
    <p:sldId id="298" r:id="rId41"/>
    <p:sldId id="314" r:id="rId42"/>
    <p:sldId id="299" r:id="rId43"/>
    <p:sldId id="305" r:id="rId44"/>
    <p:sldId id="304" r:id="rId45"/>
    <p:sldId id="308" r:id="rId46"/>
    <p:sldId id="309" r:id="rId47"/>
    <p:sldId id="310" r:id="rId48"/>
    <p:sldId id="311" r:id="rId49"/>
    <p:sldId id="312" r:id="rId50"/>
    <p:sldId id="315" r:id="rId51"/>
    <p:sldId id="316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21235-62B9-44CE-94B2-921B86EA9A27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1F9EDC-802A-4457-B5F1-16B9D29A4B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971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524BB2-4409-486D-94E8-8A6BD7419C35}" type="slidenum">
              <a:rPr lang="en-US" altLang="en-US" sz="1200">
                <a:latin typeface="Times New Roman" panose="02020603050405020304" pitchFamily="18" charset="0"/>
              </a:rPr>
              <a:pPr/>
              <a:t>27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538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623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BA57D1F-635C-432B-95AF-4AFF3A1B6CDE}" type="slidenum">
              <a:rPr lang="en-US" altLang="en-US" sz="1200">
                <a:latin typeface="Times New Roman" panose="02020603050405020304" pitchFamily="18" charset="0"/>
              </a:rPr>
              <a:pPr/>
              <a:t>29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128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425E5F-9B67-4A32-BA94-1C6F679885B4}" type="slidenum">
              <a:rPr lang="en-US" altLang="en-US" sz="1200">
                <a:latin typeface="Times New Roman" panose="02020603050405020304" pitchFamily="18" charset="0"/>
              </a:rPr>
              <a:pPr/>
              <a:t>30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628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299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B560AA2B-36C3-4BA6-B8E4-C12D92E832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71" indent="-28895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80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812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443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76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508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40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2972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B86FDC-C417-482B-A0A4-CC6DE31F6685}" type="slidenum">
              <a:rPr lang="en-US" altLang="en-US" smtClean="0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5B8E00CE-665B-4062-A0E9-D7E2A062E2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D6256441-E288-4701-842D-EC0C5A77B3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852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CA63045E-DAF8-419C-BAC4-59387995B2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DA20102A-E63B-4A1D-A0E2-5467FB1F38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8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5256" y="1447802"/>
            <a:ext cx="8827957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5256" y="4777380"/>
            <a:ext cx="8827957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5D5AD-93F5-477C-97A8-8632D38CE2E1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6/4/2026</a:t>
            </a:fld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89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42AAA-EAC6-41BF-A140-ED4DE41D0298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6/4/2026</a:t>
            </a:fld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917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258" y="2861735"/>
            <a:ext cx="8827956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256" y="4777381"/>
            <a:ext cx="8827957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6B1B0-C6FC-4CD8-AF33-B0A8BCA7B3EF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6/4/2026</a:t>
            </a:fld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43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601" y="2060577"/>
            <a:ext cx="4397484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5967" y="2056093"/>
            <a:ext cx="4397487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8E8BC-E4A1-4F8B-AD5C-53B736045ABD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6/4/2026</a:t>
            </a:fld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466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600" y="1905000"/>
            <a:ext cx="439748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601" y="2514600"/>
            <a:ext cx="4397484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5969" y="1905000"/>
            <a:ext cx="439748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5969" y="2514600"/>
            <a:ext cx="4397484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3A9D0-0A38-49B9-BBF4-3EFD8C02EACB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6/4/2026</a:t>
            </a:fld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924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842D-7076-474D-B8A6-5E6E7828BBA5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6/4/2026</a:t>
            </a:fld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546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EB4A-8BCF-4137-926E-CB53BDB20347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6/4/2026</a:t>
            </a:fld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612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255" y="1447800"/>
            <a:ext cx="3401949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5863" y="1447800"/>
            <a:ext cx="5197351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5255" y="3129282"/>
            <a:ext cx="3401949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C07F8-FFAA-44F1-9C09-6F05DEDF1C8A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6/4/2026</a:t>
            </a:fld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565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208" y="1854192"/>
            <a:ext cx="5094232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51357" y="1143000"/>
            <a:ext cx="320123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5255" y="3657600"/>
            <a:ext cx="5086304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96D6-C503-49A8-A7AF-E132E6F9CC9A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6/4/2026</a:t>
            </a:fld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033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258" y="4800587"/>
            <a:ext cx="8827956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5256" y="685800"/>
            <a:ext cx="8827957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5257" y="5367325"/>
            <a:ext cx="882795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64E52-1781-4438-A70F-48C16B3C2E95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6/4/2026</a:t>
            </a:fld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504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256" y="1447800"/>
            <a:ext cx="8827957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5256" y="3657600"/>
            <a:ext cx="8827957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CF001-9895-4700-AAE4-1B35F9C5A67F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6/4/2026</a:t>
            </a:fld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300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5213" y="1447800"/>
            <a:ext cx="800139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904" y="3771174"/>
            <a:ext cx="7281545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5256" y="4350657"/>
            <a:ext cx="8827957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055AC-4842-435C-84E9-922FEC0F7A8F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6/4/2026</a:t>
            </a:fld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8530" y="971253"/>
            <a:ext cx="80212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200" b="0" i="0" u="none" strike="noStrike" kern="1200" cap="none" spc="0" normalizeH="0" baseline="0" noProof="0" dirty="0">
                <a:ln>
                  <a:noFill/>
                </a:ln>
                <a:solidFill>
                  <a:srgbClr val="1E5155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2921" y="2613787"/>
            <a:ext cx="80212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200" b="0" i="0" u="none" strike="noStrike" kern="1200" cap="none" spc="0" normalizeH="0" baseline="0" noProof="0" dirty="0">
                <a:ln>
                  <a:noFill/>
                </a:ln>
                <a:solidFill>
                  <a:srgbClr val="1E5155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0114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255" y="3124201"/>
            <a:ext cx="88279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256" y="4777381"/>
            <a:ext cx="8827957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FF813-DDD4-4F4F-85AD-C0F9B95A98AE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6/4/2026</a:t>
            </a:fld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404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113" y="1981200"/>
            <a:ext cx="29476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633" y="2667000"/>
            <a:ext cx="2928112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4672" y="1981200"/>
            <a:ext cx="29370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4116" y="2667000"/>
            <a:ext cx="294756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6556" y="1981200"/>
            <a:ext cx="293287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6556" y="2667000"/>
            <a:ext cx="2932877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711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404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5ACF-0760-4B48-A45D-C77519636BFA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6/4/2026</a:t>
            </a:fld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80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633" y="4250949"/>
            <a:ext cx="294081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633" y="2209800"/>
            <a:ext cx="294081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633" y="4827213"/>
            <a:ext cx="294081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90389" y="4250949"/>
            <a:ext cx="293128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90388" y="2209800"/>
            <a:ext cx="293128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9035" y="4827212"/>
            <a:ext cx="29351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6556" y="4250949"/>
            <a:ext cx="293287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6555" y="2209800"/>
            <a:ext cx="2932877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6433" y="4827210"/>
            <a:ext cx="293676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711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404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CF3E3-531C-4E43-9E57-BD8B05C74C59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6/4/2026</a:t>
            </a:fld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276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13A7-5FEB-4AD8-9E0C-2C044DAF96D1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6/4/2026</a:t>
            </a:fld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6750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6377" y="430215"/>
            <a:ext cx="1753057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633" y="773205"/>
            <a:ext cx="7425083" cy="54831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F8963-BFA3-4311-8963-9D74DE532E61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6/4/2026</a:t>
            </a:fld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63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8399243" y="1676400"/>
            <a:ext cx="37592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7586443" y="-457200"/>
            <a:ext cx="21336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8399243" y="6096000"/>
            <a:ext cx="13208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205317" y="2667000"/>
            <a:ext cx="5588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1119717" y="2895600"/>
            <a:ext cx="31496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10327525" y="0"/>
            <a:ext cx="9144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280" y="452718"/>
            <a:ext cx="940717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600" y="2052925"/>
            <a:ext cx="8948872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8419" y="1790661"/>
            <a:ext cx="990599" cy="30487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75D18BF-1C62-4857-9C10-4B420A150052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6/4/2026</a:t>
            </a:fld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4413" y="3225261"/>
            <a:ext cx="3859795" cy="30488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5242" y="295737"/>
            <a:ext cx="838417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0519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9880" y="840436"/>
            <a:ext cx="4951730" cy="222059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341630" marR="5080" indent="-329565">
              <a:spcBef>
                <a:spcPts val="100"/>
              </a:spcBef>
            </a:pPr>
            <a:r>
              <a:rPr sz="7200" spc="-5" dirty="0">
                <a:solidFill>
                  <a:srgbClr val="FFFF00"/>
                </a:solidFill>
              </a:rPr>
              <a:t>Opera</a:t>
            </a:r>
            <a:r>
              <a:rPr sz="7200" spc="-25" dirty="0">
                <a:solidFill>
                  <a:srgbClr val="FFFF00"/>
                </a:solidFill>
              </a:rPr>
              <a:t>t</a:t>
            </a:r>
            <a:r>
              <a:rPr sz="7200" spc="-5" dirty="0">
                <a:solidFill>
                  <a:srgbClr val="FFFF00"/>
                </a:solidFill>
              </a:rPr>
              <a:t>ing  Systems</a:t>
            </a:r>
            <a:endParaRPr sz="7200" dirty="0"/>
          </a:p>
        </p:txBody>
      </p:sp>
      <p:sp>
        <p:nvSpPr>
          <p:cNvPr id="3" name="object 3"/>
          <p:cNvSpPr txBox="1"/>
          <p:nvPr/>
        </p:nvSpPr>
        <p:spPr>
          <a:xfrm>
            <a:off x="3304413" y="3694557"/>
            <a:ext cx="618109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r>
              <a:rPr sz="4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Synchronization</a:t>
            </a:r>
            <a:endParaRPr sz="44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F6835-FD74-5DCA-A2DD-4A98251FF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622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2242" y="37592"/>
            <a:ext cx="5592445" cy="130548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 indent="1383665">
              <a:spcBef>
                <a:spcPts val="100"/>
              </a:spcBef>
            </a:pPr>
            <a:r>
              <a:rPr spc="10" dirty="0"/>
              <a:t>Process </a:t>
            </a:r>
            <a:r>
              <a:rPr spc="15" dirty="0"/>
              <a:t> </a:t>
            </a:r>
            <a:r>
              <a:rPr spc="-5" dirty="0"/>
              <a:t>Syn</a:t>
            </a:r>
            <a:r>
              <a:rPr spc="-90" dirty="0"/>
              <a:t>c</a:t>
            </a:r>
            <a:r>
              <a:rPr dirty="0"/>
              <a:t>h</a:t>
            </a:r>
            <a:r>
              <a:rPr spc="75" dirty="0"/>
              <a:t>r</a:t>
            </a:r>
            <a:r>
              <a:rPr dirty="0"/>
              <a:t>oniz</a:t>
            </a:r>
            <a:r>
              <a:rPr spc="-85" dirty="0"/>
              <a:t>a</a:t>
            </a:r>
            <a:r>
              <a:rPr dirty="0"/>
              <a:t>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5029" y="1627455"/>
            <a:ext cx="10160000" cy="3887346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5600" marR="655320" indent="-343535" algn="just">
              <a:lnSpc>
                <a:spcPts val="4750"/>
              </a:lnSpc>
              <a:spcBef>
                <a:spcPts val="705"/>
              </a:spcBef>
              <a:buClr>
                <a:srgbClr val="FFFF66"/>
              </a:buClr>
              <a:buFont typeface="Wingdings"/>
              <a:buChar char=""/>
              <a:tabLst>
                <a:tab pos="356235" algn="l"/>
              </a:tabLst>
            </a:pP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Concurrent</a:t>
            </a:r>
            <a:r>
              <a:rPr sz="4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access</a:t>
            </a:r>
            <a:r>
              <a:rPr sz="4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4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shared </a:t>
            </a:r>
            <a:r>
              <a:rPr sz="4400" spc="-12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data may result in data </a:t>
            </a:r>
            <a:r>
              <a:rPr sz="4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spc="-25" dirty="0">
                <a:solidFill>
                  <a:srgbClr val="FFFFFF"/>
                </a:solidFill>
                <a:latin typeface="Arial MT"/>
                <a:cs typeface="Arial MT"/>
              </a:rPr>
              <a:t>inconsistency.</a:t>
            </a:r>
            <a:endParaRPr sz="44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355600" marR="5080" indent="-343535" algn="just">
              <a:lnSpc>
                <a:spcPct val="90000"/>
              </a:lnSpc>
              <a:spcBef>
                <a:spcPts val="990"/>
              </a:spcBef>
              <a:buClr>
                <a:srgbClr val="FFFF66"/>
              </a:buClr>
              <a:buFont typeface="Wingdings"/>
              <a:buChar char=""/>
              <a:tabLst>
                <a:tab pos="356235" algn="l"/>
              </a:tabLst>
            </a:pP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Maintaining data consistency </a:t>
            </a:r>
            <a:r>
              <a:rPr sz="4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requires</a:t>
            </a:r>
            <a:r>
              <a:rPr sz="4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mechanisms</a:t>
            </a:r>
            <a:r>
              <a:rPr sz="4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4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ensure </a:t>
            </a:r>
            <a:r>
              <a:rPr sz="4400" spc="-12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that cooperating processes </a:t>
            </a:r>
            <a:r>
              <a:rPr sz="4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access shared data </a:t>
            </a:r>
            <a:r>
              <a:rPr sz="4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spc="-25" dirty="0">
                <a:solidFill>
                  <a:srgbClr val="FFFFFF"/>
                </a:solidFill>
                <a:latin typeface="Arial MT"/>
                <a:cs typeface="Arial MT"/>
              </a:rPr>
              <a:t>sequentially.</a:t>
            </a:r>
            <a:endParaRPr sz="44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1589F-6C53-DFD0-1567-FB47B87F4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330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6333" y="235966"/>
            <a:ext cx="8479790" cy="6591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Bounded-Buffer</a:t>
            </a:r>
            <a:r>
              <a:rPr spc="-35" dirty="0"/>
              <a:t> </a:t>
            </a:r>
            <a:r>
              <a:rPr spc="10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03145" y="1330198"/>
            <a:ext cx="6393815" cy="51417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560"/>
              </a:lnSpc>
              <a:spcBef>
                <a:spcPts val="95"/>
              </a:spcBef>
            </a:pP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Shared</a:t>
            </a:r>
            <a:r>
              <a:rPr sz="4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40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12700">
              <a:lnSpc>
                <a:spcPts val="4560"/>
              </a:lnSpc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#define</a:t>
            </a:r>
            <a:r>
              <a:rPr sz="4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BUFFER_SIZE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10</a:t>
            </a:r>
            <a:endParaRPr sz="40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R="2999105" algn="ctr">
              <a:lnSpc>
                <a:spcPts val="4595"/>
              </a:lnSpc>
              <a:spcBef>
                <a:spcPts val="480"/>
              </a:spcBef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typedef</a:t>
            </a:r>
            <a:r>
              <a:rPr sz="4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struct</a:t>
            </a:r>
            <a:r>
              <a:rPr sz="4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{</a:t>
            </a:r>
            <a:endParaRPr sz="40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R="3140075" algn="ctr">
              <a:lnSpc>
                <a:spcPts val="4595"/>
              </a:lnSpc>
            </a:pP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r>
              <a:rPr sz="4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r>
              <a:rPr sz="4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endParaRPr sz="40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R="2892425" algn="ctr">
              <a:spcBef>
                <a:spcPts val="409"/>
              </a:spcBef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}</a:t>
            </a:r>
            <a:r>
              <a:rPr sz="40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item;</a:t>
            </a:r>
            <a:endParaRPr sz="40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127000" marR="5080">
              <a:lnSpc>
                <a:spcPts val="5280"/>
              </a:lnSpc>
              <a:spcBef>
                <a:spcPts val="254"/>
              </a:spcBef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item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buffer[BUFFER_SIZE]; </a:t>
            </a:r>
            <a:r>
              <a:rPr sz="4000" spc="-10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int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b="1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4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= 0,</a:t>
            </a:r>
            <a:r>
              <a:rPr sz="4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Arial"/>
                <a:cs typeface="Arial"/>
              </a:rPr>
              <a:t>out</a:t>
            </a:r>
            <a:r>
              <a:rPr sz="40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= 0;</a:t>
            </a:r>
            <a:endParaRPr sz="40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127000">
              <a:spcBef>
                <a:spcPts val="225"/>
              </a:spcBef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int</a:t>
            </a:r>
            <a:r>
              <a:rPr sz="4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counter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4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0;</a:t>
            </a:r>
            <a:endParaRPr sz="40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0B4A3-6AA5-8398-8B34-1CBF9F766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02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43113" y="1966977"/>
            <a:ext cx="8334375" cy="4752975"/>
          </a:xfrm>
          <a:custGeom>
            <a:avLst/>
            <a:gdLst/>
            <a:ahLst/>
            <a:cxnLst/>
            <a:rect l="l" t="t" r="r" b="b"/>
            <a:pathLst>
              <a:path w="8334375" h="4752975">
                <a:moveTo>
                  <a:pt x="14287" y="0"/>
                </a:moveTo>
                <a:lnTo>
                  <a:pt x="14287" y="4752911"/>
                </a:lnTo>
              </a:path>
              <a:path w="8334375" h="4752975">
                <a:moveTo>
                  <a:pt x="8320087" y="0"/>
                </a:moveTo>
                <a:lnTo>
                  <a:pt x="8320087" y="4752911"/>
                </a:lnTo>
              </a:path>
              <a:path w="8334375" h="4752975">
                <a:moveTo>
                  <a:pt x="0" y="14224"/>
                </a:moveTo>
                <a:lnTo>
                  <a:pt x="8334311" y="14224"/>
                </a:lnTo>
              </a:path>
              <a:path w="8334375" h="4752975">
                <a:moveTo>
                  <a:pt x="0" y="4738624"/>
                </a:moveTo>
                <a:lnTo>
                  <a:pt x="8334311" y="473862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940" y="953016"/>
            <a:ext cx="8006080" cy="5637530"/>
          </a:xfrm>
          <a:prstGeom prst="rect">
            <a:avLst/>
          </a:prstGeom>
        </p:spPr>
        <p:txBody>
          <a:bodyPr vert="horz" wrap="square" lIns="0" tIns="220979" rIns="0" bIns="0" rtlCol="0">
            <a:spAutoFit/>
          </a:bodyPr>
          <a:lstStyle/>
          <a:p>
            <a:pPr marL="12700">
              <a:spcBef>
                <a:spcPts val="1739"/>
              </a:spcBef>
            </a:pP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Producer</a:t>
            </a:r>
            <a:r>
              <a:rPr sz="4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endParaRPr sz="44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88900">
              <a:lnSpc>
                <a:spcPts val="4135"/>
              </a:lnSpc>
              <a:spcBef>
                <a:spcPts val="1345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item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nextProduced;</a:t>
            </a:r>
            <a:endParaRPr sz="36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88900">
              <a:lnSpc>
                <a:spcPts val="4135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…</a:t>
            </a:r>
            <a:endParaRPr sz="36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88900">
              <a:spcBef>
                <a:spcPts val="37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while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(1)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{</a:t>
            </a:r>
            <a:endParaRPr sz="36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724535" marR="5080">
              <a:lnSpc>
                <a:spcPct val="110000"/>
              </a:lnSpc>
              <a:tabLst>
                <a:tab pos="7865109" algn="l"/>
              </a:tabLst>
            </a:pP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h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ile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(co</a:t>
            </a:r>
            <a:r>
              <a:rPr sz="3600" spc="5" dirty="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nter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 == BUFFER</a:t>
            </a:r>
            <a:r>
              <a:rPr sz="3600" spc="10" dirty="0">
                <a:solidFill>
                  <a:srgbClr val="FFFFFF"/>
                </a:solidFill>
                <a:latin typeface="Arial MT"/>
                <a:cs typeface="Arial MT"/>
              </a:rPr>
              <a:t>_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SIZE)	; 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buffer[in]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= nextProduced;</a:t>
            </a:r>
            <a:endParaRPr sz="36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724535">
              <a:spcBef>
                <a:spcPts val="434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(in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1)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%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BUFFER_SIZE;</a:t>
            </a:r>
            <a:endParaRPr sz="36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724535">
              <a:lnSpc>
                <a:spcPts val="4135"/>
              </a:lnSpc>
              <a:spcBef>
                <a:spcPts val="434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counter++;</a:t>
            </a:r>
            <a:endParaRPr sz="36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88900">
              <a:lnSpc>
                <a:spcPts val="4135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}</a:t>
            </a:r>
            <a:endParaRPr sz="36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56333" y="235966"/>
            <a:ext cx="8479790" cy="6591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Bounded-Buffer</a:t>
            </a:r>
            <a:r>
              <a:rPr spc="-35" dirty="0"/>
              <a:t> </a:t>
            </a:r>
            <a:r>
              <a:rPr spc="10" dirty="0"/>
              <a:t>Problem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85628-EC95-5E3F-31F4-D1242C111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374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57400" y="2043177"/>
            <a:ext cx="0" cy="4676775"/>
          </a:xfrm>
          <a:custGeom>
            <a:avLst/>
            <a:gdLst/>
            <a:ahLst/>
            <a:cxnLst/>
            <a:rect l="l" t="t" r="r" b="b"/>
            <a:pathLst>
              <a:path h="4676775">
                <a:moveTo>
                  <a:pt x="0" y="0"/>
                </a:moveTo>
                <a:lnTo>
                  <a:pt x="0" y="467671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43113" y="2043177"/>
            <a:ext cx="8410575" cy="4676775"/>
          </a:xfrm>
          <a:custGeom>
            <a:avLst/>
            <a:gdLst/>
            <a:ahLst/>
            <a:cxnLst/>
            <a:rect l="l" t="t" r="r" b="b"/>
            <a:pathLst>
              <a:path w="8410575" h="4676775">
                <a:moveTo>
                  <a:pt x="8396287" y="0"/>
                </a:moveTo>
                <a:lnTo>
                  <a:pt x="8396287" y="4676711"/>
                </a:lnTo>
              </a:path>
              <a:path w="8410575" h="4676775">
                <a:moveTo>
                  <a:pt x="0" y="14224"/>
                </a:moveTo>
                <a:lnTo>
                  <a:pt x="8410511" y="14224"/>
                </a:lnTo>
              </a:path>
              <a:path w="8410575" h="4676775">
                <a:moveTo>
                  <a:pt x="0" y="4662424"/>
                </a:moveTo>
                <a:lnTo>
                  <a:pt x="8410511" y="466242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56333" y="235966"/>
            <a:ext cx="8479790" cy="6591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Bounded-Buffer</a:t>
            </a:r>
            <a:r>
              <a:rPr spc="-35" dirty="0"/>
              <a:t> </a:t>
            </a:r>
            <a:r>
              <a:rPr spc="10" dirty="0"/>
              <a:t>Problem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59941" y="859860"/>
            <a:ext cx="7498715" cy="574421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88900" marR="2411730" indent="-76200">
              <a:lnSpc>
                <a:spcPct val="128400"/>
              </a:lnSpc>
              <a:spcBef>
                <a:spcPts val="975"/>
              </a:spcBef>
            </a:pP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Consumer</a:t>
            </a:r>
            <a:r>
              <a:rPr sz="4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process </a:t>
            </a:r>
            <a:r>
              <a:rPr sz="4400" b="1" spc="-12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item nextConsumed; </a:t>
            </a:r>
            <a:r>
              <a:rPr sz="3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while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(1)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{</a:t>
            </a:r>
            <a:endParaRPr sz="36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724535" marR="991235">
              <a:lnSpc>
                <a:spcPct val="120000"/>
              </a:lnSpc>
              <a:tabLst>
                <a:tab pos="5019675" algn="l"/>
              </a:tabLst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while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(counter</a:t>
            </a:r>
            <a:r>
              <a:rPr sz="3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==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0)	; </a:t>
            </a:r>
            <a:r>
              <a:rPr sz="3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nextConsumed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buffer[out];</a:t>
            </a:r>
            <a:endParaRPr sz="36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724535">
              <a:spcBef>
                <a:spcPts val="87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out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(out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1)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%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BUFFER_SIZE;</a:t>
            </a:r>
            <a:endParaRPr sz="36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724535">
              <a:spcBef>
                <a:spcPts val="86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counter--;</a:t>
            </a:r>
            <a:endParaRPr sz="36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88900">
              <a:spcBef>
                <a:spcPts val="865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}</a:t>
            </a:r>
            <a:endParaRPr sz="36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476EB-E759-B0E3-9174-0C49A2125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726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1340" y="940977"/>
            <a:ext cx="8503920" cy="5313045"/>
          </a:xfrm>
          <a:prstGeom prst="rect">
            <a:avLst/>
          </a:prstGeom>
        </p:spPr>
        <p:txBody>
          <a:bodyPr vert="horz" wrap="square" lIns="0" tIns="351155" rIns="0" bIns="0" rtlCol="0">
            <a:spAutoFit/>
          </a:bodyPr>
          <a:lstStyle/>
          <a:p>
            <a:pPr marL="355600" indent="-342900">
              <a:spcBef>
                <a:spcPts val="2765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</a:tabLst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“</a:t>
            </a:r>
            <a:r>
              <a:rPr sz="4000" spc="-5" dirty="0">
                <a:solidFill>
                  <a:srgbClr val="FFFFFF"/>
                </a:solidFill>
                <a:latin typeface="Courier New"/>
                <a:cs typeface="Courier New"/>
              </a:rPr>
              <a:t>counter++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”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4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assembly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language</a:t>
            </a:r>
            <a:endParaRPr sz="40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355600" marR="4753610">
              <a:lnSpc>
                <a:spcPct val="120000"/>
              </a:lnSpc>
              <a:spcBef>
                <a:spcPts val="1375"/>
              </a:spcBef>
              <a:tabLst>
                <a:tab pos="1506220" algn="l"/>
              </a:tabLst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MOV	R1,</a:t>
            </a:r>
            <a:r>
              <a:rPr sz="32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counter </a:t>
            </a:r>
            <a:r>
              <a:rPr sz="3200" b="1" spc="-8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INC	R1</a:t>
            </a:r>
            <a:endParaRPr sz="32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355600">
              <a:spcBef>
                <a:spcPts val="5"/>
              </a:spcBef>
              <a:tabLst>
                <a:tab pos="1506220" algn="l"/>
              </a:tabLst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MOV	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counter,</a:t>
            </a:r>
            <a:r>
              <a:rPr sz="32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R1</a:t>
            </a:r>
            <a:endParaRPr sz="32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355600" indent="-342900">
              <a:spcBef>
                <a:spcPts val="2345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</a:tabLst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“</a:t>
            </a:r>
            <a:r>
              <a:rPr sz="4000" spc="-5" dirty="0">
                <a:solidFill>
                  <a:srgbClr val="FFFFFF"/>
                </a:solidFill>
                <a:latin typeface="Courier New"/>
                <a:cs typeface="Courier New"/>
              </a:rPr>
              <a:t>counter--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”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4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assembly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language</a:t>
            </a:r>
            <a:endParaRPr sz="40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355600">
              <a:spcBef>
                <a:spcPts val="295"/>
              </a:spcBef>
              <a:tabLst>
                <a:tab pos="1506220" algn="l"/>
              </a:tabLst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MOV	R2,</a:t>
            </a:r>
            <a:r>
              <a:rPr sz="32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counter</a:t>
            </a:r>
            <a:endParaRPr sz="32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355600">
              <a:spcBef>
                <a:spcPts val="770"/>
              </a:spcBef>
              <a:tabLst>
                <a:tab pos="1438910" algn="l"/>
              </a:tabLst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DEC	R2</a:t>
            </a:r>
            <a:endParaRPr sz="32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355600">
              <a:tabLst>
                <a:tab pos="1506220" algn="l"/>
              </a:tabLst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MOV	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counter,</a:t>
            </a:r>
            <a:r>
              <a:rPr sz="32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R2</a:t>
            </a:r>
            <a:endParaRPr sz="3200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6333" y="235966"/>
            <a:ext cx="8479790" cy="6591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Bounded-Buffer</a:t>
            </a:r>
            <a:r>
              <a:rPr spc="-35" dirty="0"/>
              <a:t> </a:t>
            </a:r>
            <a:r>
              <a:rPr spc="10" dirty="0"/>
              <a:t>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424E8-AD4F-071D-FEF3-6228F0CE0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383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7541" y="1391159"/>
            <a:ext cx="8378825" cy="4598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spcBef>
                <a:spcPts val="95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</a:tabLst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both</a:t>
            </a:r>
            <a:r>
              <a:rPr sz="4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producer</a:t>
            </a:r>
            <a:r>
              <a:rPr sz="40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and consumer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attempt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update</a:t>
            </a:r>
            <a:r>
              <a:rPr sz="40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15" dirty="0">
                <a:solidFill>
                  <a:srgbClr val="FFFFFF"/>
                </a:solidFill>
                <a:latin typeface="Arial MT"/>
                <a:cs typeface="Arial MT"/>
              </a:rPr>
              <a:t>buffer 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Arial MT"/>
                <a:cs typeface="Arial MT"/>
              </a:rPr>
              <a:t>concurrently,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machine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language </a:t>
            </a:r>
            <a:r>
              <a:rPr sz="4000" spc="-10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statements</a:t>
            </a:r>
            <a:r>
              <a:rPr sz="4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may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get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interleaved.</a:t>
            </a:r>
            <a:endParaRPr sz="40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355600" marR="107950" indent="-342900" algn="just">
              <a:spcBef>
                <a:spcPts val="2405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</a:tabLst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Interleaving depends upon how the </a:t>
            </a:r>
            <a:r>
              <a:rPr sz="4000" spc="-1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producer and consumer processes </a:t>
            </a:r>
            <a:r>
              <a:rPr sz="4000" spc="-1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scheduled.</a:t>
            </a:r>
            <a:endParaRPr sz="40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6333" y="235966"/>
            <a:ext cx="8479790" cy="6591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Bounded-Buffer</a:t>
            </a:r>
            <a:r>
              <a:rPr spc="-35" dirty="0"/>
              <a:t> </a:t>
            </a:r>
            <a:r>
              <a:rPr spc="10" dirty="0"/>
              <a:t>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CCD14-054E-C023-617C-C22786FD1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86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1341" y="1174750"/>
            <a:ext cx="7089775" cy="96964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5600" marR="5080" indent="-342900">
              <a:lnSpc>
                <a:spcPts val="3590"/>
              </a:lnSpc>
              <a:spcBef>
                <a:spcPts val="430"/>
              </a:spcBef>
              <a:buClr>
                <a:srgbClr val="FFFF66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Ass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me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ourier New"/>
                <a:cs typeface="Courier New"/>
              </a:rPr>
              <a:t>counte</a:t>
            </a:r>
            <a:r>
              <a:rPr sz="3200" b="1" dirty="0">
                <a:solidFill>
                  <a:srgbClr val="FFFFFF"/>
                </a:solidFill>
                <a:latin typeface="Courier New"/>
                <a:cs typeface="Courier New"/>
              </a:rPr>
              <a:t>r</a:t>
            </a:r>
            <a:r>
              <a:rPr sz="3200" b="1" spc="-10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initi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lly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5.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One  </a:t>
            </a: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interleaving</a:t>
            </a:r>
            <a:r>
              <a:rPr sz="32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statements</a:t>
            </a:r>
            <a:r>
              <a:rPr sz="32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is:</a:t>
            </a:r>
            <a:endParaRPr sz="3200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186940" y="2713464"/>
          <a:ext cx="7567294" cy="2317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4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8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2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1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3314">
                <a:tc>
                  <a:txBody>
                    <a:bodyPr/>
                    <a:lstStyle/>
                    <a:p>
                      <a:pPr>
                        <a:lnSpc>
                          <a:spcPts val="3090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producer: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990" marR="77470" indent="-10795">
                        <a:lnSpc>
                          <a:spcPts val="3020"/>
                        </a:lnSpc>
                        <a:spcBef>
                          <a:spcPts val="9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MOV 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INC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 marR="168910" indent="-12065">
                        <a:lnSpc>
                          <a:spcPts val="3020"/>
                        </a:lnSpc>
                        <a:spcBef>
                          <a:spcPts val="95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R1,</a:t>
                      </a:r>
                      <a:r>
                        <a:rPr sz="2800" b="1" spc="-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counter </a:t>
                      </a:r>
                      <a:r>
                        <a:rPr sz="2800" b="1" spc="-7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R1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1615">
                        <a:lnSpc>
                          <a:spcPts val="2925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(R1</a:t>
                      </a:r>
                      <a:r>
                        <a:rPr sz="2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28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5)</a:t>
                      </a:r>
                      <a:endParaRPr sz="2800" dirty="0">
                        <a:latin typeface="Arial"/>
                        <a:cs typeface="Arial"/>
                      </a:endParaRPr>
                    </a:p>
                    <a:p>
                      <a:pPr marL="206375">
                        <a:lnSpc>
                          <a:spcPts val="3190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(R1</a:t>
                      </a:r>
                      <a:r>
                        <a:rPr sz="28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28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6)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28">
                <a:tc>
                  <a:txBody>
                    <a:bodyPr/>
                    <a:lstStyle/>
                    <a:p>
                      <a:pPr>
                        <a:lnSpc>
                          <a:spcPts val="3025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consumer: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2240" marR="49530" indent="48260">
                        <a:lnSpc>
                          <a:spcPts val="3020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MOV 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DEC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175" marR="140335" indent="7620">
                        <a:lnSpc>
                          <a:spcPts val="3020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R2,</a:t>
                      </a:r>
                      <a:r>
                        <a:rPr sz="2800" b="1" spc="-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counter </a:t>
                      </a:r>
                      <a:r>
                        <a:rPr sz="2800" b="1" spc="-7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R2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860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(R2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2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5)</a:t>
                      </a:r>
                      <a:endParaRPr sz="2800" dirty="0">
                        <a:latin typeface="Arial"/>
                        <a:cs typeface="Arial"/>
                      </a:endParaRPr>
                    </a:p>
                    <a:p>
                      <a:pPr marL="213360">
                        <a:lnSpc>
                          <a:spcPts val="3125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(R2</a:t>
                      </a:r>
                      <a:r>
                        <a:rPr sz="2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28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4)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producer: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MOV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1930" algn="r">
                        <a:lnSpc>
                          <a:spcPts val="2900"/>
                        </a:lnSpc>
                      </a:pPr>
                      <a:r>
                        <a:rPr sz="2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counter,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R1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(counter</a:t>
                      </a:r>
                      <a:r>
                        <a:rPr sz="28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2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6)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ts val="2910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consumer: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910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MOV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40029" algn="r">
                        <a:lnSpc>
                          <a:spcPts val="2910"/>
                        </a:lnSpc>
                      </a:pPr>
                      <a:r>
                        <a:rPr sz="2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counter,</a:t>
                      </a:r>
                      <a:r>
                        <a:rPr sz="2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R2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ts val="2910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(counter</a:t>
                      </a:r>
                      <a:r>
                        <a:rPr sz="28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2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4)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831340" y="5496255"/>
            <a:ext cx="7988934" cy="90424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869"/>
              </a:spcBef>
              <a:buClr>
                <a:srgbClr val="FFFF66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32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count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may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be either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or 6, </a:t>
            </a:r>
            <a:r>
              <a:rPr sz="3200" b="1" spc="-8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where</a:t>
            </a:r>
            <a:r>
              <a:rPr sz="32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correct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result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sz="32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32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5.</a:t>
            </a:r>
            <a:endParaRPr sz="3200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56333" y="235966"/>
            <a:ext cx="8479790" cy="6591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Bounded-Buffer</a:t>
            </a:r>
            <a:r>
              <a:rPr spc="-35" dirty="0"/>
              <a:t> </a:t>
            </a:r>
            <a:r>
              <a:rPr spc="10" dirty="0"/>
              <a:t>Problem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58B19-4C81-8E0B-5D70-E8ADA08C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914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7541" y="2000835"/>
            <a:ext cx="7927975" cy="3683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spcBef>
                <a:spcPts val="95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</a:tabLst>
            </a:pPr>
            <a:r>
              <a:rPr sz="4000" b="1" spc="-10" dirty="0">
                <a:solidFill>
                  <a:srgbClr val="FFFFFF"/>
                </a:solidFill>
                <a:latin typeface="Arial"/>
                <a:cs typeface="Arial"/>
              </a:rPr>
              <a:t>Race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Condition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: The situation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where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several</a:t>
            </a:r>
            <a:r>
              <a:rPr sz="4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processes access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and manipulate</a:t>
            </a:r>
            <a:r>
              <a:rPr sz="40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shared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data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Arial MT"/>
                <a:cs typeface="Arial MT"/>
              </a:rPr>
              <a:t>concurrently,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final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value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4000" spc="-10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depends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process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finishes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last.</a:t>
            </a:r>
            <a:endParaRPr sz="40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99842" y="136602"/>
            <a:ext cx="5592445" cy="1306127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 marR="5080" indent="1383665">
              <a:spcBef>
                <a:spcPts val="105"/>
              </a:spcBef>
            </a:pPr>
            <a:r>
              <a:rPr spc="10" dirty="0"/>
              <a:t>Process </a:t>
            </a:r>
            <a:r>
              <a:rPr spc="15" dirty="0"/>
              <a:t> </a:t>
            </a:r>
            <a:r>
              <a:rPr spc="-5" dirty="0"/>
              <a:t>Syn</a:t>
            </a:r>
            <a:r>
              <a:rPr spc="-90" dirty="0"/>
              <a:t>c</a:t>
            </a:r>
            <a:r>
              <a:rPr dirty="0"/>
              <a:t>h</a:t>
            </a:r>
            <a:r>
              <a:rPr spc="75" dirty="0"/>
              <a:t>r</a:t>
            </a:r>
            <a:r>
              <a:rPr dirty="0"/>
              <a:t>oniz</a:t>
            </a:r>
            <a:r>
              <a:rPr spc="-85" dirty="0"/>
              <a:t>a</a:t>
            </a:r>
            <a:r>
              <a:rPr dirty="0"/>
              <a:t>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36D9E-53BE-59EA-03FB-D48240C3E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512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3741" y="1848435"/>
            <a:ext cx="8163559" cy="4415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spcBef>
                <a:spcPts val="95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</a:tabLst>
            </a:pP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Critical Section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: A piece of code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cooperating</a:t>
            </a:r>
            <a:r>
              <a:rPr sz="40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in which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may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updates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shared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(variable,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file,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database,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etc.).</a:t>
            </a:r>
            <a:endParaRPr sz="40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355600" marR="148590" indent="-342900">
              <a:spcBef>
                <a:spcPts val="965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</a:tabLst>
            </a:pP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Critical</a:t>
            </a:r>
            <a:r>
              <a:rPr sz="40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Section</a:t>
            </a:r>
            <a:r>
              <a:rPr sz="40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: 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Serialize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executions of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critical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sections in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cooperating</a:t>
            </a:r>
            <a:r>
              <a:rPr sz="40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processes</a:t>
            </a:r>
            <a:endParaRPr sz="40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99842" y="22351"/>
            <a:ext cx="5592445" cy="130548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 indent="1383665">
              <a:spcBef>
                <a:spcPts val="100"/>
              </a:spcBef>
            </a:pPr>
            <a:r>
              <a:rPr spc="10" dirty="0"/>
              <a:t>Process </a:t>
            </a:r>
            <a:r>
              <a:rPr spc="15" dirty="0"/>
              <a:t> </a:t>
            </a:r>
            <a:r>
              <a:rPr spc="-5" dirty="0"/>
              <a:t>Syn</a:t>
            </a:r>
            <a:r>
              <a:rPr spc="-90" dirty="0"/>
              <a:t>c</a:t>
            </a:r>
            <a:r>
              <a:rPr dirty="0"/>
              <a:t>h</a:t>
            </a:r>
            <a:r>
              <a:rPr spc="75" dirty="0"/>
              <a:t>r</a:t>
            </a:r>
            <a:r>
              <a:rPr dirty="0"/>
              <a:t>oniz</a:t>
            </a:r>
            <a:r>
              <a:rPr spc="-85" dirty="0"/>
              <a:t>a</a:t>
            </a:r>
            <a:r>
              <a:rPr dirty="0"/>
              <a:t>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044E2-D637-CBA4-E5B2-BFCFA1534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433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3741" y="1725892"/>
            <a:ext cx="4834255" cy="222059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55600" indent="-342900">
              <a:spcBef>
                <a:spcPts val="1060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</a:tabLst>
            </a:pP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4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Examples</a:t>
            </a:r>
            <a:endParaRPr sz="40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756285" lvl="1" indent="-287020">
              <a:spcBef>
                <a:spcPts val="960"/>
              </a:spcBef>
              <a:buClr>
                <a:srgbClr val="FFFF66"/>
              </a:buClr>
              <a:buFont typeface="Wingdings"/>
              <a:buChar char=""/>
              <a:tabLst>
                <a:tab pos="756920" algn="l"/>
              </a:tabLst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Bank</a:t>
            </a:r>
            <a:r>
              <a:rPr sz="4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transactions</a:t>
            </a:r>
            <a:endParaRPr sz="40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756285" lvl="1" indent="-287020">
              <a:spcBef>
                <a:spcPts val="965"/>
              </a:spcBef>
              <a:buClr>
                <a:srgbClr val="FFFF66"/>
              </a:buClr>
              <a:buFont typeface="Wingdings"/>
              <a:buChar char=""/>
              <a:tabLst>
                <a:tab pos="756920" algn="l"/>
              </a:tabLst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Airline</a:t>
            </a:r>
            <a:r>
              <a:rPr sz="4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reservation</a:t>
            </a:r>
            <a:endParaRPr sz="40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99842" y="22351"/>
            <a:ext cx="5592445" cy="130548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 indent="1383665">
              <a:spcBef>
                <a:spcPts val="100"/>
              </a:spcBef>
            </a:pPr>
            <a:r>
              <a:rPr spc="10" dirty="0"/>
              <a:t>Process </a:t>
            </a:r>
            <a:r>
              <a:rPr spc="15" dirty="0"/>
              <a:t> </a:t>
            </a:r>
            <a:r>
              <a:rPr spc="-5" dirty="0"/>
              <a:t>Syn</a:t>
            </a:r>
            <a:r>
              <a:rPr spc="-90" dirty="0"/>
              <a:t>c</a:t>
            </a:r>
            <a:r>
              <a:rPr dirty="0"/>
              <a:t>h</a:t>
            </a:r>
            <a:r>
              <a:rPr spc="75" dirty="0"/>
              <a:t>r</a:t>
            </a:r>
            <a:r>
              <a:rPr dirty="0"/>
              <a:t>oniz</a:t>
            </a:r>
            <a:r>
              <a:rPr spc="-85" dirty="0"/>
              <a:t>a</a:t>
            </a:r>
            <a:r>
              <a:rPr dirty="0"/>
              <a:t>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A66D3-6A92-0EA5-4211-D88F45BE8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906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5878" y="289001"/>
            <a:ext cx="6539865" cy="659796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Bank</a:t>
            </a:r>
            <a:r>
              <a:rPr spc="-30" dirty="0"/>
              <a:t> </a:t>
            </a:r>
            <a:r>
              <a:rPr spc="-15" dirty="0"/>
              <a:t>Transactions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00600" y="2133601"/>
            <a:ext cx="2590800" cy="708527"/>
          </a:xfrm>
          <a:prstGeom prst="rect">
            <a:avLst/>
          </a:prstGeom>
          <a:ln w="57150">
            <a:solidFill>
              <a:srgbClr val="FFCC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84480">
              <a:spcBef>
                <a:spcPts val="245"/>
              </a:spcBef>
            </a:pP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Balance</a:t>
            </a:r>
            <a:endParaRPr sz="44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09837" y="1747838"/>
            <a:ext cx="2291080" cy="1381125"/>
            <a:chOff x="985837" y="1747837"/>
            <a:chExt cx="2291080" cy="1381125"/>
          </a:xfrm>
        </p:grpSpPr>
        <p:sp>
          <p:nvSpPr>
            <p:cNvPr id="5" name="object 5"/>
            <p:cNvSpPr/>
            <p:nvPr/>
          </p:nvSpPr>
          <p:spPr>
            <a:xfrm>
              <a:off x="990600" y="175260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636828" y="1722"/>
                  </a:lnTo>
                  <a:lnTo>
                    <a:pt x="588784" y="6811"/>
                  </a:lnTo>
                  <a:lnTo>
                    <a:pt x="541785" y="15151"/>
                  </a:lnTo>
                  <a:lnTo>
                    <a:pt x="495947" y="26625"/>
                  </a:lnTo>
                  <a:lnTo>
                    <a:pt x="451386" y="41118"/>
                  </a:lnTo>
                  <a:lnTo>
                    <a:pt x="408218" y="58514"/>
                  </a:lnTo>
                  <a:lnTo>
                    <a:pt x="366559" y="78696"/>
                  </a:lnTo>
                  <a:lnTo>
                    <a:pt x="326525" y="101548"/>
                  </a:lnTo>
                  <a:lnTo>
                    <a:pt x="288233" y="126954"/>
                  </a:lnTo>
                  <a:lnTo>
                    <a:pt x="251798" y="154798"/>
                  </a:lnTo>
                  <a:lnTo>
                    <a:pt x="217336" y="184964"/>
                  </a:lnTo>
                  <a:lnTo>
                    <a:pt x="184964" y="217336"/>
                  </a:lnTo>
                  <a:lnTo>
                    <a:pt x="154798" y="251798"/>
                  </a:lnTo>
                  <a:lnTo>
                    <a:pt x="126954" y="288233"/>
                  </a:lnTo>
                  <a:lnTo>
                    <a:pt x="101548" y="326525"/>
                  </a:lnTo>
                  <a:lnTo>
                    <a:pt x="78696" y="366559"/>
                  </a:lnTo>
                  <a:lnTo>
                    <a:pt x="58514" y="408218"/>
                  </a:lnTo>
                  <a:lnTo>
                    <a:pt x="41118" y="451386"/>
                  </a:lnTo>
                  <a:lnTo>
                    <a:pt x="26625" y="495947"/>
                  </a:lnTo>
                  <a:lnTo>
                    <a:pt x="15151" y="541785"/>
                  </a:lnTo>
                  <a:lnTo>
                    <a:pt x="6811" y="588784"/>
                  </a:lnTo>
                  <a:lnTo>
                    <a:pt x="1722" y="636828"/>
                  </a:lnTo>
                  <a:lnTo>
                    <a:pt x="0" y="685800"/>
                  </a:lnTo>
                  <a:lnTo>
                    <a:pt x="1722" y="734771"/>
                  </a:lnTo>
                  <a:lnTo>
                    <a:pt x="6811" y="782815"/>
                  </a:lnTo>
                  <a:lnTo>
                    <a:pt x="15151" y="829814"/>
                  </a:lnTo>
                  <a:lnTo>
                    <a:pt x="26625" y="875652"/>
                  </a:lnTo>
                  <a:lnTo>
                    <a:pt x="41118" y="920213"/>
                  </a:lnTo>
                  <a:lnTo>
                    <a:pt x="58514" y="963381"/>
                  </a:lnTo>
                  <a:lnTo>
                    <a:pt x="78696" y="1005040"/>
                  </a:lnTo>
                  <a:lnTo>
                    <a:pt x="101548" y="1045074"/>
                  </a:lnTo>
                  <a:lnTo>
                    <a:pt x="126954" y="1083366"/>
                  </a:lnTo>
                  <a:lnTo>
                    <a:pt x="154798" y="1119801"/>
                  </a:lnTo>
                  <a:lnTo>
                    <a:pt x="184964" y="1154263"/>
                  </a:lnTo>
                  <a:lnTo>
                    <a:pt x="217336" y="1186635"/>
                  </a:lnTo>
                  <a:lnTo>
                    <a:pt x="251798" y="1216801"/>
                  </a:lnTo>
                  <a:lnTo>
                    <a:pt x="288233" y="1244645"/>
                  </a:lnTo>
                  <a:lnTo>
                    <a:pt x="326525" y="1270051"/>
                  </a:lnTo>
                  <a:lnTo>
                    <a:pt x="366559" y="1292903"/>
                  </a:lnTo>
                  <a:lnTo>
                    <a:pt x="408218" y="1313085"/>
                  </a:lnTo>
                  <a:lnTo>
                    <a:pt x="451386" y="1330481"/>
                  </a:lnTo>
                  <a:lnTo>
                    <a:pt x="495947" y="1344974"/>
                  </a:lnTo>
                  <a:lnTo>
                    <a:pt x="541785" y="1356448"/>
                  </a:lnTo>
                  <a:lnTo>
                    <a:pt x="588784" y="1364788"/>
                  </a:lnTo>
                  <a:lnTo>
                    <a:pt x="636828" y="1369877"/>
                  </a:lnTo>
                  <a:lnTo>
                    <a:pt x="685800" y="1371600"/>
                  </a:lnTo>
                  <a:lnTo>
                    <a:pt x="734771" y="1369877"/>
                  </a:lnTo>
                  <a:lnTo>
                    <a:pt x="782815" y="1364788"/>
                  </a:lnTo>
                  <a:lnTo>
                    <a:pt x="829814" y="1356448"/>
                  </a:lnTo>
                  <a:lnTo>
                    <a:pt x="875652" y="1344974"/>
                  </a:lnTo>
                  <a:lnTo>
                    <a:pt x="920213" y="1330481"/>
                  </a:lnTo>
                  <a:lnTo>
                    <a:pt x="963381" y="1313085"/>
                  </a:lnTo>
                  <a:lnTo>
                    <a:pt x="1005040" y="1292903"/>
                  </a:lnTo>
                  <a:lnTo>
                    <a:pt x="1045074" y="1270051"/>
                  </a:lnTo>
                  <a:lnTo>
                    <a:pt x="1083366" y="1244645"/>
                  </a:lnTo>
                  <a:lnTo>
                    <a:pt x="1119801" y="1216801"/>
                  </a:lnTo>
                  <a:lnTo>
                    <a:pt x="1154263" y="1186635"/>
                  </a:lnTo>
                  <a:lnTo>
                    <a:pt x="1186635" y="1154263"/>
                  </a:lnTo>
                  <a:lnTo>
                    <a:pt x="1216801" y="1119801"/>
                  </a:lnTo>
                  <a:lnTo>
                    <a:pt x="1244645" y="1083366"/>
                  </a:lnTo>
                  <a:lnTo>
                    <a:pt x="1270051" y="1045074"/>
                  </a:lnTo>
                  <a:lnTo>
                    <a:pt x="1292903" y="1005040"/>
                  </a:lnTo>
                  <a:lnTo>
                    <a:pt x="1313085" y="963381"/>
                  </a:lnTo>
                  <a:lnTo>
                    <a:pt x="1330481" y="920213"/>
                  </a:lnTo>
                  <a:lnTo>
                    <a:pt x="1344974" y="875652"/>
                  </a:lnTo>
                  <a:lnTo>
                    <a:pt x="1356448" y="829814"/>
                  </a:lnTo>
                  <a:lnTo>
                    <a:pt x="1364788" y="782815"/>
                  </a:lnTo>
                  <a:lnTo>
                    <a:pt x="1369877" y="734771"/>
                  </a:lnTo>
                  <a:lnTo>
                    <a:pt x="1371600" y="685800"/>
                  </a:lnTo>
                  <a:lnTo>
                    <a:pt x="1369877" y="636828"/>
                  </a:lnTo>
                  <a:lnTo>
                    <a:pt x="1364788" y="588784"/>
                  </a:lnTo>
                  <a:lnTo>
                    <a:pt x="1356448" y="541785"/>
                  </a:lnTo>
                  <a:lnTo>
                    <a:pt x="1344974" y="495947"/>
                  </a:lnTo>
                  <a:lnTo>
                    <a:pt x="1330481" y="451386"/>
                  </a:lnTo>
                  <a:lnTo>
                    <a:pt x="1313085" y="408218"/>
                  </a:lnTo>
                  <a:lnTo>
                    <a:pt x="1292903" y="366559"/>
                  </a:lnTo>
                  <a:lnTo>
                    <a:pt x="1270051" y="326525"/>
                  </a:lnTo>
                  <a:lnTo>
                    <a:pt x="1244645" y="288233"/>
                  </a:lnTo>
                  <a:lnTo>
                    <a:pt x="1216801" y="251798"/>
                  </a:lnTo>
                  <a:lnTo>
                    <a:pt x="1186635" y="217336"/>
                  </a:lnTo>
                  <a:lnTo>
                    <a:pt x="1154263" y="184964"/>
                  </a:lnTo>
                  <a:lnTo>
                    <a:pt x="1119801" y="154798"/>
                  </a:lnTo>
                  <a:lnTo>
                    <a:pt x="1083366" y="126954"/>
                  </a:lnTo>
                  <a:lnTo>
                    <a:pt x="1045074" y="101548"/>
                  </a:lnTo>
                  <a:lnTo>
                    <a:pt x="1005040" y="78696"/>
                  </a:lnTo>
                  <a:lnTo>
                    <a:pt x="963381" y="58514"/>
                  </a:lnTo>
                  <a:lnTo>
                    <a:pt x="920213" y="41118"/>
                  </a:lnTo>
                  <a:lnTo>
                    <a:pt x="875652" y="26625"/>
                  </a:lnTo>
                  <a:lnTo>
                    <a:pt x="829814" y="15151"/>
                  </a:lnTo>
                  <a:lnTo>
                    <a:pt x="782815" y="6811"/>
                  </a:lnTo>
                  <a:lnTo>
                    <a:pt x="734771" y="172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 dirty="0">
                <a:solidFill>
                  <a:prstClr val="white"/>
                </a:solidFill>
                <a:latin typeface="Century Gothic" panose="020B0502020202020204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990600" y="175260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lnTo>
                    <a:pt x="1722" y="636828"/>
                  </a:lnTo>
                  <a:lnTo>
                    <a:pt x="6811" y="588784"/>
                  </a:lnTo>
                  <a:lnTo>
                    <a:pt x="15151" y="541785"/>
                  </a:lnTo>
                  <a:lnTo>
                    <a:pt x="26625" y="495947"/>
                  </a:lnTo>
                  <a:lnTo>
                    <a:pt x="41118" y="451386"/>
                  </a:lnTo>
                  <a:lnTo>
                    <a:pt x="58514" y="408218"/>
                  </a:lnTo>
                  <a:lnTo>
                    <a:pt x="78696" y="366559"/>
                  </a:lnTo>
                  <a:lnTo>
                    <a:pt x="101548" y="326525"/>
                  </a:lnTo>
                  <a:lnTo>
                    <a:pt x="126954" y="288233"/>
                  </a:lnTo>
                  <a:lnTo>
                    <a:pt x="154798" y="251798"/>
                  </a:lnTo>
                  <a:lnTo>
                    <a:pt x="184964" y="217336"/>
                  </a:lnTo>
                  <a:lnTo>
                    <a:pt x="217336" y="184964"/>
                  </a:lnTo>
                  <a:lnTo>
                    <a:pt x="251798" y="154798"/>
                  </a:lnTo>
                  <a:lnTo>
                    <a:pt x="288233" y="126954"/>
                  </a:lnTo>
                  <a:lnTo>
                    <a:pt x="326525" y="101548"/>
                  </a:lnTo>
                  <a:lnTo>
                    <a:pt x="366559" y="78696"/>
                  </a:lnTo>
                  <a:lnTo>
                    <a:pt x="408218" y="58514"/>
                  </a:lnTo>
                  <a:lnTo>
                    <a:pt x="451386" y="41118"/>
                  </a:lnTo>
                  <a:lnTo>
                    <a:pt x="495947" y="26625"/>
                  </a:lnTo>
                  <a:lnTo>
                    <a:pt x="541785" y="15151"/>
                  </a:lnTo>
                  <a:lnTo>
                    <a:pt x="588784" y="6811"/>
                  </a:lnTo>
                  <a:lnTo>
                    <a:pt x="636828" y="1722"/>
                  </a:lnTo>
                  <a:lnTo>
                    <a:pt x="685800" y="0"/>
                  </a:lnTo>
                  <a:lnTo>
                    <a:pt x="734771" y="1722"/>
                  </a:lnTo>
                  <a:lnTo>
                    <a:pt x="782815" y="6811"/>
                  </a:lnTo>
                  <a:lnTo>
                    <a:pt x="829814" y="15151"/>
                  </a:lnTo>
                  <a:lnTo>
                    <a:pt x="875652" y="26625"/>
                  </a:lnTo>
                  <a:lnTo>
                    <a:pt x="920213" y="41118"/>
                  </a:lnTo>
                  <a:lnTo>
                    <a:pt x="963381" y="58514"/>
                  </a:lnTo>
                  <a:lnTo>
                    <a:pt x="1005040" y="78696"/>
                  </a:lnTo>
                  <a:lnTo>
                    <a:pt x="1045074" y="101548"/>
                  </a:lnTo>
                  <a:lnTo>
                    <a:pt x="1083366" y="126954"/>
                  </a:lnTo>
                  <a:lnTo>
                    <a:pt x="1119801" y="154798"/>
                  </a:lnTo>
                  <a:lnTo>
                    <a:pt x="1154263" y="184964"/>
                  </a:lnTo>
                  <a:lnTo>
                    <a:pt x="1186635" y="217336"/>
                  </a:lnTo>
                  <a:lnTo>
                    <a:pt x="1216801" y="251798"/>
                  </a:lnTo>
                  <a:lnTo>
                    <a:pt x="1244645" y="288233"/>
                  </a:lnTo>
                  <a:lnTo>
                    <a:pt x="1270051" y="326525"/>
                  </a:lnTo>
                  <a:lnTo>
                    <a:pt x="1292903" y="366559"/>
                  </a:lnTo>
                  <a:lnTo>
                    <a:pt x="1313085" y="408218"/>
                  </a:lnTo>
                  <a:lnTo>
                    <a:pt x="1330481" y="451386"/>
                  </a:lnTo>
                  <a:lnTo>
                    <a:pt x="1344974" y="495947"/>
                  </a:lnTo>
                  <a:lnTo>
                    <a:pt x="1356448" y="541785"/>
                  </a:lnTo>
                  <a:lnTo>
                    <a:pt x="1364788" y="588784"/>
                  </a:lnTo>
                  <a:lnTo>
                    <a:pt x="1369877" y="636828"/>
                  </a:lnTo>
                  <a:lnTo>
                    <a:pt x="1371600" y="685800"/>
                  </a:lnTo>
                  <a:lnTo>
                    <a:pt x="1369877" y="734771"/>
                  </a:lnTo>
                  <a:lnTo>
                    <a:pt x="1364788" y="782815"/>
                  </a:lnTo>
                  <a:lnTo>
                    <a:pt x="1356448" y="829814"/>
                  </a:lnTo>
                  <a:lnTo>
                    <a:pt x="1344974" y="875652"/>
                  </a:lnTo>
                  <a:lnTo>
                    <a:pt x="1330481" y="920213"/>
                  </a:lnTo>
                  <a:lnTo>
                    <a:pt x="1313085" y="963381"/>
                  </a:lnTo>
                  <a:lnTo>
                    <a:pt x="1292903" y="1005040"/>
                  </a:lnTo>
                  <a:lnTo>
                    <a:pt x="1270051" y="1045074"/>
                  </a:lnTo>
                  <a:lnTo>
                    <a:pt x="1244645" y="1083366"/>
                  </a:lnTo>
                  <a:lnTo>
                    <a:pt x="1216801" y="1119801"/>
                  </a:lnTo>
                  <a:lnTo>
                    <a:pt x="1186635" y="1154263"/>
                  </a:lnTo>
                  <a:lnTo>
                    <a:pt x="1154263" y="1186635"/>
                  </a:lnTo>
                  <a:lnTo>
                    <a:pt x="1119801" y="1216801"/>
                  </a:lnTo>
                  <a:lnTo>
                    <a:pt x="1083366" y="1244645"/>
                  </a:lnTo>
                  <a:lnTo>
                    <a:pt x="1045074" y="1270051"/>
                  </a:lnTo>
                  <a:lnTo>
                    <a:pt x="1005040" y="1292903"/>
                  </a:lnTo>
                  <a:lnTo>
                    <a:pt x="963381" y="1313085"/>
                  </a:lnTo>
                  <a:lnTo>
                    <a:pt x="920213" y="1330481"/>
                  </a:lnTo>
                  <a:lnTo>
                    <a:pt x="875652" y="1344974"/>
                  </a:lnTo>
                  <a:lnTo>
                    <a:pt x="829814" y="1356448"/>
                  </a:lnTo>
                  <a:lnTo>
                    <a:pt x="782815" y="1364788"/>
                  </a:lnTo>
                  <a:lnTo>
                    <a:pt x="734771" y="1369877"/>
                  </a:lnTo>
                  <a:lnTo>
                    <a:pt x="685800" y="1371600"/>
                  </a:lnTo>
                  <a:lnTo>
                    <a:pt x="636828" y="1369877"/>
                  </a:lnTo>
                  <a:lnTo>
                    <a:pt x="588784" y="1364788"/>
                  </a:lnTo>
                  <a:lnTo>
                    <a:pt x="541785" y="1356448"/>
                  </a:lnTo>
                  <a:lnTo>
                    <a:pt x="495947" y="1344974"/>
                  </a:lnTo>
                  <a:lnTo>
                    <a:pt x="451386" y="1330481"/>
                  </a:lnTo>
                  <a:lnTo>
                    <a:pt x="408218" y="1313085"/>
                  </a:lnTo>
                  <a:lnTo>
                    <a:pt x="366559" y="1292903"/>
                  </a:lnTo>
                  <a:lnTo>
                    <a:pt x="326525" y="1270051"/>
                  </a:lnTo>
                  <a:lnTo>
                    <a:pt x="288233" y="1244645"/>
                  </a:lnTo>
                  <a:lnTo>
                    <a:pt x="251798" y="1216801"/>
                  </a:lnTo>
                  <a:lnTo>
                    <a:pt x="217336" y="1186635"/>
                  </a:lnTo>
                  <a:lnTo>
                    <a:pt x="184964" y="1154263"/>
                  </a:lnTo>
                  <a:lnTo>
                    <a:pt x="154798" y="1119801"/>
                  </a:lnTo>
                  <a:lnTo>
                    <a:pt x="126954" y="1083366"/>
                  </a:lnTo>
                  <a:lnTo>
                    <a:pt x="101548" y="1045074"/>
                  </a:lnTo>
                  <a:lnTo>
                    <a:pt x="78696" y="1005040"/>
                  </a:lnTo>
                  <a:lnTo>
                    <a:pt x="58514" y="963381"/>
                  </a:lnTo>
                  <a:lnTo>
                    <a:pt x="41118" y="920213"/>
                  </a:lnTo>
                  <a:lnTo>
                    <a:pt x="26625" y="875652"/>
                  </a:lnTo>
                  <a:lnTo>
                    <a:pt x="15151" y="829814"/>
                  </a:lnTo>
                  <a:lnTo>
                    <a:pt x="6811" y="782815"/>
                  </a:lnTo>
                  <a:lnTo>
                    <a:pt x="1722" y="734771"/>
                  </a:lnTo>
                  <a:lnTo>
                    <a:pt x="0" y="685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solidFill>
                  <a:prstClr val="white"/>
                </a:solidFill>
                <a:latin typeface="Century Gothic" panose="020B0502020202020204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362200" y="2457450"/>
              <a:ext cx="914400" cy="114300"/>
            </a:xfrm>
            <a:custGeom>
              <a:avLst/>
              <a:gdLst/>
              <a:ahLst/>
              <a:cxnLst/>
              <a:rect l="l" t="t" r="r" b="b"/>
              <a:pathLst>
                <a:path w="914400" h="114300">
                  <a:moveTo>
                    <a:pt x="800100" y="0"/>
                  </a:moveTo>
                  <a:lnTo>
                    <a:pt x="800100" y="114300"/>
                  </a:lnTo>
                  <a:lnTo>
                    <a:pt x="876300" y="76200"/>
                  </a:lnTo>
                  <a:lnTo>
                    <a:pt x="819150" y="76200"/>
                  </a:lnTo>
                  <a:lnTo>
                    <a:pt x="819150" y="38100"/>
                  </a:lnTo>
                  <a:lnTo>
                    <a:pt x="876300" y="38100"/>
                  </a:lnTo>
                  <a:lnTo>
                    <a:pt x="800100" y="0"/>
                  </a:lnTo>
                  <a:close/>
                </a:path>
                <a:path w="914400" h="114300">
                  <a:moveTo>
                    <a:pt x="80010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800100" y="76200"/>
                  </a:lnTo>
                  <a:lnTo>
                    <a:pt x="800100" y="38100"/>
                  </a:lnTo>
                  <a:close/>
                </a:path>
                <a:path w="914400" h="114300">
                  <a:moveTo>
                    <a:pt x="876300" y="38100"/>
                  </a:moveTo>
                  <a:lnTo>
                    <a:pt x="819150" y="38100"/>
                  </a:lnTo>
                  <a:lnTo>
                    <a:pt x="819150" y="76200"/>
                  </a:lnTo>
                  <a:lnTo>
                    <a:pt x="876300" y="76200"/>
                  </a:lnTo>
                  <a:lnTo>
                    <a:pt x="914400" y="57150"/>
                  </a:lnTo>
                  <a:lnTo>
                    <a:pt x="876300" y="3810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 dirty="0">
                <a:solidFill>
                  <a:prstClr val="white"/>
                </a:solidFill>
                <a:latin typeface="Century Gothic" panose="020B0502020202020204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136140" y="3447363"/>
            <a:ext cx="1924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Depos</a:t>
            </a:r>
            <a:r>
              <a:rPr sz="4400" spc="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endParaRPr sz="44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01038" y="1747838"/>
            <a:ext cx="1381125" cy="1381125"/>
            <a:chOff x="6777037" y="1747837"/>
            <a:chExt cx="1381125" cy="1381125"/>
          </a:xfrm>
        </p:grpSpPr>
        <p:sp>
          <p:nvSpPr>
            <p:cNvPr id="10" name="object 10"/>
            <p:cNvSpPr/>
            <p:nvPr/>
          </p:nvSpPr>
          <p:spPr>
            <a:xfrm>
              <a:off x="6781800" y="175260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636828" y="1722"/>
                  </a:lnTo>
                  <a:lnTo>
                    <a:pt x="588784" y="6811"/>
                  </a:lnTo>
                  <a:lnTo>
                    <a:pt x="541785" y="15151"/>
                  </a:lnTo>
                  <a:lnTo>
                    <a:pt x="495947" y="26625"/>
                  </a:lnTo>
                  <a:lnTo>
                    <a:pt x="451386" y="41118"/>
                  </a:lnTo>
                  <a:lnTo>
                    <a:pt x="408218" y="58514"/>
                  </a:lnTo>
                  <a:lnTo>
                    <a:pt x="366559" y="78696"/>
                  </a:lnTo>
                  <a:lnTo>
                    <a:pt x="326525" y="101548"/>
                  </a:lnTo>
                  <a:lnTo>
                    <a:pt x="288233" y="126954"/>
                  </a:lnTo>
                  <a:lnTo>
                    <a:pt x="251798" y="154798"/>
                  </a:lnTo>
                  <a:lnTo>
                    <a:pt x="217336" y="184964"/>
                  </a:lnTo>
                  <a:lnTo>
                    <a:pt x="184964" y="217336"/>
                  </a:lnTo>
                  <a:lnTo>
                    <a:pt x="154798" y="251798"/>
                  </a:lnTo>
                  <a:lnTo>
                    <a:pt x="126954" y="288233"/>
                  </a:lnTo>
                  <a:lnTo>
                    <a:pt x="101548" y="326525"/>
                  </a:lnTo>
                  <a:lnTo>
                    <a:pt x="78696" y="366559"/>
                  </a:lnTo>
                  <a:lnTo>
                    <a:pt x="58514" y="408218"/>
                  </a:lnTo>
                  <a:lnTo>
                    <a:pt x="41118" y="451386"/>
                  </a:lnTo>
                  <a:lnTo>
                    <a:pt x="26625" y="495947"/>
                  </a:lnTo>
                  <a:lnTo>
                    <a:pt x="15151" y="541785"/>
                  </a:lnTo>
                  <a:lnTo>
                    <a:pt x="6811" y="588784"/>
                  </a:lnTo>
                  <a:lnTo>
                    <a:pt x="1722" y="636828"/>
                  </a:lnTo>
                  <a:lnTo>
                    <a:pt x="0" y="685800"/>
                  </a:lnTo>
                  <a:lnTo>
                    <a:pt x="1722" y="734771"/>
                  </a:lnTo>
                  <a:lnTo>
                    <a:pt x="6811" y="782815"/>
                  </a:lnTo>
                  <a:lnTo>
                    <a:pt x="15151" y="829814"/>
                  </a:lnTo>
                  <a:lnTo>
                    <a:pt x="26625" y="875652"/>
                  </a:lnTo>
                  <a:lnTo>
                    <a:pt x="41118" y="920213"/>
                  </a:lnTo>
                  <a:lnTo>
                    <a:pt x="58514" y="963381"/>
                  </a:lnTo>
                  <a:lnTo>
                    <a:pt x="78696" y="1005040"/>
                  </a:lnTo>
                  <a:lnTo>
                    <a:pt x="101548" y="1045074"/>
                  </a:lnTo>
                  <a:lnTo>
                    <a:pt x="126954" y="1083366"/>
                  </a:lnTo>
                  <a:lnTo>
                    <a:pt x="154798" y="1119801"/>
                  </a:lnTo>
                  <a:lnTo>
                    <a:pt x="184964" y="1154263"/>
                  </a:lnTo>
                  <a:lnTo>
                    <a:pt x="217336" y="1186635"/>
                  </a:lnTo>
                  <a:lnTo>
                    <a:pt x="251798" y="1216801"/>
                  </a:lnTo>
                  <a:lnTo>
                    <a:pt x="288233" y="1244645"/>
                  </a:lnTo>
                  <a:lnTo>
                    <a:pt x="326525" y="1270051"/>
                  </a:lnTo>
                  <a:lnTo>
                    <a:pt x="366559" y="1292903"/>
                  </a:lnTo>
                  <a:lnTo>
                    <a:pt x="408218" y="1313085"/>
                  </a:lnTo>
                  <a:lnTo>
                    <a:pt x="451386" y="1330481"/>
                  </a:lnTo>
                  <a:lnTo>
                    <a:pt x="495947" y="1344974"/>
                  </a:lnTo>
                  <a:lnTo>
                    <a:pt x="541785" y="1356448"/>
                  </a:lnTo>
                  <a:lnTo>
                    <a:pt x="588784" y="1364788"/>
                  </a:lnTo>
                  <a:lnTo>
                    <a:pt x="636828" y="1369877"/>
                  </a:lnTo>
                  <a:lnTo>
                    <a:pt x="685800" y="1371600"/>
                  </a:lnTo>
                  <a:lnTo>
                    <a:pt x="734771" y="1369877"/>
                  </a:lnTo>
                  <a:lnTo>
                    <a:pt x="782815" y="1364788"/>
                  </a:lnTo>
                  <a:lnTo>
                    <a:pt x="829814" y="1356448"/>
                  </a:lnTo>
                  <a:lnTo>
                    <a:pt x="875652" y="1344974"/>
                  </a:lnTo>
                  <a:lnTo>
                    <a:pt x="920213" y="1330481"/>
                  </a:lnTo>
                  <a:lnTo>
                    <a:pt x="963381" y="1313085"/>
                  </a:lnTo>
                  <a:lnTo>
                    <a:pt x="1005040" y="1292903"/>
                  </a:lnTo>
                  <a:lnTo>
                    <a:pt x="1045074" y="1270051"/>
                  </a:lnTo>
                  <a:lnTo>
                    <a:pt x="1083366" y="1244645"/>
                  </a:lnTo>
                  <a:lnTo>
                    <a:pt x="1119801" y="1216801"/>
                  </a:lnTo>
                  <a:lnTo>
                    <a:pt x="1154263" y="1186635"/>
                  </a:lnTo>
                  <a:lnTo>
                    <a:pt x="1186635" y="1154263"/>
                  </a:lnTo>
                  <a:lnTo>
                    <a:pt x="1216801" y="1119801"/>
                  </a:lnTo>
                  <a:lnTo>
                    <a:pt x="1244645" y="1083366"/>
                  </a:lnTo>
                  <a:lnTo>
                    <a:pt x="1270051" y="1045074"/>
                  </a:lnTo>
                  <a:lnTo>
                    <a:pt x="1292903" y="1005040"/>
                  </a:lnTo>
                  <a:lnTo>
                    <a:pt x="1313085" y="963381"/>
                  </a:lnTo>
                  <a:lnTo>
                    <a:pt x="1330481" y="920213"/>
                  </a:lnTo>
                  <a:lnTo>
                    <a:pt x="1344974" y="875652"/>
                  </a:lnTo>
                  <a:lnTo>
                    <a:pt x="1356448" y="829814"/>
                  </a:lnTo>
                  <a:lnTo>
                    <a:pt x="1364788" y="782815"/>
                  </a:lnTo>
                  <a:lnTo>
                    <a:pt x="1369877" y="734771"/>
                  </a:lnTo>
                  <a:lnTo>
                    <a:pt x="1371600" y="685800"/>
                  </a:lnTo>
                  <a:lnTo>
                    <a:pt x="1369877" y="636828"/>
                  </a:lnTo>
                  <a:lnTo>
                    <a:pt x="1364788" y="588784"/>
                  </a:lnTo>
                  <a:lnTo>
                    <a:pt x="1356448" y="541785"/>
                  </a:lnTo>
                  <a:lnTo>
                    <a:pt x="1344974" y="495947"/>
                  </a:lnTo>
                  <a:lnTo>
                    <a:pt x="1330481" y="451386"/>
                  </a:lnTo>
                  <a:lnTo>
                    <a:pt x="1313085" y="408218"/>
                  </a:lnTo>
                  <a:lnTo>
                    <a:pt x="1292903" y="366559"/>
                  </a:lnTo>
                  <a:lnTo>
                    <a:pt x="1270051" y="326525"/>
                  </a:lnTo>
                  <a:lnTo>
                    <a:pt x="1244645" y="288233"/>
                  </a:lnTo>
                  <a:lnTo>
                    <a:pt x="1216801" y="251798"/>
                  </a:lnTo>
                  <a:lnTo>
                    <a:pt x="1186635" y="217336"/>
                  </a:lnTo>
                  <a:lnTo>
                    <a:pt x="1154263" y="184964"/>
                  </a:lnTo>
                  <a:lnTo>
                    <a:pt x="1119801" y="154798"/>
                  </a:lnTo>
                  <a:lnTo>
                    <a:pt x="1083366" y="126954"/>
                  </a:lnTo>
                  <a:lnTo>
                    <a:pt x="1045074" y="101548"/>
                  </a:lnTo>
                  <a:lnTo>
                    <a:pt x="1005040" y="78696"/>
                  </a:lnTo>
                  <a:lnTo>
                    <a:pt x="963381" y="58514"/>
                  </a:lnTo>
                  <a:lnTo>
                    <a:pt x="920213" y="41118"/>
                  </a:lnTo>
                  <a:lnTo>
                    <a:pt x="875652" y="26625"/>
                  </a:lnTo>
                  <a:lnTo>
                    <a:pt x="829814" y="15151"/>
                  </a:lnTo>
                  <a:lnTo>
                    <a:pt x="782815" y="6811"/>
                  </a:lnTo>
                  <a:lnTo>
                    <a:pt x="734771" y="172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 dirty="0">
                <a:solidFill>
                  <a:prstClr val="white"/>
                </a:solidFill>
                <a:latin typeface="Century Gothic" panose="020B0502020202020204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781800" y="175260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lnTo>
                    <a:pt x="1722" y="636828"/>
                  </a:lnTo>
                  <a:lnTo>
                    <a:pt x="6811" y="588784"/>
                  </a:lnTo>
                  <a:lnTo>
                    <a:pt x="15151" y="541785"/>
                  </a:lnTo>
                  <a:lnTo>
                    <a:pt x="26625" y="495947"/>
                  </a:lnTo>
                  <a:lnTo>
                    <a:pt x="41118" y="451386"/>
                  </a:lnTo>
                  <a:lnTo>
                    <a:pt x="58514" y="408218"/>
                  </a:lnTo>
                  <a:lnTo>
                    <a:pt x="78696" y="366559"/>
                  </a:lnTo>
                  <a:lnTo>
                    <a:pt x="101548" y="326525"/>
                  </a:lnTo>
                  <a:lnTo>
                    <a:pt x="126954" y="288233"/>
                  </a:lnTo>
                  <a:lnTo>
                    <a:pt x="154798" y="251798"/>
                  </a:lnTo>
                  <a:lnTo>
                    <a:pt x="184964" y="217336"/>
                  </a:lnTo>
                  <a:lnTo>
                    <a:pt x="217336" y="184964"/>
                  </a:lnTo>
                  <a:lnTo>
                    <a:pt x="251798" y="154798"/>
                  </a:lnTo>
                  <a:lnTo>
                    <a:pt x="288233" y="126954"/>
                  </a:lnTo>
                  <a:lnTo>
                    <a:pt x="326525" y="101548"/>
                  </a:lnTo>
                  <a:lnTo>
                    <a:pt x="366559" y="78696"/>
                  </a:lnTo>
                  <a:lnTo>
                    <a:pt x="408218" y="58514"/>
                  </a:lnTo>
                  <a:lnTo>
                    <a:pt x="451386" y="41118"/>
                  </a:lnTo>
                  <a:lnTo>
                    <a:pt x="495947" y="26625"/>
                  </a:lnTo>
                  <a:lnTo>
                    <a:pt x="541785" y="15151"/>
                  </a:lnTo>
                  <a:lnTo>
                    <a:pt x="588784" y="6811"/>
                  </a:lnTo>
                  <a:lnTo>
                    <a:pt x="636828" y="1722"/>
                  </a:lnTo>
                  <a:lnTo>
                    <a:pt x="685800" y="0"/>
                  </a:lnTo>
                  <a:lnTo>
                    <a:pt x="734771" y="1722"/>
                  </a:lnTo>
                  <a:lnTo>
                    <a:pt x="782815" y="6811"/>
                  </a:lnTo>
                  <a:lnTo>
                    <a:pt x="829814" y="15151"/>
                  </a:lnTo>
                  <a:lnTo>
                    <a:pt x="875652" y="26625"/>
                  </a:lnTo>
                  <a:lnTo>
                    <a:pt x="920213" y="41118"/>
                  </a:lnTo>
                  <a:lnTo>
                    <a:pt x="963381" y="58514"/>
                  </a:lnTo>
                  <a:lnTo>
                    <a:pt x="1005040" y="78696"/>
                  </a:lnTo>
                  <a:lnTo>
                    <a:pt x="1045074" y="101548"/>
                  </a:lnTo>
                  <a:lnTo>
                    <a:pt x="1083366" y="126954"/>
                  </a:lnTo>
                  <a:lnTo>
                    <a:pt x="1119801" y="154798"/>
                  </a:lnTo>
                  <a:lnTo>
                    <a:pt x="1154263" y="184964"/>
                  </a:lnTo>
                  <a:lnTo>
                    <a:pt x="1186635" y="217336"/>
                  </a:lnTo>
                  <a:lnTo>
                    <a:pt x="1216801" y="251798"/>
                  </a:lnTo>
                  <a:lnTo>
                    <a:pt x="1244645" y="288233"/>
                  </a:lnTo>
                  <a:lnTo>
                    <a:pt x="1270051" y="326525"/>
                  </a:lnTo>
                  <a:lnTo>
                    <a:pt x="1292903" y="366559"/>
                  </a:lnTo>
                  <a:lnTo>
                    <a:pt x="1313085" y="408218"/>
                  </a:lnTo>
                  <a:lnTo>
                    <a:pt x="1330481" y="451386"/>
                  </a:lnTo>
                  <a:lnTo>
                    <a:pt x="1344974" y="495947"/>
                  </a:lnTo>
                  <a:lnTo>
                    <a:pt x="1356448" y="541785"/>
                  </a:lnTo>
                  <a:lnTo>
                    <a:pt x="1364788" y="588784"/>
                  </a:lnTo>
                  <a:lnTo>
                    <a:pt x="1369877" y="636828"/>
                  </a:lnTo>
                  <a:lnTo>
                    <a:pt x="1371600" y="685800"/>
                  </a:lnTo>
                  <a:lnTo>
                    <a:pt x="1369877" y="734771"/>
                  </a:lnTo>
                  <a:lnTo>
                    <a:pt x="1364788" y="782815"/>
                  </a:lnTo>
                  <a:lnTo>
                    <a:pt x="1356448" y="829814"/>
                  </a:lnTo>
                  <a:lnTo>
                    <a:pt x="1344974" y="875652"/>
                  </a:lnTo>
                  <a:lnTo>
                    <a:pt x="1330481" y="920213"/>
                  </a:lnTo>
                  <a:lnTo>
                    <a:pt x="1313085" y="963381"/>
                  </a:lnTo>
                  <a:lnTo>
                    <a:pt x="1292903" y="1005040"/>
                  </a:lnTo>
                  <a:lnTo>
                    <a:pt x="1270051" y="1045074"/>
                  </a:lnTo>
                  <a:lnTo>
                    <a:pt x="1244645" y="1083366"/>
                  </a:lnTo>
                  <a:lnTo>
                    <a:pt x="1216801" y="1119801"/>
                  </a:lnTo>
                  <a:lnTo>
                    <a:pt x="1186635" y="1154263"/>
                  </a:lnTo>
                  <a:lnTo>
                    <a:pt x="1154263" y="1186635"/>
                  </a:lnTo>
                  <a:lnTo>
                    <a:pt x="1119801" y="1216801"/>
                  </a:lnTo>
                  <a:lnTo>
                    <a:pt x="1083366" y="1244645"/>
                  </a:lnTo>
                  <a:lnTo>
                    <a:pt x="1045074" y="1270051"/>
                  </a:lnTo>
                  <a:lnTo>
                    <a:pt x="1005040" y="1292903"/>
                  </a:lnTo>
                  <a:lnTo>
                    <a:pt x="963381" y="1313085"/>
                  </a:lnTo>
                  <a:lnTo>
                    <a:pt x="920213" y="1330481"/>
                  </a:lnTo>
                  <a:lnTo>
                    <a:pt x="875652" y="1344974"/>
                  </a:lnTo>
                  <a:lnTo>
                    <a:pt x="829814" y="1356448"/>
                  </a:lnTo>
                  <a:lnTo>
                    <a:pt x="782815" y="1364788"/>
                  </a:lnTo>
                  <a:lnTo>
                    <a:pt x="734771" y="1369877"/>
                  </a:lnTo>
                  <a:lnTo>
                    <a:pt x="685800" y="1371600"/>
                  </a:lnTo>
                  <a:lnTo>
                    <a:pt x="636828" y="1369877"/>
                  </a:lnTo>
                  <a:lnTo>
                    <a:pt x="588784" y="1364788"/>
                  </a:lnTo>
                  <a:lnTo>
                    <a:pt x="541785" y="1356448"/>
                  </a:lnTo>
                  <a:lnTo>
                    <a:pt x="495947" y="1344974"/>
                  </a:lnTo>
                  <a:lnTo>
                    <a:pt x="451386" y="1330481"/>
                  </a:lnTo>
                  <a:lnTo>
                    <a:pt x="408218" y="1313085"/>
                  </a:lnTo>
                  <a:lnTo>
                    <a:pt x="366559" y="1292903"/>
                  </a:lnTo>
                  <a:lnTo>
                    <a:pt x="326525" y="1270051"/>
                  </a:lnTo>
                  <a:lnTo>
                    <a:pt x="288233" y="1244645"/>
                  </a:lnTo>
                  <a:lnTo>
                    <a:pt x="251798" y="1216801"/>
                  </a:lnTo>
                  <a:lnTo>
                    <a:pt x="217336" y="1186635"/>
                  </a:lnTo>
                  <a:lnTo>
                    <a:pt x="184964" y="1154263"/>
                  </a:lnTo>
                  <a:lnTo>
                    <a:pt x="154798" y="1119801"/>
                  </a:lnTo>
                  <a:lnTo>
                    <a:pt x="126954" y="1083366"/>
                  </a:lnTo>
                  <a:lnTo>
                    <a:pt x="101548" y="1045074"/>
                  </a:lnTo>
                  <a:lnTo>
                    <a:pt x="78696" y="1005040"/>
                  </a:lnTo>
                  <a:lnTo>
                    <a:pt x="58514" y="963381"/>
                  </a:lnTo>
                  <a:lnTo>
                    <a:pt x="41118" y="920213"/>
                  </a:lnTo>
                  <a:lnTo>
                    <a:pt x="26625" y="875652"/>
                  </a:lnTo>
                  <a:lnTo>
                    <a:pt x="15151" y="829814"/>
                  </a:lnTo>
                  <a:lnTo>
                    <a:pt x="6811" y="782815"/>
                  </a:lnTo>
                  <a:lnTo>
                    <a:pt x="1722" y="734771"/>
                  </a:lnTo>
                  <a:lnTo>
                    <a:pt x="0" y="685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solidFill>
                  <a:prstClr val="white"/>
                </a:solidFill>
                <a:latin typeface="Century Gothic" panose="020B0502020202020204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101332" y="3447363"/>
            <a:ext cx="27927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Withdrawal</a:t>
            </a:r>
            <a:endParaRPr sz="44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31341" y="4077615"/>
            <a:ext cx="3110865" cy="1818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MOV</a:t>
            </a:r>
            <a:r>
              <a:rPr sz="28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A,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Balance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ADD</a:t>
            </a:r>
            <a:r>
              <a:rPr sz="2800" b="1" spc="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A,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Deposited </a:t>
            </a:r>
            <a:r>
              <a:rPr sz="2800" b="1" spc="-7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MOV</a:t>
            </a:r>
            <a:r>
              <a:rPr sz="28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Balance,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800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90029" y="4077615"/>
            <a:ext cx="3207385" cy="1818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  <a:tabLst>
                <a:tab pos="92710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MOV</a:t>
            </a:r>
            <a:r>
              <a:rPr sz="28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B,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Balance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SUB	B,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Withdrawn </a:t>
            </a:r>
            <a:r>
              <a:rPr sz="2800" b="1" spc="-7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MOV</a:t>
            </a:r>
            <a:r>
              <a:rPr sz="28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Balance,</a:t>
            </a:r>
            <a:r>
              <a:rPr sz="28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800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28800" y="4191000"/>
            <a:ext cx="2819400" cy="0"/>
          </a:xfrm>
          <a:custGeom>
            <a:avLst/>
            <a:gdLst/>
            <a:ahLst/>
            <a:cxnLst/>
            <a:rect l="l" t="t" r="r" b="b"/>
            <a:pathLst>
              <a:path w="2819400">
                <a:moveTo>
                  <a:pt x="0" y="0"/>
                </a:moveTo>
                <a:lnTo>
                  <a:pt x="2819400" y="0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86600" y="4191000"/>
            <a:ext cx="2819400" cy="0"/>
          </a:xfrm>
          <a:custGeom>
            <a:avLst/>
            <a:gdLst/>
            <a:ahLst/>
            <a:cxnLst/>
            <a:rect l="l" t="t" r="r" b="b"/>
            <a:pathLst>
              <a:path w="2819400">
                <a:moveTo>
                  <a:pt x="0" y="0"/>
                </a:moveTo>
                <a:lnTo>
                  <a:pt x="2819400" y="0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85898" y="2075510"/>
            <a:ext cx="429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dirty="0">
                <a:solidFill>
                  <a:prstClr val="white"/>
                </a:solidFill>
                <a:latin typeface="Arial MT"/>
                <a:cs typeface="Arial MT"/>
              </a:rPr>
              <a:t>D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715502" y="2075510"/>
            <a:ext cx="5537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spc="5" dirty="0">
                <a:solidFill>
                  <a:prstClr val="white"/>
                </a:solidFill>
                <a:latin typeface="Arial MT"/>
                <a:cs typeface="Arial MT"/>
              </a:rPr>
              <a:t>W</a:t>
            </a:r>
            <a:endParaRPr sz="44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886200" y="2457450"/>
            <a:ext cx="838200" cy="114300"/>
          </a:xfrm>
          <a:custGeom>
            <a:avLst/>
            <a:gdLst/>
            <a:ahLst/>
            <a:cxnLst/>
            <a:rect l="l" t="t" r="r" b="b"/>
            <a:pathLst>
              <a:path w="8382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8382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838200" h="114300">
                <a:moveTo>
                  <a:pt x="8382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838200" y="76200"/>
                </a:lnTo>
                <a:lnTo>
                  <a:pt x="838200" y="381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391400" y="2457449"/>
            <a:ext cx="914400" cy="114300"/>
          </a:xfrm>
          <a:custGeom>
            <a:avLst/>
            <a:gdLst/>
            <a:ahLst/>
            <a:cxnLst/>
            <a:rect l="l" t="t" r="r" b="b"/>
            <a:pathLst>
              <a:path w="914400" h="114300">
                <a:moveTo>
                  <a:pt x="914400" y="57150"/>
                </a:moveTo>
                <a:lnTo>
                  <a:pt x="876300" y="38100"/>
                </a:lnTo>
                <a:lnTo>
                  <a:pt x="800100" y="0"/>
                </a:lnTo>
                <a:lnTo>
                  <a:pt x="800100" y="38100"/>
                </a:lnTo>
                <a:lnTo>
                  <a:pt x="114300" y="38100"/>
                </a:lnTo>
                <a:lnTo>
                  <a:pt x="114300" y="0"/>
                </a:lnTo>
                <a:lnTo>
                  <a:pt x="38100" y="38100"/>
                </a:lnTo>
                <a:lnTo>
                  <a:pt x="0" y="38100"/>
                </a:lnTo>
                <a:lnTo>
                  <a:pt x="0" y="57150"/>
                </a:lnTo>
                <a:lnTo>
                  <a:pt x="0" y="76200"/>
                </a:lnTo>
                <a:lnTo>
                  <a:pt x="38100" y="7620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800100" y="76200"/>
                </a:lnTo>
                <a:lnTo>
                  <a:pt x="800100" y="114300"/>
                </a:lnTo>
                <a:lnTo>
                  <a:pt x="876300" y="76200"/>
                </a:lnTo>
                <a:lnTo>
                  <a:pt x="914400" y="5715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17BA78B-FEE9-CB20-5B2D-6411DA89E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649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3740" y="1725891"/>
            <a:ext cx="7588884" cy="2982868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55600" indent="-342900">
              <a:spcBef>
                <a:spcPts val="1060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</a:tabLst>
            </a:pPr>
            <a:r>
              <a:rPr sz="4000" b="1" spc="-10" dirty="0">
                <a:solidFill>
                  <a:srgbClr val="FFFFFF"/>
                </a:solidFill>
                <a:latin typeface="Arial"/>
                <a:cs typeface="Arial"/>
              </a:rPr>
              <a:t>Bank</a:t>
            </a:r>
            <a:r>
              <a:rPr sz="4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25" dirty="0">
                <a:solidFill>
                  <a:srgbClr val="FFFFFF"/>
                </a:solidFill>
                <a:latin typeface="Arial"/>
                <a:cs typeface="Arial"/>
              </a:rPr>
              <a:t>Transactions</a:t>
            </a:r>
            <a:endParaRPr sz="40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756285" lvl="1" indent="-287020">
              <a:spcBef>
                <a:spcPts val="960"/>
              </a:spcBef>
              <a:buClr>
                <a:srgbClr val="FFFF66"/>
              </a:buClr>
              <a:buFont typeface="Wingdings"/>
              <a:buChar char=""/>
              <a:tabLst>
                <a:tab pos="756920" algn="l"/>
              </a:tabLst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Current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balance</a:t>
            </a:r>
            <a:r>
              <a:rPr sz="4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Rs.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50,000</a:t>
            </a:r>
            <a:endParaRPr sz="40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756285" lvl="1" indent="-287020">
              <a:spcBef>
                <a:spcPts val="965"/>
              </a:spcBef>
              <a:buClr>
                <a:srgbClr val="FFFF66"/>
              </a:buClr>
              <a:buFont typeface="Wingdings"/>
              <a:buChar char=""/>
              <a:tabLst>
                <a:tab pos="756920" algn="l"/>
              </a:tabLst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Check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deposited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= Rs.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10,000</a:t>
            </a:r>
            <a:endParaRPr sz="40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756285" lvl="1" indent="-287020">
              <a:spcBef>
                <a:spcPts val="960"/>
              </a:spcBef>
              <a:buClr>
                <a:srgbClr val="FFFF66"/>
              </a:buClr>
              <a:buFont typeface="Wingdings"/>
              <a:buChar char=""/>
              <a:tabLst>
                <a:tab pos="756920" algn="l"/>
              </a:tabLst>
            </a:pPr>
            <a:r>
              <a:rPr sz="4000" spc="-105" dirty="0">
                <a:solidFill>
                  <a:srgbClr val="FFFFFF"/>
                </a:solidFill>
                <a:latin typeface="Arial MT"/>
                <a:cs typeface="Arial MT"/>
              </a:rPr>
              <a:t>ATM</a:t>
            </a:r>
            <a:r>
              <a:rPr sz="4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withdrawn</a:t>
            </a:r>
            <a:r>
              <a:rPr sz="40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4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Rs.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5,000</a:t>
            </a:r>
            <a:endParaRPr sz="40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25878" y="327101"/>
            <a:ext cx="6539865" cy="659796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Bank</a:t>
            </a:r>
            <a:r>
              <a:rPr spc="-30" dirty="0"/>
              <a:t> </a:t>
            </a:r>
            <a:r>
              <a:rPr spc="-15" dirty="0"/>
              <a:t>Transactions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3F5F8-EA88-A14E-4743-A1B627A6C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656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5878" y="174701"/>
            <a:ext cx="6539865" cy="659796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Bank</a:t>
            </a:r>
            <a:r>
              <a:rPr spc="-30" dirty="0"/>
              <a:t> </a:t>
            </a:r>
            <a:r>
              <a:rPr spc="-15" dirty="0"/>
              <a:t>Transactions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65045" y="1005030"/>
            <a:ext cx="4121785" cy="557720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spcBef>
                <a:spcPts val="765"/>
              </a:spcBef>
            </a:pPr>
            <a:r>
              <a:rPr sz="3600" b="1" spc="-5" dirty="0">
                <a:solidFill>
                  <a:srgbClr val="FFFFFF"/>
                </a:solidFill>
                <a:latin typeface="Arial"/>
                <a:cs typeface="Arial"/>
              </a:rPr>
              <a:t>Check</a:t>
            </a:r>
            <a:r>
              <a:rPr sz="3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Arial"/>
                <a:cs typeface="Arial"/>
              </a:rPr>
              <a:t>Deposit:</a:t>
            </a:r>
            <a:endParaRPr sz="36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926465" marR="26670">
              <a:lnSpc>
                <a:spcPct val="110100"/>
              </a:lnSpc>
              <a:spcBef>
                <a:spcPts val="170"/>
              </a:spcBef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MOV</a:t>
            </a:r>
            <a:r>
              <a:rPr sz="28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A,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Balance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AD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800" b="1" spc="3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A, Deposit</a:t>
            </a:r>
            <a:r>
              <a:rPr sz="2800" b="1" spc="-20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ed</a:t>
            </a:r>
            <a:endParaRPr sz="28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12700">
              <a:spcBef>
                <a:spcPts val="1315"/>
              </a:spcBef>
            </a:pPr>
            <a:r>
              <a:rPr sz="3600" b="1" spc="-90" dirty="0">
                <a:solidFill>
                  <a:srgbClr val="FFFFFF"/>
                </a:solidFill>
                <a:latin typeface="Arial"/>
                <a:cs typeface="Arial"/>
              </a:rPr>
              <a:t>ATM</a:t>
            </a:r>
            <a:r>
              <a:rPr sz="36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Arial"/>
                <a:cs typeface="Arial"/>
              </a:rPr>
              <a:t>Withdrawal:</a:t>
            </a:r>
            <a:endParaRPr sz="36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926465" marR="5080">
              <a:lnSpc>
                <a:spcPct val="110000"/>
              </a:lnSpc>
              <a:spcBef>
                <a:spcPts val="175"/>
              </a:spcBef>
              <a:tabLst>
                <a:tab pos="1841500" algn="l"/>
              </a:tabLst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MOV</a:t>
            </a:r>
            <a:r>
              <a:rPr sz="28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B,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Balance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SUB	B,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Withdrawn</a:t>
            </a:r>
            <a:endParaRPr sz="28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12700">
              <a:spcBef>
                <a:spcPts val="254"/>
              </a:spcBef>
            </a:pPr>
            <a:r>
              <a:rPr sz="3600" b="1" spc="-5" dirty="0">
                <a:solidFill>
                  <a:srgbClr val="FFFFFF"/>
                </a:solidFill>
                <a:latin typeface="Arial"/>
                <a:cs typeface="Arial"/>
              </a:rPr>
              <a:t>Check</a:t>
            </a:r>
            <a:r>
              <a:rPr sz="3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Arial"/>
                <a:cs typeface="Arial"/>
              </a:rPr>
              <a:t>Deposit:</a:t>
            </a:r>
            <a:endParaRPr sz="36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926465">
              <a:spcBef>
                <a:spcPts val="515"/>
              </a:spcBef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MOV</a:t>
            </a:r>
            <a:r>
              <a:rPr sz="28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Balance,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8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12700">
              <a:spcBef>
                <a:spcPts val="1315"/>
              </a:spcBef>
            </a:pPr>
            <a:r>
              <a:rPr sz="3600" b="1" spc="-90" dirty="0">
                <a:solidFill>
                  <a:srgbClr val="FFFFFF"/>
                </a:solidFill>
                <a:latin typeface="Arial"/>
                <a:cs typeface="Arial"/>
              </a:rPr>
              <a:t>ATM</a:t>
            </a:r>
            <a:r>
              <a:rPr sz="3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Arial"/>
                <a:cs typeface="Arial"/>
              </a:rPr>
              <a:t>Withdrawal:</a:t>
            </a:r>
            <a:endParaRPr sz="36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926465">
              <a:spcBef>
                <a:spcPts val="509"/>
              </a:spcBef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MOV</a:t>
            </a:r>
            <a:r>
              <a:rPr sz="28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Balance,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800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37628" y="1659916"/>
            <a:ext cx="3182620" cy="5016757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>
              <a:spcBef>
                <a:spcPts val="439"/>
              </a:spcBef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//</a:t>
            </a:r>
            <a:r>
              <a:rPr sz="280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50,000</a:t>
            </a:r>
            <a:endParaRPr sz="28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12700">
              <a:spcBef>
                <a:spcPts val="335"/>
              </a:spcBef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//</a:t>
            </a:r>
            <a:r>
              <a:rPr sz="280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60,000</a:t>
            </a:r>
            <a:endParaRPr sz="2800" dirty="0">
              <a:solidFill>
                <a:prstClr val="white"/>
              </a:solidFill>
              <a:latin typeface="Arial"/>
              <a:cs typeface="Arial"/>
            </a:endParaRPr>
          </a:p>
          <a:p>
            <a:endParaRPr sz="31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12700">
              <a:spcBef>
                <a:spcPts val="2585"/>
              </a:spcBef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//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50,000</a:t>
            </a:r>
            <a:endParaRPr sz="28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12700">
              <a:spcBef>
                <a:spcPts val="335"/>
              </a:spcBef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//</a:t>
            </a:r>
            <a:r>
              <a:rPr sz="2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45,000</a:t>
            </a:r>
            <a:endParaRPr sz="2800" dirty="0">
              <a:solidFill>
                <a:prstClr val="white"/>
              </a:solidFill>
              <a:latin typeface="Arial"/>
              <a:cs typeface="Arial"/>
            </a:endParaRPr>
          </a:p>
          <a:p>
            <a:pPr>
              <a:spcBef>
                <a:spcPts val="30"/>
              </a:spcBef>
            </a:pPr>
            <a:endParaRPr sz="44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12700"/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//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Balance =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60,000</a:t>
            </a:r>
            <a:endParaRPr sz="2800" dirty="0">
              <a:solidFill>
                <a:prstClr val="white"/>
              </a:solidFill>
              <a:latin typeface="Arial"/>
              <a:cs typeface="Arial"/>
            </a:endParaRPr>
          </a:p>
          <a:p>
            <a:endParaRPr sz="31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12700">
              <a:spcBef>
                <a:spcPts val="2580"/>
              </a:spcBef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//</a:t>
            </a:r>
            <a:r>
              <a:rPr sz="2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Balance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45,000</a:t>
            </a:r>
            <a:endParaRPr sz="2800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76600" y="2667000"/>
            <a:ext cx="6858000" cy="0"/>
          </a:xfrm>
          <a:custGeom>
            <a:avLst/>
            <a:gdLst/>
            <a:ahLst/>
            <a:cxnLst/>
            <a:rect l="l" t="t" r="r" b="b"/>
            <a:pathLst>
              <a:path w="6858000">
                <a:moveTo>
                  <a:pt x="0" y="0"/>
                </a:moveTo>
                <a:lnTo>
                  <a:pt x="6858000" y="0"/>
                </a:lnTo>
              </a:path>
            </a:pathLst>
          </a:custGeom>
          <a:ln w="28575">
            <a:solidFill>
              <a:srgbClr val="FFFFFF"/>
            </a:solidFill>
            <a:prstDash val="dash"/>
          </a:ln>
        </p:spPr>
        <p:txBody>
          <a:bodyPr wrap="square" lIns="0" tIns="0" rIns="0" bIns="0" rtlCol="0"/>
          <a:lstStyle/>
          <a:p>
            <a:endParaRPr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76600" y="4343400"/>
            <a:ext cx="6858000" cy="0"/>
          </a:xfrm>
          <a:custGeom>
            <a:avLst/>
            <a:gdLst/>
            <a:ahLst/>
            <a:cxnLst/>
            <a:rect l="l" t="t" r="r" b="b"/>
            <a:pathLst>
              <a:path w="6858000">
                <a:moveTo>
                  <a:pt x="0" y="0"/>
                </a:moveTo>
                <a:lnTo>
                  <a:pt x="6858000" y="0"/>
                </a:lnTo>
              </a:path>
            </a:pathLst>
          </a:custGeom>
          <a:ln w="28575">
            <a:solidFill>
              <a:srgbClr val="FFFFFF"/>
            </a:solidFill>
            <a:prstDash val="dash"/>
          </a:ln>
        </p:spPr>
        <p:txBody>
          <a:bodyPr wrap="square" lIns="0" tIns="0" rIns="0" bIns="0" rtlCol="0"/>
          <a:lstStyle/>
          <a:p>
            <a:endParaRPr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76600" y="5486400"/>
            <a:ext cx="6858000" cy="0"/>
          </a:xfrm>
          <a:custGeom>
            <a:avLst/>
            <a:gdLst/>
            <a:ahLst/>
            <a:cxnLst/>
            <a:rect l="l" t="t" r="r" b="b"/>
            <a:pathLst>
              <a:path w="6858000">
                <a:moveTo>
                  <a:pt x="0" y="0"/>
                </a:moveTo>
                <a:lnTo>
                  <a:pt x="6858000" y="0"/>
                </a:lnTo>
              </a:path>
            </a:pathLst>
          </a:custGeom>
          <a:ln w="28575">
            <a:solidFill>
              <a:srgbClr val="FFFFFF"/>
            </a:solidFill>
            <a:prstDash val="dash"/>
          </a:ln>
        </p:spPr>
        <p:txBody>
          <a:bodyPr wrap="square" lIns="0" tIns="0" rIns="0" bIns="0" rtlCol="0"/>
          <a:lstStyle/>
          <a:p>
            <a:endParaRPr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B6F79CB-54BF-5C10-F977-EC3512446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14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88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Diagram of Critical Section Problem</a:t>
            </a:r>
          </a:p>
        </p:txBody>
      </p:sp>
      <p:sp>
        <p:nvSpPr>
          <p:cNvPr id="20482" name="TextBox 4"/>
          <p:cNvSpPr txBox="1">
            <a:spLocks noChangeArrowheads="1"/>
          </p:cNvSpPr>
          <p:nvPr/>
        </p:nvSpPr>
        <p:spPr bwMode="auto">
          <a:xfrm>
            <a:off x="2543175" y="3935414"/>
            <a:ext cx="712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 dirty="0"/>
              <a:t>P</a:t>
            </a:r>
            <a:r>
              <a:rPr lang="en-US" altLang="en-US" sz="1800" baseline="-25000" dirty="0"/>
              <a:t>0</a:t>
            </a:r>
          </a:p>
        </p:txBody>
      </p:sp>
      <p:pic>
        <p:nvPicPr>
          <p:cNvPr id="20483" name="Picture 1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2" r="13430"/>
          <a:stretch/>
        </p:blipFill>
        <p:spPr>
          <a:xfrm>
            <a:off x="4203700" y="4375150"/>
            <a:ext cx="1473200" cy="1373188"/>
          </a:xfrm>
          <a:noFill/>
        </p:spPr>
      </p:pic>
      <p:sp>
        <p:nvSpPr>
          <p:cNvPr id="20486" name="TextBox 10"/>
          <p:cNvSpPr txBox="1">
            <a:spLocks noChangeArrowheads="1"/>
          </p:cNvSpPr>
          <p:nvPr/>
        </p:nvSpPr>
        <p:spPr bwMode="auto">
          <a:xfrm>
            <a:off x="4486275" y="3933825"/>
            <a:ext cx="71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 dirty="0"/>
              <a:t>P</a:t>
            </a:r>
            <a:r>
              <a:rPr lang="en-US" altLang="en-US" sz="1800" baseline="-25000" dirty="0"/>
              <a:t>1</a:t>
            </a:r>
          </a:p>
        </p:txBody>
      </p:sp>
      <p:sp>
        <p:nvSpPr>
          <p:cNvPr id="20487" name="TextBox 11"/>
          <p:cNvSpPr txBox="1">
            <a:spLocks noChangeArrowheads="1"/>
          </p:cNvSpPr>
          <p:nvPr/>
        </p:nvSpPr>
        <p:spPr bwMode="auto">
          <a:xfrm>
            <a:off x="8083550" y="4030663"/>
            <a:ext cx="7127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 dirty="0"/>
              <a:t>P</a:t>
            </a:r>
            <a:r>
              <a:rPr lang="en-US" altLang="en-US" sz="1800" baseline="-25000" dirty="0"/>
              <a:t>n-1</a:t>
            </a:r>
          </a:p>
        </p:txBody>
      </p:sp>
      <p:sp>
        <p:nvSpPr>
          <p:cNvPr id="20488" name="Rectangle 12"/>
          <p:cNvSpPr>
            <a:spLocks noChangeArrowheads="1"/>
          </p:cNvSpPr>
          <p:nvPr/>
        </p:nvSpPr>
        <p:spPr bwMode="auto">
          <a:xfrm>
            <a:off x="2246314" y="3810000"/>
            <a:ext cx="1597025" cy="231933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20489" name="Rectangle 13"/>
          <p:cNvSpPr>
            <a:spLocks noChangeArrowheads="1"/>
          </p:cNvSpPr>
          <p:nvPr/>
        </p:nvSpPr>
        <p:spPr bwMode="auto">
          <a:xfrm>
            <a:off x="4140201" y="3789364"/>
            <a:ext cx="1597025" cy="231933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20490" name="Rectangle 14"/>
          <p:cNvSpPr>
            <a:spLocks noChangeArrowheads="1"/>
          </p:cNvSpPr>
          <p:nvPr/>
        </p:nvSpPr>
        <p:spPr bwMode="auto">
          <a:xfrm>
            <a:off x="7745414" y="3806825"/>
            <a:ext cx="1597025" cy="231933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20491" name="Oval 15"/>
          <p:cNvSpPr>
            <a:spLocks noChangeArrowheads="1"/>
          </p:cNvSpPr>
          <p:nvPr/>
        </p:nvSpPr>
        <p:spPr bwMode="auto">
          <a:xfrm>
            <a:off x="5035551" y="1298576"/>
            <a:ext cx="1539875" cy="1501775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20492" name="TextBox 16"/>
          <p:cNvSpPr txBox="1">
            <a:spLocks noChangeArrowheads="1"/>
          </p:cNvSpPr>
          <p:nvPr/>
        </p:nvSpPr>
        <p:spPr bwMode="auto">
          <a:xfrm>
            <a:off x="5092701" y="1655764"/>
            <a:ext cx="146367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800" dirty="0">
                <a:solidFill>
                  <a:schemeClr val="accent1"/>
                </a:solidFill>
              </a:rPr>
              <a:t>Shared Data</a:t>
            </a:r>
          </a:p>
        </p:txBody>
      </p:sp>
      <p:cxnSp>
        <p:nvCxnSpPr>
          <p:cNvPr id="20493" name="Straight Arrow Connector 18"/>
          <p:cNvCxnSpPr>
            <a:cxnSpLocks noChangeShapeType="1"/>
            <a:endCxn id="20491" idx="3"/>
          </p:cNvCxnSpPr>
          <p:nvPr/>
        </p:nvCxnSpPr>
        <p:spPr bwMode="auto">
          <a:xfrm flipV="1">
            <a:off x="3525839" y="2579688"/>
            <a:ext cx="1735137" cy="23558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4" name="Straight Arrow Connector 19"/>
          <p:cNvCxnSpPr>
            <a:cxnSpLocks noChangeShapeType="1"/>
            <a:endCxn id="20491" idx="4"/>
          </p:cNvCxnSpPr>
          <p:nvPr/>
        </p:nvCxnSpPr>
        <p:spPr bwMode="auto">
          <a:xfrm flipV="1">
            <a:off x="5449888" y="2800350"/>
            <a:ext cx="355600" cy="21161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5" name="Straight Arrow Connector 22"/>
          <p:cNvCxnSpPr>
            <a:cxnSpLocks noChangeShapeType="1"/>
            <a:endCxn id="20491" idx="5"/>
          </p:cNvCxnSpPr>
          <p:nvPr/>
        </p:nvCxnSpPr>
        <p:spPr bwMode="auto">
          <a:xfrm flipH="1" flipV="1">
            <a:off x="6350001" y="2579689"/>
            <a:ext cx="1935163" cy="240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6" name="TextBox 33"/>
          <p:cNvSpPr txBox="1">
            <a:spLocks noChangeArrowheads="1"/>
          </p:cNvSpPr>
          <p:nvPr/>
        </p:nvSpPr>
        <p:spPr bwMode="auto">
          <a:xfrm>
            <a:off x="6729413" y="1000125"/>
            <a:ext cx="37909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627063" indent="-1714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Helvetica" panose="020B0604020202020204" pitchFamily="34" charset="0"/>
              </a:rPr>
              <a:t>Each process </a:t>
            </a:r>
            <a:r>
              <a:rPr lang="en-US" altLang="en-US" sz="1400" b="1" dirty="0">
                <a:latin typeface="Helvetica" panose="020B0604020202020204" pitchFamily="34" charset="0"/>
              </a:rPr>
              <a:t>P</a:t>
            </a:r>
            <a:r>
              <a:rPr lang="en-US" altLang="en-US" sz="1400" b="1" baseline="-25000" dirty="0">
                <a:latin typeface="Helvetica" panose="020B0604020202020204" pitchFamily="34" charset="0"/>
              </a:rPr>
              <a:t>i</a:t>
            </a:r>
            <a:r>
              <a:rPr lang="en-US" altLang="en-US" sz="1400" dirty="0">
                <a:latin typeface="Helvetica" panose="020B0604020202020204" pitchFamily="34" charset="0"/>
              </a:rPr>
              <a:t> has </a:t>
            </a:r>
            <a:r>
              <a:rPr lang="en-US" altLang="en-US" sz="1400" dirty="0">
                <a:solidFill>
                  <a:srgbClr val="3366FF"/>
                </a:solidFill>
                <a:latin typeface="Helvetica" panose="020B0604020202020204" pitchFamily="34" charset="0"/>
              </a:rPr>
              <a:t>its own </a:t>
            </a:r>
            <a:r>
              <a:rPr lang="en-US" altLang="en-US" sz="1400" dirty="0">
                <a:latin typeface="Helvetica" panose="020B0604020202020204" pitchFamily="34" charset="0"/>
              </a:rPr>
              <a:t>critical section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Helvetica" panose="020B0604020202020204" pitchFamily="34" charset="0"/>
              </a:rPr>
              <a:t>Accesses to shared data </a:t>
            </a:r>
            <a:r>
              <a:rPr lang="en-US" altLang="en-US" sz="1400" dirty="0">
                <a:solidFill>
                  <a:srgbClr val="3366FF"/>
                </a:solidFill>
                <a:latin typeface="Helvetica" panose="020B0604020202020204" pitchFamily="34" charset="0"/>
              </a:rPr>
              <a:t>only</a:t>
            </a:r>
            <a:r>
              <a:rPr lang="en-US" altLang="en-US" sz="1400" dirty="0">
                <a:latin typeface="Helvetica" panose="020B0604020202020204" pitchFamily="34" charset="0"/>
              </a:rPr>
              <a:t> in 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Helvetica" panose="020B0604020202020204" pitchFamily="34" charset="0"/>
              </a:rPr>
              <a:t>Lock – will consider later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Helvetica" panose="020B0604020202020204" pitchFamily="34" charset="0"/>
              </a:rPr>
              <a:t>In shared data, accessible by all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Helvetica" panose="020B0604020202020204" pitchFamily="34" charset="0"/>
              </a:rPr>
              <a:t>Often 1 lock for all n processes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Helvetica" panose="020B0604020202020204" pitchFamily="34" charset="0"/>
              </a:rPr>
              <a:t>Guards access to all critical sections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Helvetica" panose="020B0604020202020204" pitchFamily="34" charset="0"/>
              </a:rPr>
              <a:t>Ensures mutual exclusivity </a:t>
            </a:r>
          </a:p>
        </p:txBody>
      </p:sp>
      <p:sp>
        <p:nvSpPr>
          <p:cNvPr id="20497" name="TextBox 34"/>
          <p:cNvSpPr txBox="1">
            <a:spLocks noChangeArrowheads="1"/>
          </p:cNvSpPr>
          <p:nvPr/>
        </p:nvSpPr>
        <p:spPr bwMode="auto">
          <a:xfrm>
            <a:off x="6046789" y="4762500"/>
            <a:ext cx="1260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 dirty="0"/>
              <a:t>. . .</a:t>
            </a:r>
          </a:p>
        </p:txBody>
      </p:sp>
      <p:pic>
        <p:nvPicPr>
          <p:cNvPr id="19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2" r="13430"/>
          <a:stretch/>
        </p:blipFill>
        <p:spPr>
          <a:xfrm>
            <a:off x="2336800" y="4349750"/>
            <a:ext cx="1473200" cy="1373188"/>
          </a:xfrm>
          <a:prstGeom prst="rect">
            <a:avLst/>
          </a:prstGeom>
          <a:noFill/>
        </p:spPr>
      </p:pic>
      <p:pic>
        <p:nvPicPr>
          <p:cNvPr id="20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2" r="13430"/>
          <a:stretch/>
        </p:blipFill>
        <p:spPr>
          <a:xfrm>
            <a:off x="7835900" y="4387850"/>
            <a:ext cx="1473200" cy="1373188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1FEBA5-69C3-F43A-D61B-058A926BF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837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3740" y="1878292"/>
            <a:ext cx="6687184" cy="283019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55600" indent="-342900">
              <a:spcBef>
                <a:spcPts val="1060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</a:tabLst>
            </a:pP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4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sz="4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solutions</a:t>
            </a:r>
            <a:endParaRPr sz="40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355600" indent="-342900">
              <a:spcBef>
                <a:spcPts val="960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</a:tabLst>
            </a:pP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Hardware based</a:t>
            </a:r>
            <a:r>
              <a:rPr sz="4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solutions</a:t>
            </a:r>
            <a:endParaRPr sz="40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355600" marR="425450" indent="-342900">
              <a:spcBef>
                <a:spcPts val="965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</a:tabLst>
            </a:pP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Operating</a:t>
            </a:r>
            <a:r>
              <a:rPr sz="4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sz="4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based </a:t>
            </a:r>
            <a:r>
              <a:rPr sz="4000" b="1" spc="-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solution</a:t>
            </a:r>
            <a:endParaRPr sz="4000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70281" y="452719"/>
            <a:ext cx="9407173" cy="774571"/>
          </a:xfrm>
          <a:prstGeom prst="rect">
            <a:avLst/>
          </a:prstGeom>
        </p:spPr>
        <p:txBody>
          <a:bodyPr vert="horz" wrap="square" lIns="0" tIns="127000" rIns="0" bIns="0" rtlCol="0" anchor="t">
            <a:spAutoFit/>
          </a:bodyPr>
          <a:lstStyle/>
          <a:p>
            <a:pPr marL="2600960" marR="5080" indent="-2501900">
              <a:spcBef>
                <a:spcPts val="100"/>
              </a:spcBef>
            </a:pPr>
            <a:r>
              <a:rPr spc="-5" dirty="0"/>
              <a:t>Solution</a:t>
            </a:r>
            <a:r>
              <a:rPr spc="-25" dirty="0"/>
              <a:t> </a:t>
            </a:r>
            <a:r>
              <a:rPr dirty="0"/>
              <a:t>of</a:t>
            </a:r>
            <a:r>
              <a:rPr spc="254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Critical </a:t>
            </a:r>
            <a:r>
              <a:rPr spc="-1655" dirty="0"/>
              <a:t> </a:t>
            </a:r>
            <a:r>
              <a:rPr spc="10" dirty="0"/>
              <a:t>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95986-BC80-4C74-A3A6-7E698DB4E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388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3740" y="1878292"/>
            <a:ext cx="6687184" cy="283019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55600" indent="-342900">
              <a:spcBef>
                <a:spcPts val="1060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</a:tabLst>
            </a:pP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4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sz="4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solutions</a:t>
            </a:r>
            <a:endParaRPr sz="40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355600" indent="-342900">
              <a:spcBef>
                <a:spcPts val="960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</a:tabLst>
            </a:pP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Hardware based</a:t>
            </a:r>
            <a:r>
              <a:rPr sz="4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solutions</a:t>
            </a:r>
            <a:endParaRPr sz="40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355600" marR="425450" indent="-342900">
              <a:spcBef>
                <a:spcPts val="965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</a:tabLst>
            </a:pP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Operating</a:t>
            </a:r>
            <a:r>
              <a:rPr sz="4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sz="4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based </a:t>
            </a:r>
            <a:r>
              <a:rPr sz="4000" b="1" spc="-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solution</a:t>
            </a:r>
            <a:endParaRPr sz="4000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70281" y="452719"/>
            <a:ext cx="9407173" cy="774571"/>
          </a:xfrm>
          <a:prstGeom prst="rect">
            <a:avLst/>
          </a:prstGeom>
        </p:spPr>
        <p:txBody>
          <a:bodyPr vert="horz" wrap="square" lIns="0" tIns="127000" rIns="0" bIns="0" rtlCol="0" anchor="t">
            <a:spAutoFit/>
          </a:bodyPr>
          <a:lstStyle/>
          <a:p>
            <a:pPr marL="2600960" marR="5080" indent="-2501900">
              <a:spcBef>
                <a:spcPts val="100"/>
              </a:spcBef>
            </a:pPr>
            <a:r>
              <a:rPr spc="-5" dirty="0"/>
              <a:t>Solution</a:t>
            </a:r>
            <a:r>
              <a:rPr spc="-25" dirty="0"/>
              <a:t> </a:t>
            </a:r>
            <a:r>
              <a:rPr dirty="0"/>
              <a:t>of</a:t>
            </a:r>
            <a:r>
              <a:rPr spc="254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Critical </a:t>
            </a:r>
            <a:r>
              <a:rPr spc="-1655" dirty="0"/>
              <a:t> </a:t>
            </a:r>
            <a:r>
              <a:rPr spc="10" dirty="0"/>
              <a:t>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B446A-2648-8370-9023-78DA6D65C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439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9940" y="1330198"/>
            <a:ext cx="9842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sz="40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{</a:t>
            </a:r>
            <a:endParaRPr sz="4000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88994" y="3037458"/>
            <a:ext cx="35826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critical</a:t>
            </a:r>
            <a:r>
              <a:rPr sz="4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section</a:t>
            </a:r>
            <a:endParaRPr sz="4000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9941" y="4500575"/>
            <a:ext cx="6229985" cy="1732280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1841500">
              <a:spcBef>
                <a:spcPts val="2020"/>
              </a:spcBef>
            </a:pP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remainder</a:t>
            </a:r>
            <a:r>
              <a:rPr sz="4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section</a:t>
            </a:r>
            <a:endParaRPr sz="40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12700">
              <a:spcBef>
                <a:spcPts val="1920"/>
              </a:spcBef>
            </a:pP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}</a:t>
            </a:r>
            <a:r>
              <a:rPr sz="4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while</a:t>
            </a:r>
            <a:r>
              <a:rPr sz="4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FFFFFF"/>
                </a:solidFill>
                <a:latin typeface="Arial"/>
                <a:cs typeface="Arial"/>
              </a:rPr>
              <a:t>(1);</a:t>
            </a:r>
            <a:endParaRPr sz="4000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24238" y="2128838"/>
            <a:ext cx="3286125" cy="695325"/>
            <a:chOff x="1900237" y="2128837"/>
            <a:chExt cx="3286125" cy="695325"/>
          </a:xfrm>
        </p:grpSpPr>
        <p:sp>
          <p:nvSpPr>
            <p:cNvPr id="6" name="object 6"/>
            <p:cNvSpPr/>
            <p:nvPr/>
          </p:nvSpPr>
          <p:spPr>
            <a:xfrm>
              <a:off x="1905000" y="2133600"/>
              <a:ext cx="3276600" cy="685800"/>
            </a:xfrm>
            <a:custGeom>
              <a:avLst/>
              <a:gdLst/>
              <a:ahLst/>
              <a:cxnLst/>
              <a:rect l="l" t="t" r="r" b="b"/>
              <a:pathLst>
                <a:path w="3276600" h="685800">
                  <a:moveTo>
                    <a:pt x="32766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3276600" y="685800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 dirty="0">
                <a:solidFill>
                  <a:prstClr val="white"/>
                </a:solidFill>
                <a:latin typeface="Century Gothic" panose="020B0502020202020204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905000" y="2133600"/>
              <a:ext cx="3276600" cy="685800"/>
            </a:xfrm>
            <a:custGeom>
              <a:avLst/>
              <a:gdLst/>
              <a:ahLst/>
              <a:cxnLst/>
              <a:rect l="l" t="t" r="r" b="b"/>
              <a:pathLst>
                <a:path w="3276600" h="685800">
                  <a:moveTo>
                    <a:pt x="0" y="685800"/>
                  </a:moveTo>
                  <a:lnTo>
                    <a:pt x="3276600" y="685800"/>
                  </a:lnTo>
                  <a:lnTo>
                    <a:pt x="327660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solidFill>
                  <a:prstClr val="white"/>
                </a:solidFill>
                <a:latin typeface="Century Gothic" panose="020B0502020202020204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29000" y="2133601"/>
            <a:ext cx="3276600" cy="6110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15265">
              <a:spcBef>
                <a:spcPts val="445"/>
              </a:spcBef>
            </a:pPr>
            <a:r>
              <a:rPr sz="3600" b="1" spc="-5" dirty="0">
                <a:solidFill>
                  <a:prstClr val="white"/>
                </a:solidFill>
                <a:latin typeface="Arial"/>
                <a:cs typeface="Arial"/>
              </a:rPr>
              <a:t>entry</a:t>
            </a:r>
            <a:r>
              <a:rPr sz="3600" b="1" spc="-20" dirty="0">
                <a:solidFill>
                  <a:prstClr val="white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prstClr val="white"/>
                </a:solidFill>
                <a:latin typeface="Arial"/>
                <a:cs typeface="Arial"/>
              </a:rPr>
              <a:t>section</a:t>
            </a:r>
            <a:endParaRPr sz="3600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348038" y="3805238"/>
            <a:ext cx="3057525" cy="695325"/>
            <a:chOff x="1824037" y="3805237"/>
            <a:chExt cx="3057525" cy="695325"/>
          </a:xfrm>
        </p:grpSpPr>
        <p:sp>
          <p:nvSpPr>
            <p:cNvPr id="10" name="object 10"/>
            <p:cNvSpPr/>
            <p:nvPr/>
          </p:nvSpPr>
          <p:spPr>
            <a:xfrm>
              <a:off x="1828800" y="3810000"/>
              <a:ext cx="3048000" cy="685800"/>
            </a:xfrm>
            <a:custGeom>
              <a:avLst/>
              <a:gdLst/>
              <a:ahLst/>
              <a:cxnLst/>
              <a:rect l="l" t="t" r="r" b="b"/>
              <a:pathLst>
                <a:path w="3048000" h="685800">
                  <a:moveTo>
                    <a:pt x="30480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3048000" y="685800"/>
                  </a:lnTo>
                  <a:lnTo>
                    <a:pt x="30480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 dirty="0">
                <a:solidFill>
                  <a:prstClr val="white"/>
                </a:solidFill>
                <a:latin typeface="Century Gothic" panose="020B0502020202020204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828800" y="3810000"/>
              <a:ext cx="3048000" cy="685800"/>
            </a:xfrm>
            <a:custGeom>
              <a:avLst/>
              <a:gdLst/>
              <a:ahLst/>
              <a:cxnLst/>
              <a:rect l="l" t="t" r="r" b="b"/>
              <a:pathLst>
                <a:path w="3048000" h="685800">
                  <a:moveTo>
                    <a:pt x="0" y="685800"/>
                  </a:moveTo>
                  <a:lnTo>
                    <a:pt x="3048000" y="685800"/>
                  </a:lnTo>
                  <a:lnTo>
                    <a:pt x="304800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solidFill>
                  <a:prstClr val="white"/>
                </a:solidFill>
                <a:latin typeface="Century Gothic" panose="020B0502020202020204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52800" y="3810001"/>
            <a:ext cx="3048000" cy="588623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94005">
              <a:spcBef>
                <a:spcPts val="270"/>
              </a:spcBef>
            </a:pPr>
            <a:r>
              <a:rPr sz="3600" b="1" spc="-5" dirty="0">
                <a:solidFill>
                  <a:prstClr val="white"/>
                </a:solidFill>
                <a:latin typeface="Arial"/>
                <a:cs typeface="Arial"/>
              </a:rPr>
              <a:t>exit</a:t>
            </a:r>
            <a:r>
              <a:rPr sz="3600" b="1" spc="-25" dirty="0">
                <a:solidFill>
                  <a:prstClr val="white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prstClr val="white"/>
                </a:solidFill>
                <a:latin typeface="Arial"/>
                <a:cs typeface="Arial"/>
              </a:rPr>
              <a:t>section</a:t>
            </a:r>
            <a:endParaRPr sz="3600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429663" y="235966"/>
            <a:ext cx="7332345" cy="6591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pc="25" dirty="0"/>
              <a:t>Structure</a:t>
            </a:r>
            <a:r>
              <a:rPr spc="-30" dirty="0"/>
              <a:t> </a:t>
            </a:r>
            <a:r>
              <a:rPr spc="5" dirty="0"/>
              <a:t>of</a:t>
            </a:r>
            <a:r>
              <a:rPr spc="254" dirty="0"/>
              <a:t> </a:t>
            </a:r>
            <a:r>
              <a:rPr dirty="0"/>
              <a:t>Solution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1E741D0-A610-FB6E-37FB-ECB573D0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18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23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5966" y="525289"/>
            <a:ext cx="10865461" cy="836383"/>
          </a:xfrm>
          <a:prstGeom prst="rect">
            <a:avLst/>
          </a:prstGeom>
        </p:spPr>
        <p:txBody>
          <a:bodyPr vert="horz" wrap="square" lIns="0" tIns="188214" rIns="0" bIns="0" rtlCol="0" anchor="t">
            <a:spAutoFit/>
          </a:bodyPr>
          <a:lstStyle/>
          <a:p>
            <a:pPr marL="1175385" marR="5080" indent="-510540">
              <a:spcBef>
                <a:spcPts val="100"/>
              </a:spcBef>
            </a:pPr>
            <a:r>
              <a:rPr spc="-5" dirty="0"/>
              <a:t>Solution </a:t>
            </a:r>
            <a:r>
              <a:rPr dirty="0"/>
              <a:t>to </a:t>
            </a:r>
            <a:r>
              <a:rPr spc="-5" dirty="0"/>
              <a:t>Critical- </a:t>
            </a:r>
            <a:r>
              <a:rPr spc="-1655" dirty="0"/>
              <a:t> </a:t>
            </a:r>
            <a:r>
              <a:rPr spc="-5" dirty="0"/>
              <a:t>Section</a:t>
            </a:r>
            <a:r>
              <a:rPr spc="-20" dirty="0"/>
              <a:t> </a:t>
            </a:r>
            <a:r>
              <a:rPr spc="-5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31341" y="1816419"/>
            <a:ext cx="8486775" cy="430593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622300" indent="-610235">
              <a:spcBef>
                <a:spcPts val="965"/>
              </a:spcBef>
              <a:buClr>
                <a:srgbClr val="FFFF66"/>
              </a:buClr>
              <a:buFont typeface="Wingdings"/>
              <a:buChar char=""/>
              <a:tabLst>
                <a:tab pos="622300" algn="l"/>
                <a:tab pos="622935" algn="l"/>
              </a:tabLst>
            </a:pP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2-Process</a:t>
            </a:r>
            <a:r>
              <a:rPr sz="3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Critical</a:t>
            </a:r>
            <a:r>
              <a:rPr sz="36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Section</a:t>
            </a:r>
            <a:r>
              <a:rPr sz="3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endParaRPr sz="36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622300" indent="-610235">
              <a:spcBef>
                <a:spcPts val="865"/>
              </a:spcBef>
              <a:buClr>
                <a:srgbClr val="FFFF66"/>
              </a:buClr>
              <a:buFont typeface="Wingdings"/>
              <a:buChar char=""/>
              <a:tabLst>
                <a:tab pos="622300" algn="l"/>
                <a:tab pos="622935" algn="l"/>
              </a:tabLst>
            </a:pPr>
            <a:r>
              <a:rPr sz="3600" b="1" spc="-5" dirty="0">
                <a:solidFill>
                  <a:srgbClr val="FFFFFF"/>
                </a:solidFill>
                <a:latin typeface="Arial"/>
                <a:cs typeface="Arial"/>
              </a:rPr>
              <a:t>N-Process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Arial"/>
                <a:cs typeface="Arial"/>
              </a:rPr>
              <a:t>Critical</a:t>
            </a:r>
            <a:r>
              <a:rPr sz="36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Section</a:t>
            </a:r>
            <a:r>
              <a:rPr sz="36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endParaRPr sz="36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622300" indent="-610235">
              <a:spcBef>
                <a:spcPts val="865"/>
              </a:spcBef>
              <a:buClr>
                <a:srgbClr val="FFFF66"/>
              </a:buClr>
              <a:buFont typeface="Wingdings"/>
              <a:buChar char=""/>
              <a:tabLst>
                <a:tab pos="622300" algn="l"/>
                <a:tab pos="622935" algn="l"/>
              </a:tabLst>
            </a:pPr>
            <a:r>
              <a:rPr sz="3600" b="1" spc="-5" dirty="0">
                <a:solidFill>
                  <a:srgbClr val="FFFFFF"/>
                </a:solidFill>
                <a:latin typeface="Arial"/>
                <a:cs typeface="Arial"/>
              </a:rPr>
              <a:t>Conditions</a:t>
            </a:r>
            <a:r>
              <a:rPr sz="3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36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6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Arial"/>
                <a:cs typeface="Arial"/>
              </a:rPr>
              <a:t>good</a:t>
            </a:r>
            <a:r>
              <a:rPr sz="3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Arial"/>
                <a:cs typeface="Arial"/>
              </a:rPr>
              <a:t>solution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endParaRPr sz="36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1003300" marR="5080" lvl="1" indent="-534035">
              <a:spcBef>
                <a:spcPts val="865"/>
              </a:spcBef>
              <a:buClr>
                <a:srgbClr val="FFFF66"/>
              </a:buClr>
              <a:buFontTx/>
              <a:buAutoNum type="arabicPeriod"/>
              <a:tabLst>
                <a:tab pos="1003935" algn="l"/>
                <a:tab pos="5143500" algn="l"/>
              </a:tabLst>
            </a:pP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Mutual</a:t>
            </a:r>
            <a:r>
              <a:rPr sz="36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Arial"/>
                <a:cs typeface="Arial"/>
              </a:rPr>
              <a:t>Exclusion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:	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If 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process 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is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executing in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its 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critical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section, 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then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 no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other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processes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executing </a:t>
            </a:r>
            <a:r>
              <a:rPr sz="3600" spc="-9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in their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critical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 sections.</a:t>
            </a:r>
            <a:endParaRPr sz="36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DA4F2-2C50-EA67-A52E-76C95D64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719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6280" y="452718"/>
            <a:ext cx="10979663" cy="744768"/>
          </a:xfrm>
          <a:prstGeom prst="rect">
            <a:avLst/>
          </a:prstGeom>
        </p:spPr>
        <p:txBody>
          <a:bodyPr vert="horz" wrap="square" lIns="0" tIns="97485" rIns="0" bIns="0" rtlCol="0" anchor="t">
            <a:spAutoFit/>
          </a:bodyPr>
          <a:lstStyle/>
          <a:p>
            <a:pPr marL="1175385" marR="5080" indent="-510540">
              <a:spcBef>
                <a:spcPts val="105"/>
              </a:spcBef>
            </a:pPr>
            <a:r>
              <a:rPr spc="-5" dirty="0"/>
              <a:t>Solution</a:t>
            </a:r>
            <a:r>
              <a:rPr spc="-4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Critical- </a:t>
            </a:r>
            <a:r>
              <a:rPr spc="-1650" dirty="0"/>
              <a:t> </a:t>
            </a:r>
            <a:r>
              <a:rPr spc="-5" dirty="0"/>
              <a:t>Section</a:t>
            </a:r>
            <a:r>
              <a:rPr spc="-25" dirty="0"/>
              <a:t> </a:t>
            </a:r>
            <a:r>
              <a:rPr spc="-5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31341" y="1573733"/>
            <a:ext cx="8514715" cy="502539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622300" marR="5080" indent="-610235" algn="just">
              <a:lnSpc>
                <a:spcPct val="80000"/>
              </a:lnSpc>
              <a:spcBef>
                <a:spcPts val="1055"/>
              </a:spcBef>
              <a:tabLst>
                <a:tab pos="3247390" algn="l"/>
              </a:tabLst>
            </a:pPr>
            <a:r>
              <a:rPr sz="4000" b="1" spc="-5" dirty="0">
                <a:solidFill>
                  <a:srgbClr val="FFFF66"/>
                </a:solidFill>
                <a:latin typeface="Arial"/>
                <a:cs typeface="Arial"/>
              </a:rPr>
              <a:t>2.</a:t>
            </a:r>
            <a:r>
              <a:rPr sz="4000" b="1" spc="365" dirty="0">
                <a:solidFill>
                  <a:srgbClr val="FFFF66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Progress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:	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If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process is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executing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in its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critical section and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some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processes</a:t>
            </a:r>
            <a:r>
              <a:rPr sz="4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wish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enter</a:t>
            </a:r>
            <a:r>
              <a:rPr sz="4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their </a:t>
            </a:r>
            <a:r>
              <a:rPr sz="4000" spc="-1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critical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 sections,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then only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those 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processes</a:t>
            </a:r>
            <a:r>
              <a:rPr sz="4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that are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4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executing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in </a:t>
            </a:r>
            <a:r>
              <a:rPr sz="4000" spc="-1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their</a:t>
            </a:r>
            <a:r>
              <a:rPr sz="40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remainder</a:t>
            </a:r>
            <a:r>
              <a:rPr sz="400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sections</a:t>
            </a:r>
            <a:r>
              <a:rPr sz="40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can 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decide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4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will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enter</a:t>
            </a:r>
            <a:r>
              <a:rPr sz="40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its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critical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section next,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this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decision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cannot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4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postponed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indefinitely.</a:t>
            </a:r>
            <a:endParaRPr sz="40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ABB44-6B8A-2E0C-0B84-761307BBE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20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989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485" rIns="0" bIns="0" rtlCol="0" anchor="t">
            <a:spAutoFit/>
          </a:bodyPr>
          <a:lstStyle/>
          <a:p>
            <a:pPr marL="1175385" marR="5080" indent="-510540">
              <a:spcBef>
                <a:spcPts val="105"/>
              </a:spcBef>
            </a:pPr>
            <a:r>
              <a:rPr spc="-5" dirty="0"/>
              <a:t>Solution</a:t>
            </a:r>
            <a:r>
              <a:rPr spc="-4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Critical- </a:t>
            </a:r>
            <a:r>
              <a:rPr spc="-1650" dirty="0"/>
              <a:t> </a:t>
            </a:r>
            <a:r>
              <a:rPr spc="-5" dirty="0"/>
              <a:t>Section</a:t>
            </a:r>
            <a:r>
              <a:rPr spc="-25" dirty="0"/>
              <a:t> </a:t>
            </a:r>
            <a:r>
              <a:rPr spc="-5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31341" y="1848435"/>
            <a:ext cx="8364855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2300" marR="5080" indent="-610235" algn="just">
              <a:spcBef>
                <a:spcPts val="95"/>
              </a:spcBef>
              <a:tabLst>
                <a:tab pos="5217795" algn="l"/>
              </a:tabLst>
            </a:pPr>
            <a:r>
              <a:rPr sz="4000" b="1" spc="-5" dirty="0">
                <a:solidFill>
                  <a:srgbClr val="FFFF66"/>
                </a:solidFill>
                <a:latin typeface="Arial"/>
                <a:cs typeface="Arial"/>
              </a:rPr>
              <a:t>3.</a:t>
            </a:r>
            <a:r>
              <a:rPr sz="4000" b="1" spc="380" dirty="0">
                <a:solidFill>
                  <a:srgbClr val="FFFF66"/>
                </a:solidFill>
                <a:latin typeface="Arial"/>
                <a:cs typeface="Arial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Arial"/>
                <a:cs typeface="Arial"/>
              </a:rPr>
              <a:t>Bounded</a:t>
            </a:r>
            <a:r>
              <a:rPr sz="40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Arial"/>
                <a:cs typeface="Arial"/>
              </a:rPr>
              <a:t>Waiting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:	A</a:t>
            </a:r>
            <a:r>
              <a:rPr sz="4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bound</a:t>
            </a:r>
            <a:r>
              <a:rPr sz="4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must </a:t>
            </a:r>
            <a:r>
              <a:rPr sz="4000" spc="-10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exist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on the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number</a:t>
            </a:r>
            <a:r>
              <a:rPr sz="40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of times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that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other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processes</a:t>
            </a:r>
            <a:r>
              <a:rPr sz="4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allowed</a:t>
            </a:r>
            <a:r>
              <a:rPr sz="4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enter</a:t>
            </a:r>
            <a:r>
              <a:rPr sz="4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their</a:t>
            </a:r>
            <a:r>
              <a:rPr sz="4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critical sections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after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 a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has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made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a request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enter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its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critical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section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before </a:t>
            </a:r>
            <a:r>
              <a:rPr sz="4000" spc="-10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request</a:t>
            </a:r>
            <a:r>
              <a:rPr sz="4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granted.</a:t>
            </a:r>
            <a:endParaRPr sz="40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7A0F6-E657-1901-D1DF-D09A068AB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21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446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9885" y="235966"/>
            <a:ext cx="6410960" cy="6591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Possible</a:t>
            </a:r>
            <a:r>
              <a:rPr spc="-85" dirty="0"/>
              <a:t> </a:t>
            </a:r>
            <a:r>
              <a:rPr spc="-5" dirty="0"/>
              <a:t>Solutions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31340" y="1049782"/>
            <a:ext cx="7988934" cy="224790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spcBef>
                <a:spcPts val="530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  <a:tab pos="1929764" algn="l"/>
              </a:tabLst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Only 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2	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processes,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P0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P1</a:t>
            </a:r>
            <a:endParaRPr sz="36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355600" marR="5080" indent="-342900">
              <a:lnSpc>
                <a:spcPct val="75100"/>
              </a:lnSpc>
              <a:spcBef>
                <a:spcPts val="1510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</a:tabLst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Processes may 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share some common </a:t>
            </a:r>
            <a:r>
              <a:rPr sz="3600" spc="-9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variables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synchronize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their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actions.</a:t>
            </a:r>
            <a:endParaRPr sz="36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355600" indent="-342900">
              <a:spcBef>
                <a:spcPts val="430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</a:tabLst>
            </a:pP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General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structure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 of 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Pi</a:t>
            </a:r>
            <a:endParaRPr sz="36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29000" y="3352800"/>
            <a:ext cx="5486400" cy="3129062"/>
          </a:xfrm>
          <a:prstGeom prst="rect">
            <a:avLst/>
          </a:prstGeom>
          <a:ln w="28575">
            <a:solidFill>
              <a:srgbClr val="FFCC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3840">
              <a:lnSpc>
                <a:spcPts val="3695"/>
              </a:lnSpc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3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{</a:t>
            </a:r>
            <a:endParaRPr sz="32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2073275" marR="177800">
              <a:lnSpc>
                <a:spcPts val="8450"/>
              </a:lnSpc>
              <a:spcBef>
                <a:spcPts val="520"/>
              </a:spcBef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critical section </a:t>
            </a:r>
            <a:r>
              <a:rPr sz="3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 MT"/>
                <a:cs typeface="Arial MT"/>
              </a:rPr>
              <a:t>remainder</a:t>
            </a:r>
            <a:r>
              <a:rPr sz="32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section</a:t>
            </a:r>
            <a:endParaRPr sz="32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243840">
              <a:lnSpc>
                <a:spcPts val="3175"/>
              </a:lnSpc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}</a:t>
            </a: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 MT"/>
                <a:cs typeface="Arial MT"/>
              </a:rPr>
              <a:t>while</a:t>
            </a: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 MT"/>
                <a:cs typeface="Arial MT"/>
              </a:rPr>
              <a:t>(1);</a:t>
            </a:r>
            <a:endParaRPr sz="32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95838" y="3881438"/>
            <a:ext cx="2600325" cy="542925"/>
            <a:chOff x="3271837" y="3881437"/>
            <a:chExt cx="2600325" cy="542925"/>
          </a:xfrm>
        </p:grpSpPr>
        <p:sp>
          <p:nvSpPr>
            <p:cNvPr id="6" name="object 6"/>
            <p:cNvSpPr/>
            <p:nvPr/>
          </p:nvSpPr>
          <p:spPr>
            <a:xfrm>
              <a:off x="3276600" y="3886200"/>
              <a:ext cx="2590800" cy="533400"/>
            </a:xfrm>
            <a:custGeom>
              <a:avLst/>
              <a:gdLst/>
              <a:ahLst/>
              <a:cxnLst/>
              <a:rect l="l" t="t" r="r" b="b"/>
              <a:pathLst>
                <a:path w="2590800" h="533400">
                  <a:moveTo>
                    <a:pt x="25908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2590800" y="5334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 dirty="0">
                <a:solidFill>
                  <a:prstClr val="white"/>
                </a:solidFill>
                <a:latin typeface="Century Gothic" panose="020B0502020202020204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276600" y="3886200"/>
              <a:ext cx="2590800" cy="533400"/>
            </a:xfrm>
            <a:custGeom>
              <a:avLst/>
              <a:gdLst/>
              <a:ahLst/>
              <a:cxnLst/>
              <a:rect l="l" t="t" r="r" b="b"/>
              <a:pathLst>
                <a:path w="2590800" h="533400">
                  <a:moveTo>
                    <a:pt x="0" y="533400"/>
                  </a:moveTo>
                  <a:lnTo>
                    <a:pt x="2590800" y="533400"/>
                  </a:lnTo>
                  <a:lnTo>
                    <a:pt x="25908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solidFill>
                  <a:prstClr val="white"/>
                </a:solidFill>
                <a:latin typeface="Century Gothic" panose="020B0502020202020204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00600" y="3886201"/>
            <a:ext cx="2590800" cy="475771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88595">
              <a:spcBef>
                <a:spcPts val="350"/>
              </a:spcBef>
            </a:pPr>
            <a:r>
              <a:rPr sz="2800" b="1" spc="-5" dirty="0">
                <a:solidFill>
                  <a:prstClr val="white"/>
                </a:solidFill>
                <a:latin typeface="Arial"/>
                <a:cs typeface="Arial"/>
              </a:rPr>
              <a:t>entry</a:t>
            </a:r>
            <a:r>
              <a:rPr sz="2800" b="1" spc="-20" dirty="0">
                <a:solidFill>
                  <a:prstClr val="white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prstClr val="white"/>
                </a:solidFill>
                <a:latin typeface="Arial"/>
                <a:cs typeface="Arial"/>
              </a:rPr>
              <a:t>section</a:t>
            </a:r>
            <a:endParaRPr sz="2800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795838" y="4948238"/>
            <a:ext cx="2600325" cy="542925"/>
            <a:chOff x="3271837" y="4948237"/>
            <a:chExt cx="2600325" cy="542925"/>
          </a:xfrm>
        </p:grpSpPr>
        <p:sp>
          <p:nvSpPr>
            <p:cNvPr id="10" name="object 10"/>
            <p:cNvSpPr/>
            <p:nvPr/>
          </p:nvSpPr>
          <p:spPr>
            <a:xfrm>
              <a:off x="3276600" y="4953000"/>
              <a:ext cx="2590800" cy="533400"/>
            </a:xfrm>
            <a:custGeom>
              <a:avLst/>
              <a:gdLst/>
              <a:ahLst/>
              <a:cxnLst/>
              <a:rect l="l" t="t" r="r" b="b"/>
              <a:pathLst>
                <a:path w="2590800" h="533400">
                  <a:moveTo>
                    <a:pt x="25908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2590800" y="5334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 dirty="0">
                <a:solidFill>
                  <a:prstClr val="white"/>
                </a:solidFill>
                <a:latin typeface="Century Gothic" panose="020B0502020202020204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276600" y="4953000"/>
              <a:ext cx="2590800" cy="533400"/>
            </a:xfrm>
            <a:custGeom>
              <a:avLst/>
              <a:gdLst/>
              <a:ahLst/>
              <a:cxnLst/>
              <a:rect l="l" t="t" r="r" b="b"/>
              <a:pathLst>
                <a:path w="2590800" h="533400">
                  <a:moveTo>
                    <a:pt x="0" y="533400"/>
                  </a:moveTo>
                  <a:lnTo>
                    <a:pt x="2590800" y="533400"/>
                  </a:lnTo>
                  <a:lnTo>
                    <a:pt x="25908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solidFill>
                  <a:prstClr val="white"/>
                </a:solidFill>
                <a:latin typeface="Century Gothic" panose="020B0502020202020204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800600" y="4953000"/>
            <a:ext cx="2590800" cy="476412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16230">
              <a:spcBef>
                <a:spcPts val="355"/>
              </a:spcBef>
            </a:pPr>
            <a:r>
              <a:rPr sz="2800" b="1" dirty="0">
                <a:solidFill>
                  <a:prstClr val="white"/>
                </a:solidFill>
                <a:latin typeface="Arial"/>
                <a:cs typeface="Arial"/>
              </a:rPr>
              <a:t>exit</a:t>
            </a:r>
            <a:r>
              <a:rPr sz="2800" b="1" spc="-45" dirty="0">
                <a:solidFill>
                  <a:prstClr val="white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prstClr val="white"/>
                </a:solidFill>
                <a:latin typeface="Arial"/>
                <a:cs typeface="Arial"/>
              </a:rPr>
              <a:t>section</a:t>
            </a:r>
            <a:endParaRPr sz="2800" dirty="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9212284-2557-51FE-9346-AE159883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22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885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1667" y="212801"/>
            <a:ext cx="7268845" cy="659796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25" dirty="0"/>
              <a:t>Peterson’s</a:t>
            </a:r>
            <a:r>
              <a:rPr spc="-50" dirty="0"/>
              <a:t> </a:t>
            </a:r>
            <a:r>
              <a:rPr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7540" y="1389634"/>
            <a:ext cx="7796530" cy="2977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spcBef>
                <a:spcPts val="105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</a:tabLst>
            </a:pP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Combined</a:t>
            </a:r>
            <a:r>
              <a:rPr sz="4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shared</a:t>
            </a:r>
            <a:r>
              <a:rPr sz="4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variables</a:t>
            </a:r>
            <a:r>
              <a:rPr sz="4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of </a:t>
            </a:r>
            <a:r>
              <a:rPr sz="4400" spc="-12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algorithms</a:t>
            </a:r>
            <a:r>
              <a:rPr sz="4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4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2.</a:t>
            </a:r>
            <a:endParaRPr sz="44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355600" indent="-342900">
              <a:spcBef>
                <a:spcPts val="1055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  <a:tab pos="4491990" algn="l"/>
              </a:tabLst>
            </a:pP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boolean</a:t>
            </a:r>
            <a:r>
              <a:rPr sz="4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flag[2];	//</a:t>
            </a:r>
            <a:r>
              <a:rPr sz="4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Set</a:t>
            </a:r>
            <a:r>
              <a:rPr sz="4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4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false</a:t>
            </a:r>
            <a:endParaRPr sz="44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355600" indent="-342900">
              <a:spcBef>
                <a:spcPts val="1060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</a:tabLst>
            </a:pP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int</a:t>
            </a:r>
            <a:r>
              <a:rPr sz="4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turn=0;</a:t>
            </a:r>
            <a:endParaRPr sz="44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710D8-2987-9DEE-0D6D-C0D0B3529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23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107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1667" y="197866"/>
            <a:ext cx="7268845" cy="6591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5" dirty="0"/>
              <a:t>Peterson’s</a:t>
            </a:r>
            <a:r>
              <a:rPr spc="-50" dirty="0"/>
              <a:t> </a:t>
            </a:r>
            <a:r>
              <a:rPr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7540" y="1070204"/>
            <a:ext cx="2400300" cy="11474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11150" indent="-299085">
              <a:spcBef>
                <a:spcPts val="675"/>
              </a:spcBef>
              <a:buClr>
                <a:srgbClr val="FFFF66"/>
              </a:buClr>
              <a:buFont typeface="Wingdings"/>
              <a:buChar char=""/>
              <a:tabLst>
                <a:tab pos="311785" algn="l"/>
              </a:tabLst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r>
              <a:rPr sz="32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Pi</a:t>
            </a:r>
            <a:endParaRPr sz="3200" dirty="0">
              <a:solidFill>
                <a:prstClr val="white"/>
              </a:solidFill>
              <a:latin typeface="Arial"/>
              <a:cs typeface="Arial"/>
            </a:endParaRPr>
          </a:p>
          <a:p>
            <a:pPr marL="927100">
              <a:spcBef>
                <a:spcPts val="575"/>
              </a:spcBef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{</a:t>
            </a:r>
            <a:endParaRPr sz="32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5775" y="3947541"/>
            <a:ext cx="25781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critical</a:t>
            </a:r>
            <a:r>
              <a:rPr sz="32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section</a:t>
            </a:r>
            <a:endParaRPr sz="32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2194" y="5067199"/>
            <a:ext cx="5996940" cy="11474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755900">
              <a:spcBef>
                <a:spcPts val="675"/>
              </a:spcBef>
            </a:pPr>
            <a:r>
              <a:rPr sz="3200" spc="-5" dirty="0">
                <a:solidFill>
                  <a:srgbClr val="FFFFFF"/>
                </a:solidFill>
                <a:latin typeface="Arial MT"/>
                <a:cs typeface="Arial MT"/>
              </a:rPr>
              <a:t>remainder</a:t>
            </a:r>
            <a:r>
              <a:rPr sz="32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section</a:t>
            </a:r>
            <a:endParaRPr sz="32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12700">
              <a:spcBef>
                <a:spcPts val="575"/>
              </a:spcBef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}</a:t>
            </a: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 MT"/>
                <a:cs typeface="Arial MT"/>
              </a:rPr>
              <a:t>while</a:t>
            </a: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 MT"/>
                <a:cs typeface="Arial MT"/>
              </a:rPr>
              <a:t>(1);</a:t>
            </a:r>
            <a:endParaRPr sz="32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719513" y="2195513"/>
            <a:ext cx="5972175" cy="1781175"/>
            <a:chOff x="2195512" y="2195512"/>
            <a:chExt cx="5972175" cy="1781175"/>
          </a:xfrm>
        </p:grpSpPr>
        <p:sp>
          <p:nvSpPr>
            <p:cNvPr id="7" name="object 7"/>
            <p:cNvSpPr/>
            <p:nvPr/>
          </p:nvSpPr>
          <p:spPr>
            <a:xfrm>
              <a:off x="2209800" y="2209800"/>
              <a:ext cx="5943600" cy="1752600"/>
            </a:xfrm>
            <a:custGeom>
              <a:avLst/>
              <a:gdLst/>
              <a:ahLst/>
              <a:cxnLst/>
              <a:rect l="l" t="t" r="r" b="b"/>
              <a:pathLst>
                <a:path w="5943600" h="1752600">
                  <a:moveTo>
                    <a:pt x="5943600" y="0"/>
                  </a:moveTo>
                  <a:lnTo>
                    <a:pt x="0" y="0"/>
                  </a:lnTo>
                  <a:lnTo>
                    <a:pt x="0" y="1752600"/>
                  </a:lnTo>
                  <a:lnTo>
                    <a:pt x="5943600" y="1752600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 dirty="0">
                <a:solidFill>
                  <a:prstClr val="white"/>
                </a:solidFill>
                <a:latin typeface="Century Gothic" panose="020B0502020202020204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209800" y="2209800"/>
              <a:ext cx="5943600" cy="1752600"/>
            </a:xfrm>
            <a:custGeom>
              <a:avLst/>
              <a:gdLst/>
              <a:ahLst/>
              <a:cxnLst/>
              <a:rect l="l" t="t" r="r" b="b"/>
              <a:pathLst>
                <a:path w="5943600" h="1752600">
                  <a:moveTo>
                    <a:pt x="0" y="1752600"/>
                  </a:moveTo>
                  <a:lnTo>
                    <a:pt x="5943600" y="1752600"/>
                  </a:lnTo>
                  <a:lnTo>
                    <a:pt x="5943600" y="0"/>
                  </a:lnTo>
                  <a:lnTo>
                    <a:pt x="0" y="0"/>
                  </a:lnTo>
                  <a:lnTo>
                    <a:pt x="0" y="17526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solidFill>
                  <a:prstClr val="white"/>
                </a:solidFill>
                <a:latin typeface="Century Gothic" panose="020B0502020202020204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733800" y="2209801"/>
            <a:ext cx="5943600" cy="1685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4000"/>
              </a:lnSpc>
            </a:pPr>
            <a:r>
              <a:rPr sz="3600" spc="-5" dirty="0">
                <a:solidFill>
                  <a:prstClr val="white"/>
                </a:solidFill>
                <a:latin typeface="Arial MT"/>
                <a:cs typeface="Arial MT"/>
              </a:rPr>
              <a:t>flag[</a:t>
            </a:r>
            <a:r>
              <a:rPr lang="en-US" sz="3600" spc="-5" dirty="0">
                <a:solidFill>
                  <a:prstClr val="white"/>
                </a:solidFill>
                <a:latin typeface="Arial MT"/>
                <a:cs typeface="Arial MT"/>
              </a:rPr>
              <a:t> </a:t>
            </a:r>
            <a:r>
              <a:rPr lang="en-US" sz="3600" spc="-5" dirty="0" err="1">
                <a:solidFill>
                  <a:prstClr val="white"/>
                </a:solidFill>
                <a:latin typeface="Arial MT"/>
                <a:cs typeface="Arial MT"/>
              </a:rPr>
              <a:t>i</a:t>
            </a:r>
            <a:r>
              <a:rPr lang="en-US" sz="3600" spc="-5" dirty="0">
                <a:solidFill>
                  <a:prstClr val="white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prstClr val="white"/>
                </a:solidFill>
                <a:latin typeface="Arial MT"/>
                <a:cs typeface="Arial MT"/>
              </a:rPr>
              <a:t>]</a:t>
            </a:r>
            <a:r>
              <a:rPr sz="3600" spc="-15" dirty="0">
                <a:solidFill>
                  <a:prstClr val="white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prstClr val="white"/>
                </a:solidFill>
                <a:latin typeface="Arial MT"/>
                <a:cs typeface="Arial MT"/>
              </a:rPr>
              <a:t>=</a:t>
            </a:r>
            <a:r>
              <a:rPr sz="3600" spc="-25" dirty="0">
                <a:solidFill>
                  <a:prstClr val="white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prstClr val="white"/>
                </a:solidFill>
                <a:latin typeface="Arial MT"/>
                <a:cs typeface="Arial MT"/>
              </a:rPr>
              <a:t>true;</a:t>
            </a:r>
            <a:endParaRPr sz="36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91440">
              <a:spcBef>
                <a:spcPts val="275"/>
              </a:spcBef>
            </a:pPr>
            <a:r>
              <a:rPr sz="3600" spc="-5" dirty="0">
                <a:solidFill>
                  <a:prstClr val="white"/>
                </a:solidFill>
                <a:latin typeface="Arial MT"/>
                <a:cs typeface="Arial MT"/>
              </a:rPr>
              <a:t>turn</a:t>
            </a:r>
            <a:r>
              <a:rPr sz="3600" spc="-30" dirty="0">
                <a:solidFill>
                  <a:prstClr val="white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prstClr val="white"/>
                </a:solidFill>
                <a:latin typeface="Arial MT"/>
                <a:cs typeface="Arial MT"/>
              </a:rPr>
              <a:t>=</a:t>
            </a:r>
            <a:r>
              <a:rPr sz="3600" spc="-25" dirty="0">
                <a:solidFill>
                  <a:prstClr val="white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prstClr val="white"/>
                </a:solidFill>
                <a:latin typeface="Arial MT"/>
                <a:cs typeface="Arial MT"/>
              </a:rPr>
              <a:t>j;</a:t>
            </a:r>
          </a:p>
          <a:p>
            <a:pPr marL="91440">
              <a:spcBef>
                <a:spcPts val="215"/>
              </a:spcBef>
              <a:tabLst>
                <a:tab pos="5452110" algn="l"/>
              </a:tabLst>
            </a:pPr>
            <a:r>
              <a:rPr sz="3600" dirty="0">
                <a:solidFill>
                  <a:prstClr val="white"/>
                </a:solidFill>
                <a:latin typeface="Arial MT"/>
                <a:cs typeface="Arial MT"/>
              </a:rPr>
              <a:t>while</a:t>
            </a:r>
            <a:r>
              <a:rPr sz="3600" spc="-15" dirty="0">
                <a:solidFill>
                  <a:prstClr val="white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prstClr val="white"/>
                </a:solidFill>
                <a:latin typeface="Arial MT"/>
                <a:cs typeface="Arial MT"/>
              </a:rPr>
              <a:t>(flag[</a:t>
            </a:r>
            <a:r>
              <a:rPr lang="en-US" sz="3600" dirty="0">
                <a:solidFill>
                  <a:prstClr val="white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prstClr val="white"/>
                </a:solidFill>
                <a:latin typeface="Arial MT"/>
                <a:cs typeface="Arial MT"/>
              </a:rPr>
              <a:t>j</a:t>
            </a:r>
            <a:r>
              <a:rPr lang="en-US" sz="3600" dirty="0">
                <a:solidFill>
                  <a:prstClr val="white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prstClr val="white"/>
                </a:solidFill>
                <a:latin typeface="Arial MT"/>
                <a:cs typeface="Arial MT"/>
              </a:rPr>
              <a:t>]</a:t>
            </a:r>
            <a:r>
              <a:rPr sz="3600" spc="5" dirty="0">
                <a:solidFill>
                  <a:prstClr val="white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prstClr val="white"/>
                </a:solidFill>
                <a:latin typeface="Arial MT"/>
                <a:cs typeface="Arial MT"/>
              </a:rPr>
              <a:t>&amp;&amp;</a:t>
            </a:r>
            <a:r>
              <a:rPr sz="3600" spc="5" dirty="0">
                <a:solidFill>
                  <a:prstClr val="white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prstClr val="white"/>
                </a:solidFill>
                <a:latin typeface="Arial MT"/>
                <a:cs typeface="Arial MT"/>
              </a:rPr>
              <a:t>turn</a:t>
            </a:r>
            <a:r>
              <a:rPr sz="3600" spc="10" dirty="0">
                <a:solidFill>
                  <a:prstClr val="white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prstClr val="white"/>
                </a:solidFill>
                <a:latin typeface="Arial MT"/>
                <a:cs typeface="Arial MT"/>
              </a:rPr>
              <a:t>==</a:t>
            </a:r>
            <a:r>
              <a:rPr sz="3600" spc="-10" dirty="0">
                <a:solidFill>
                  <a:prstClr val="white"/>
                </a:solidFill>
                <a:latin typeface="Arial MT"/>
                <a:cs typeface="Arial MT"/>
              </a:rPr>
              <a:t> </a:t>
            </a:r>
            <a:r>
              <a:rPr sz="3600" spc="5" dirty="0">
                <a:solidFill>
                  <a:prstClr val="white"/>
                </a:solidFill>
                <a:latin typeface="Arial MT"/>
                <a:cs typeface="Arial MT"/>
              </a:rPr>
              <a:t>j)	</a:t>
            </a:r>
            <a:r>
              <a:rPr sz="3600" dirty="0">
                <a:solidFill>
                  <a:prstClr val="white"/>
                </a:solidFill>
                <a:latin typeface="Arial MT"/>
                <a:cs typeface="Arial MT"/>
              </a:rPr>
              <a:t>;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3719513" y="4481513"/>
            <a:ext cx="5972175" cy="638175"/>
            <a:chOff x="2195512" y="4481512"/>
            <a:chExt cx="5972175" cy="638175"/>
          </a:xfrm>
        </p:grpSpPr>
        <p:sp>
          <p:nvSpPr>
            <p:cNvPr id="11" name="object 11"/>
            <p:cNvSpPr/>
            <p:nvPr/>
          </p:nvSpPr>
          <p:spPr>
            <a:xfrm>
              <a:off x="2209800" y="4495800"/>
              <a:ext cx="5943600" cy="609600"/>
            </a:xfrm>
            <a:custGeom>
              <a:avLst/>
              <a:gdLst/>
              <a:ahLst/>
              <a:cxnLst/>
              <a:rect l="l" t="t" r="r" b="b"/>
              <a:pathLst>
                <a:path w="5943600" h="609600">
                  <a:moveTo>
                    <a:pt x="5943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5943600" y="609600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white"/>
                </a:solidFill>
                <a:latin typeface="Century Gothic" panose="020B0502020202020204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209800" y="4495800"/>
              <a:ext cx="5943600" cy="609600"/>
            </a:xfrm>
            <a:custGeom>
              <a:avLst/>
              <a:gdLst/>
              <a:ahLst/>
              <a:cxnLst/>
              <a:rect l="l" t="t" r="r" b="b"/>
              <a:pathLst>
                <a:path w="5943600" h="609600">
                  <a:moveTo>
                    <a:pt x="0" y="609600"/>
                  </a:moveTo>
                  <a:lnTo>
                    <a:pt x="5943600" y="609600"/>
                  </a:lnTo>
                  <a:lnTo>
                    <a:pt x="59436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white"/>
                </a:solidFill>
                <a:latin typeface="Century Gothic" panose="020B0502020202020204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733800" y="4495800"/>
            <a:ext cx="5943600" cy="5732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91440">
              <a:spcBef>
                <a:spcPts val="150"/>
              </a:spcBef>
            </a:pPr>
            <a:r>
              <a:rPr sz="3600" spc="-5" dirty="0">
                <a:solidFill>
                  <a:prstClr val="white"/>
                </a:solidFill>
                <a:latin typeface="Arial MT"/>
                <a:cs typeface="Arial MT"/>
              </a:rPr>
              <a:t>flag[</a:t>
            </a:r>
            <a:r>
              <a:rPr lang="en-US" sz="3600" spc="-5" dirty="0">
                <a:solidFill>
                  <a:prstClr val="white"/>
                </a:solidFill>
                <a:latin typeface="Arial MT"/>
                <a:cs typeface="Arial MT"/>
              </a:rPr>
              <a:t> </a:t>
            </a:r>
            <a:r>
              <a:rPr lang="en-US" sz="3600" spc="-5" dirty="0" err="1">
                <a:solidFill>
                  <a:prstClr val="white"/>
                </a:solidFill>
                <a:latin typeface="Arial MT"/>
                <a:cs typeface="Arial MT"/>
              </a:rPr>
              <a:t>i</a:t>
            </a:r>
            <a:r>
              <a:rPr lang="en-US" sz="3600" spc="-5" dirty="0">
                <a:solidFill>
                  <a:prstClr val="white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prstClr val="white"/>
                </a:solidFill>
                <a:latin typeface="Arial MT"/>
                <a:cs typeface="Arial MT"/>
              </a:rPr>
              <a:t>]</a:t>
            </a:r>
            <a:r>
              <a:rPr sz="3600" spc="-10" dirty="0">
                <a:solidFill>
                  <a:prstClr val="white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prstClr val="white"/>
                </a:solidFill>
                <a:latin typeface="Arial MT"/>
                <a:cs typeface="Arial MT"/>
              </a:rPr>
              <a:t>=</a:t>
            </a:r>
            <a:r>
              <a:rPr sz="3600" spc="-25" dirty="0">
                <a:solidFill>
                  <a:prstClr val="white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prstClr val="white"/>
                </a:solidFill>
                <a:latin typeface="Arial MT"/>
                <a:cs typeface="Arial MT"/>
              </a:rPr>
              <a:t>false;</a:t>
            </a:r>
            <a:endParaRPr sz="36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09800" y="1676400"/>
            <a:ext cx="7772400" cy="4724400"/>
          </a:xfrm>
          <a:custGeom>
            <a:avLst/>
            <a:gdLst/>
            <a:ahLst/>
            <a:cxnLst/>
            <a:rect l="l" t="t" r="r" b="b"/>
            <a:pathLst>
              <a:path w="7772400" h="4724400">
                <a:moveTo>
                  <a:pt x="0" y="4724400"/>
                </a:moveTo>
                <a:lnTo>
                  <a:pt x="7772400" y="4724400"/>
                </a:lnTo>
                <a:lnTo>
                  <a:pt x="7772400" y="0"/>
                </a:lnTo>
                <a:lnTo>
                  <a:pt x="0" y="0"/>
                </a:lnTo>
                <a:lnTo>
                  <a:pt x="0" y="4724400"/>
                </a:lnTo>
                <a:close/>
              </a:path>
            </a:pathLst>
          </a:custGeom>
          <a:ln w="38100">
            <a:solidFill>
              <a:srgbClr val="FFFF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3A4FAA1-60A0-4451-24B2-8F9F2906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24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497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1667" y="250901"/>
            <a:ext cx="7268845" cy="659796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25" dirty="0"/>
              <a:t>Peterson’s</a:t>
            </a:r>
            <a:r>
              <a:rPr spc="-50" dirty="0"/>
              <a:t> </a:t>
            </a:r>
            <a:r>
              <a:rPr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7539" y="1103692"/>
            <a:ext cx="9631317" cy="4695773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 indent="-342900">
              <a:spcBef>
                <a:spcPts val="625"/>
              </a:spcBef>
              <a:buClr>
                <a:srgbClr val="FFFF66"/>
              </a:buClr>
              <a:buFont typeface="Wingdings"/>
              <a:buChar char=""/>
              <a:tabLst>
                <a:tab pos="355600" algn="l"/>
              </a:tabLst>
            </a:pP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Meets</a:t>
            </a:r>
            <a:r>
              <a:rPr sz="4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4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three</a:t>
            </a:r>
            <a:r>
              <a:rPr sz="4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requirements:</a:t>
            </a:r>
            <a:endParaRPr sz="44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756285" marR="5080" lvl="1" indent="-287020">
              <a:lnSpc>
                <a:spcPct val="90000"/>
              </a:lnSpc>
              <a:spcBef>
                <a:spcPts val="1060"/>
              </a:spcBef>
              <a:buClr>
                <a:srgbClr val="FFFF66"/>
              </a:buClr>
              <a:buFont typeface="Wingdings"/>
              <a:buChar char=""/>
              <a:tabLst>
                <a:tab pos="756920" algn="l"/>
              </a:tabLst>
            </a:pP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Mutual Exclusion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: ‘turn’ can </a:t>
            </a:r>
            <a:r>
              <a:rPr sz="4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4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one value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at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given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time </a:t>
            </a:r>
            <a:r>
              <a:rPr sz="4400" spc="-12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(0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1)</a:t>
            </a:r>
            <a:endParaRPr sz="44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756285" marR="843280" lvl="1" indent="-287020">
              <a:lnSpc>
                <a:spcPct val="90000"/>
              </a:lnSpc>
              <a:spcBef>
                <a:spcPts val="1055"/>
              </a:spcBef>
              <a:buClr>
                <a:srgbClr val="FFFF66"/>
              </a:buClr>
              <a:buFont typeface="Wingdings"/>
              <a:buChar char=""/>
              <a:tabLst>
                <a:tab pos="756920" algn="l"/>
              </a:tabLst>
            </a:pP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Bounded-waiting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: At most </a:t>
            </a:r>
            <a:r>
              <a:rPr sz="4400" spc="-12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sz="4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entry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4400" spc="-12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then the second process </a:t>
            </a:r>
            <a:r>
              <a:rPr sz="4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enters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into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its</a:t>
            </a:r>
            <a:r>
              <a:rPr sz="4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CS</a:t>
            </a:r>
            <a:endParaRPr sz="44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746FD-FB4C-AC72-9AFA-5E6D6A846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840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1667" y="250901"/>
            <a:ext cx="7268845" cy="659796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25" dirty="0"/>
              <a:t>Peterson’s</a:t>
            </a:r>
            <a:r>
              <a:rPr spc="-50" dirty="0"/>
              <a:t> </a:t>
            </a:r>
            <a:r>
              <a:rPr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41" y="1389633"/>
            <a:ext cx="8075295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spcBef>
                <a:spcPts val="105"/>
              </a:spcBef>
              <a:buClr>
                <a:srgbClr val="FFFF66"/>
              </a:buClr>
              <a:buFont typeface="Wingdings"/>
              <a:buChar char=""/>
              <a:tabLst>
                <a:tab pos="356235" algn="l"/>
              </a:tabLst>
            </a:pP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Progress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4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Exiting</a:t>
            </a:r>
            <a:r>
              <a:rPr sz="4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r>
              <a:rPr sz="4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sets </a:t>
            </a:r>
            <a:r>
              <a:rPr sz="4400" spc="-12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its ‘flag’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to false </a:t>
            </a:r>
            <a:r>
              <a:rPr sz="4400" spc="5" dirty="0">
                <a:solidFill>
                  <a:srgbClr val="FFFFFF"/>
                </a:solidFill>
                <a:latin typeface="Arial MT"/>
                <a:cs typeface="Arial MT"/>
              </a:rPr>
              <a:t>…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comes 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back </a:t>
            </a:r>
            <a:r>
              <a:rPr sz="4400" spc="-12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quickly</a:t>
            </a:r>
            <a:r>
              <a:rPr sz="4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spc="5" dirty="0">
                <a:solidFill>
                  <a:srgbClr val="FFFFFF"/>
                </a:solidFill>
                <a:latin typeface="Arial MT"/>
                <a:cs typeface="Arial MT"/>
              </a:rPr>
              <a:t>set</a:t>
            </a:r>
            <a:r>
              <a:rPr sz="4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true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again</a:t>
            </a:r>
            <a:endParaRPr sz="4400" dirty="0">
              <a:solidFill>
                <a:prstClr val="white"/>
              </a:solidFill>
              <a:latin typeface="Arial MT"/>
              <a:cs typeface="Arial MT"/>
            </a:endParaRPr>
          </a:p>
          <a:p>
            <a:pPr marL="355600" marR="309880" algn="just">
              <a:spcBef>
                <a:spcPts val="5"/>
              </a:spcBef>
            </a:pPr>
            <a:r>
              <a:rPr sz="4400" spc="5" dirty="0">
                <a:solidFill>
                  <a:srgbClr val="FFFFFF"/>
                </a:solidFill>
                <a:latin typeface="Arial MT"/>
                <a:cs typeface="Arial MT"/>
              </a:rPr>
              <a:t>… 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but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sets 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turn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to the 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number </a:t>
            </a:r>
            <a:r>
              <a:rPr sz="4400" spc="-12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other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endParaRPr sz="4400" dirty="0">
              <a:solidFill>
                <a:prstClr val="white"/>
              </a:solidFill>
              <a:latin typeface="Arial MT"/>
              <a:cs typeface="Arial 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8F9C2-D7AF-5E6E-EA0C-B4046A01B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2223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2087109" y="147184"/>
            <a:ext cx="7586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Synchronization Hardware</a:t>
            </a:r>
          </a:p>
        </p:txBody>
      </p:sp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>
          <a:xfrm>
            <a:off x="649514" y="874260"/>
            <a:ext cx="11099800" cy="506571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Many systems provide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hardware support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for implementing the critical section code.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solutions below based on idea of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locking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Protecting critical regions via locks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Uniprocessors – could disable interrupts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Currently running code would execute without preemption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Generally too inefficient on multiprocessor systems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Modern machines provide special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atomic hardware instructions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non-interruptible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test_and_set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instruction 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Ø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test memory word and set value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compare_and_swap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instruction 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Ø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swap contents of two memory words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80C6D2-85AF-153A-32F8-A13FDE33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27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4293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2256972" y="4416426"/>
            <a:ext cx="3323771" cy="8014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lIns="64002" tIns="32001" rIns="64002" bIns="32001"/>
          <a:lstStyle/>
          <a:p>
            <a:pPr>
              <a:defRPr/>
            </a:pPr>
            <a:endParaRPr lang="en-US">
              <a:solidFill>
                <a:schemeClr val="tx1"/>
              </a:solidFill>
              <a:latin typeface="Verdana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2293257" y="2928712"/>
            <a:ext cx="3323771" cy="8014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lIns="64002" tIns="32001" rIns="64002" bIns="32001"/>
          <a:lstStyle/>
          <a:p>
            <a:pPr>
              <a:defRPr/>
            </a:pPr>
            <a:endParaRPr lang="en-US">
              <a:solidFill>
                <a:schemeClr val="tx1"/>
              </a:solidFill>
              <a:latin typeface="Verdana" charset="0"/>
            </a:endParaRPr>
          </a:p>
        </p:txBody>
      </p:sp>
      <p:sp>
        <p:nvSpPr>
          <p:cNvPr id="50179" name="Title 1"/>
          <p:cNvSpPr>
            <a:spLocks noGrp="1"/>
          </p:cNvSpPr>
          <p:nvPr>
            <p:ph type="title"/>
          </p:nvPr>
        </p:nvSpPr>
        <p:spPr>
          <a:xfrm>
            <a:off x="1117601" y="394835"/>
            <a:ext cx="9421359" cy="1042080"/>
          </a:xfrm>
        </p:spPr>
        <p:txBody>
          <a:bodyPr/>
          <a:lstStyle/>
          <a:p>
            <a:r>
              <a:rPr lang="en-US" altLang="en-US" dirty="0"/>
              <a:t>Solution to Critical-section Problem Using Locks</a:t>
            </a:r>
          </a:p>
        </p:txBody>
      </p:sp>
      <p:sp>
        <p:nvSpPr>
          <p:cNvPr id="50180" name="Content Placeholder 2"/>
          <p:cNvSpPr>
            <a:spLocks noGrp="1"/>
          </p:cNvSpPr>
          <p:nvPr>
            <p:ph idx="1"/>
          </p:nvPr>
        </p:nvSpPr>
        <p:spPr>
          <a:xfrm>
            <a:off x="1896835" y="2080532"/>
            <a:ext cx="7727950" cy="4530725"/>
          </a:xfrm>
        </p:spPr>
        <p:txBody>
          <a:bodyPr>
            <a:noAutofit/>
          </a:bodyPr>
          <a:lstStyle/>
          <a:p>
            <a:pPr>
              <a:buFont typeface="Monotype Sorts" charset="2"/>
              <a:buNone/>
            </a:pP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4400" dirty="0">
                <a:latin typeface="Arial" panose="020B0604020202020204" pitchFamily="34" charset="0"/>
                <a:cs typeface="Arial" panose="020B0604020202020204" pitchFamily="34" charset="0"/>
              </a:rPr>
              <a:t>while (true) { </a:t>
            </a:r>
          </a:p>
          <a:p>
            <a:pPr>
              <a:buFont typeface="Monotype Sorts" charset="2"/>
              <a:buNone/>
            </a:pPr>
            <a:r>
              <a:rPr lang="en-US" altLang="en-US" sz="4400" dirty="0">
                <a:latin typeface="Arial" panose="020B0604020202020204" pitchFamily="34" charset="0"/>
                <a:cs typeface="Arial" panose="020B0604020202020204" pitchFamily="34" charset="0"/>
              </a:rPr>
              <a:t>		acquire lock </a:t>
            </a:r>
          </a:p>
          <a:p>
            <a:pPr>
              <a:buFont typeface="Monotype Sorts" charset="2"/>
              <a:buNone/>
            </a:pPr>
            <a:r>
              <a:rPr lang="en-US" altLang="en-US" sz="4400" dirty="0">
                <a:latin typeface="Arial" panose="020B0604020202020204" pitchFamily="34" charset="0"/>
                <a:cs typeface="Arial" panose="020B0604020202020204" pitchFamily="34" charset="0"/>
              </a:rPr>
              <a:t>			critical section </a:t>
            </a:r>
          </a:p>
          <a:p>
            <a:pPr>
              <a:buFont typeface="Monotype Sorts" charset="2"/>
              <a:buNone/>
            </a:pPr>
            <a:r>
              <a:rPr lang="en-US" altLang="en-US" sz="4400" dirty="0">
                <a:latin typeface="Arial" panose="020B0604020202020204" pitchFamily="34" charset="0"/>
                <a:cs typeface="Arial" panose="020B0604020202020204" pitchFamily="34" charset="0"/>
              </a:rPr>
              <a:t>		release lock </a:t>
            </a:r>
          </a:p>
          <a:p>
            <a:pPr>
              <a:buFont typeface="Monotype Sorts" charset="2"/>
              <a:buNone/>
            </a:pPr>
            <a:r>
              <a:rPr lang="en-US" altLang="en-US" sz="4400" dirty="0">
                <a:latin typeface="Arial" panose="020B0604020202020204" pitchFamily="34" charset="0"/>
                <a:cs typeface="Arial" panose="020B0604020202020204" pitchFamily="34" charset="0"/>
              </a:rPr>
              <a:t>			remainder section </a:t>
            </a:r>
          </a:p>
          <a:p>
            <a:pPr>
              <a:buFont typeface="Monotype Sorts" charset="2"/>
              <a:buNone/>
            </a:pPr>
            <a:r>
              <a:rPr lang="en-US" altLang="en-US" sz="4400" dirty="0">
                <a:latin typeface="Arial" panose="020B0604020202020204" pitchFamily="34" charset="0"/>
                <a:cs typeface="Arial" panose="020B0604020202020204" pitchFamily="34" charset="0"/>
              </a:rPr>
              <a:t>	}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41913C-A9D2-7E5D-9E74-ADBDF5B56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28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2611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2811464" y="161926"/>
            <a:ext cx="7399337" cy="576263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test_and_set</a:t>
            </a:r>
            <a:r>
              <a:rPr lang="en-US" altLang="en-US" dirty="0"/>
              <a:t>  Instruction </a:t>
            </a:r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1590223" y="536804"/>
            <a:ext cx="10122806" cy="442277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None/>
              <a:tabLst>
                <a:tab pos="739775" algn="l"/>
                <a:tab pos="1020763" algn="l"/>
                <a:tab pos="1257300" algn="l"/>
              </a:tabLst>
            </a:pP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Definition:</a:t>
            </a:r>
            <a:endParaRPr lang="en-US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test_and_set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*target)</a:t>
            </a:r>
          </a:p>
          <a:p>
            <a:pPr>
              <a:lnSpc>
                <a:spcPct val="90000"/>
              </a:lnSpc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{</a:t>
            </a:r>
          </a:p>
          <a:p>
            <a:pPr>
              <a:lnSpc>
                <a:spcPct val="90000"/>
              </a:lnSpc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rv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 *target;</a:t>
            </a:r>
          </a:p>
          <a:p>
            <a:pPr>
              <a:lnSpc>
                <a:spcPct val="90000"/>
              </a:lnSpc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*target = true;</a:t>
            </a:r>
          </a:p>
          <a:p>
            <a:pPr>
              <a:lnSpc>
                <a:spcPct val="90000"/>
              </a:lnSpc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return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rv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lnSpc>
                <a:spcPct val="90000"/>
              </a:lnSpc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}</a:t>
            </a:r>
          </a:p>
          <a:p>
            <a:pPr>
              <a:lnSpc>
                <a:spcPct val="90000"/>
              </a:lnSpc>
              <a:buFont typeface="Monotype Sorts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Monotype Sorts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Executed atomically – cannot be interrupted in the middle</a:t>
            </a:r>
          </a:p>
          <a:p>
            <a:pPr>
              <a:lnSpc>
                <a:spcPct val="90000"/>
              </a:lnSpc>
              <a:buFont typeface="Monotype Sorts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Returns the original value of passed parameter</a:t>
            </a:r>
          </a:p>
          <a:p>
            <a:pPr>
              <a:lnSpc>
                <a:spcPct val="90000"/>
              </a:lnSpc>
              <a:buFont typeface="Monotype Sorts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Set the new value of passed parameter to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90000"/>
              </a:lnSpc>
              <a:buFont typeface="Monotype Sorts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36800" y="1625600"/>
            <a:ext cx="7865669" cy="3207657"/>
          </a:xfrm>
          <a:custGeom>
            <a:avLst/>
            <a:gdLst/>
            <a:ahLst/>
            <a:cxnLst/>
            <a:rect l="l" t="t" r="r" b="b"/>
            <a:pathLst>
              <a:path w="9144000" h="4495800">
                <a:moveTo>
                  <a:pt x="0" y="4495800"/>
                </a:moveTo>
                <a:lnTo>
                  <a:pt x="9144000" y="4495800"/>
                </a:lnTo>
                <a:lnTo>
                  <a:pt x="9144000" y="0"/>
                </a:lnTo>
                <a:lnTo>
                  <a:pt x="0" y="0"/>
                </a:lnTo>
                <a:lnTo>
                  <a:pt x="0" y="4495800"/>
                </a:lnTo>
                <a:close/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823F8B-8B04-EC78-ED28-2FEEBF2C9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080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>
          <a:xfrm>
            <a:off x="2373314" y="161926"/>
            <a:ext cx="7837487" cy="576263"/>
          </a:xfrm>
        </p:spPr>
        <p:txBody>
          <a:bodyPr/>
          <a:lstStyle/>
          <a:p>
            <a:pPr eaLnBrk="1" hangingPunct="1"/>
            <a:r>
              <a:rPr lang="en-US" altLang="en-US"/>
              <a:t>Solution using test_and_set()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725714" y="1193801"/>
            <a:ext cx="11306629" cy="542471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  <a:tabLst>
                <a:tab pos="742278" algn="l"/>
                <a:tab pos="1023411" algn="l"/>
                <a:tab pos="1258984" algn="l"/>
              </a:tabLst>
              <a:defRPr/>
            </a:pPr>
            <a:r>
              <a:rPr lang="en-US" sz="2400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Shared Boolean variable </a:t>
            </a:r>
            <a:r>
              <a:rPr lang="en-US" sz="2400" b="1" u="sng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lock</a:t>
            </a:r>
            <a:r>
              <a:rPr lang="en-US" sz="2400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</a:p>
          <a:p>
            <a:pPr marL="857250" lvl="1" indent="-457200">
              <a:lnSpc>
                <a:spcPct val="90000"/>
              </a:lnSpc>
              <a:buFont typeface="Wingdings" panose="05000000000000000000" pitchFamily="2" charset="2"/>
              <a:buChar char="Ø"/>
              <a:tabLst>
                <a:tab pos="742278" algn="l"/>
                <a:tab pos="1023411" algn="l"/>
                <a:tab pos="1258984" algn="l"/>
              </a:tabLst>
              <a:defRPr/>
            </a:pPr>
            <a:r>
              <a:rPr lang="en-US" sz="2000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initialized lock =  </a:t>
            </a:r>
            <a:r>
              <a:rPr lang="en-US" sz="2000" u="sng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false</a:t>
            </a:r>
          </a:p>
          <a:p>
            <a:pPr marL="857250" lvl="1" indent="-457200">
              <a:lnSpc>
                <a:spcPct val="90000"/>
              </a:lnSpc>
              <a:buFont typeface="Wingdings" panose="05000000000000000000" pitchFamily="2" charset="2"/>
              <a:buChar char="Ø"/>
              <a:tabLst>
                <a:tab pos="742278" algn="l"/>
                <a:tab pos="1023411" algn="l"/>
                <a:tab pos="1258984" algn="l"/>
              </a:tabLst>
              <a:defRPr/>
            </a:pPr>
            <a:r>
              <a:rPr lang="en-US" sz="2000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unlocked initially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  <a:tabLst>
                <a:tab pos="742278" algn="l"/>
                <a:tab pos="1023411" algn="l"/>
                <a:tab pos="1258984" algn="l"/>
              </a:tabLst>
              <a:defRPr/>
            </a:pPr>
            <a:endParaRPr lang="en-US" sz="3200" dirty="0"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  <a:tabLst>
                <a:tab pos="742278" algn="l"/>
                <a:tab pos="1023411" algn="l"/>
                <a:tab pos="1258984" algn="l"/>
              </a:tabLst>
              <a:defRPr/>
            </a:pPr>
            <a:endParaRPr lang="en-US" sz="3200" dirty="0"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  <a:tabLst>
                <a:tab pos="742278" algn="l"/>
                <a:tab pos="1023411" algn="l"/>
                <a:tab pos="1258984" algn="l"/>
              </a:tabLst>
              <a:defRPr/>
            </a:pPr>
            <a:endParaRPr lang="en-US" sz="3200" dirty="0"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  <a:tabLst>
                <a:tab pos="742278" algn="l"/>
                <a:tab pos="1023411" algn="l"/>
                <a:tab pos="1258984" algn="l"/>
              </a:tabLst>
              <a:defRPr/>
            </a:pPr>
            <a:endParaRPr lang="en-US" sz="3200" dirty="0"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  <a:tabLst>
                <a:tab pos="742278" algn="l"/>
                <a:tab pos="1023411" algn="l"/>
                <a:tab pos="1258984" algn="l"/>
              </a:tabLst>
              <a:defRPr/>
            </a:pPr>
            <a:endParaRPr lang="en-US" sz="3200" dirty="0"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104571" y="2616771"/>
            <a:ext cx="8476343" cy="259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tabLst>
                <a:tab pos="742278" algn="l"/>
                <a:tab pos="1023411" algn="l"/>
                <a:tab pos="1258984" algn="l"/>
              </a:tabLst>
              <a:defRPr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while (true) {</a:t>
            </a:r>
            <a:b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while (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test_and_set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(&amp;lock));</a:t>
            </a:r>
          </a:p>
          <a:p>
            <a:pPr>
              <a:defRPr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	        /* critical section */ </a:t>
            </a:r>
          </a:p>
          <a:p>
            <a:pPr>
              <a:defRPr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lock = false; </a:t>
            </a:r>
          </a:p>
          <a:p>
            <a:pPr>
              <a:defRPr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/* remainder section */ </a:t>
            </a:r>
          </a:p>
          <a:p>
            <a:pPr>
              <a:defRPr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}</a:t>
            </a:r>
            <a:endParaRPr lang="en-US" sz="3600" dirty="0"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5" name="object 4"/>
          <p:cNvSpPr/>
          <p:nvPr/>
        </p:nvSpPr>
        <p:spPr>
          <a:xfrm>
            <a:off x="1669143" y="2467428"/>
            <a:ext cx="8533326" cy="4129313"/>
          </a:xfrm>
          <a:custGeom>
            <a:avLst/>
            <a:gdLst/>
            <a:ahLst/>
            <a:cxnLst/>
            <a:rect l="l" t="t" r="r" b="b"/>
            <a:pathLst>
              <a:path w="9144000" h="4495800">
                <a:moveTo>
                  <a:pt x="0" y="4495800"/>
                </a:moveTo>
                <a:lnTo>
                  <a:pt x="9144000" y="4495800"/>
                </a:lnTo>
                <a:lnTo>
                  <a:pt x="9144000" y="0"/>
                </a:lnTo>
                <a:lnTo>
                  <a:pt x="0" y="0"/>
                </a:lnTo>
                <a:lnTo>
                  <a:pt x="0" y="4495800"/>
                </a:lnTo>
                <a:close/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577297-EFFD-57E3-620D-0B8E31595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30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3663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0571" y="1103749"/>
            <a:ext cx="11437258" cy="4633961"/>
          </a:xfrm>
          <a:prstGeom prst="rect">
            <a:avLst/>
          </a:prstGeom>
        </p:spPr>
        <p:txBody>
          <a:bodyPr vert="horz" wrap="square" lIns="0" tIns="184785" rIns="0" bIns="0" rtlCol="0">
            <a:spAutoFit/>
          </a:bodyPr>
          <a:lstStyle/>
          <a:p>
            <a:pPr marL="584200" indent="-571500">
              <a:spcBef>
                <a:spcPts val="1455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4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altLang="en-US" sz="4400" dirty="0" err="1"/>
              <a:t>test_and_set</a:t>
            </a:r>
            <a:r>
              <a:rPr lang="en-US" altLang="en-US" sz="4400" dirty="0"/>
              <a:t>()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-based</a:t>
            </a:r>
            <a:r>
              <a:rPr sz="4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solution</a:t>
            </a:r>
            <a:r>
              <a:rPr sz="4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good?</a:t>
            </a:r>
            <a:endParaRPr sz="4400" dirty="0">
              <a:latin typeface="Arial MT"/>
              <a:cs typeface="Arial MT"/>
            </a:endParaRPr>
          </a:p>
          <a:p>
            <a:pPr marL="927100" indent="-571500">
              <a:spcBef>
                <a:spcPts val="1360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sz="4400" b="1" spc="-5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endParaRPr sz="4400" dirty="0">
              <a:latin typeface="Arial"/>
              <a:cs typeface="Arial"/>
            </a:endParaRPr>
          </a:p>
          <a:p>
            <a:pPr marL="571500" indent="-571500">
              <a:spcBef>
                <a:spcPts val="25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endParaRPr sz="3900" dirty="0">
              <a:latin typeface="Arial"/>
              <a:cs typeface="Arial"/>
            </a:endParaRPr>
          </a:p>
          <a:p>
            <a:pPr marL="584200" indent="-571500"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Mutual</a:t>
            </a:r>
            <a:r>
              <a:rPr sz="4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Exclusion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4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Satisfied</a:t>
            </a:r>
            <a:endParaRPr sz="4400" dirty="0">
              <a:latin typeface="Arial MT"/>
              <a:cs typeface="Arial MT"/>
            </a:endParaRPr>
          </a:p>
          <a:p>
            <a:pPr marL="584200" indent="-571500">
              <a:spcBef>
                <a:spcPts val="1060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Progress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4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Satisfied</a:t>
            </a:r>
            <a:endParaRPr sz="4400" dirty="0">
              <a:latin typeface="Arial MT"/>
              <a:cs typeface="Arial MT"/>
            </a:endParaRPr>
          </a:p>
          <a:p>
            <a:pPr marL="584200" indent="-571500">
              <a:spcBef>
                <a:spcPts val="1055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Bounded</a:t>
            </a:r>
            <a:r>
              <a:rPr sz="4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b="1" spc="-5" dirty="0">
                <a:solidFill>
                  <a:srgbClr val="FFFFFF"/>
                </a:solidFill>
                <a:latin typeface="Arial"/>
                <a:cs typeface="Arial"/>
              </a:rPr>
              <a:t>Waiting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: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satisfied</a:t>
            </a:r>
            <a:endParaRPr sz="4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96572" y="110693"/>
            <a:ext cx="7523554" cy="659796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5" dirty="0"/>
              <a:t>Solution</a:t>
            </a:r>
            <a:r>
              <a:rPr spc="-25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lang="en-US" altLang="en-US" dirty="0" err="1"/>
              <a:t>test_and_set</a:t>
            </a:r>
            <a:r>
              <a:rPr lang="en-US" altLang="en-US" dirty="0"/>
              <a:t>()</a:t>
            </a:r>
            <a:endParaRPr b="1" spc="-5" dirty="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DCC08-954A-3148-BF81-CE8EAE95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31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8700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>
          <a:xfrm>
            <a:off x="1043441" y="225199"/>
            <a:ext cx="7931150" cy="576262"/>
          </a:xfrm>
        </p:spPr>
        <p:txBody>
          <a:bodyPr/>
          <a:lstStyle/>
          <a:p>
            <a:r>
              <a:rPr lang="en-US" altLang="en-US" sz="2400" dirty="0"/>
              <a:t>Bounded-waiting Mutual Exclusion with </a:t>
            </a:r>
            <a:r>
              <a:rPr lang="en-US" altLang="en-US" sz="2400" dirty="0" err="1"/>
              <a:t>test_and_set</a:t>
            </a:r>
            <a:endParaRPr lang="en-US" altLang="en-US" sz="2400" dirty="0"/>
          </a:p>
        </p:txBody>
      </p:sp>
      <p:sp>
        <p:nvSpPr>
          <p:cNvPr id="59394" name="Content Placeholder 2"/>
          <p:cNvSpPr>
            <a:spLocks noGrp="1"/>
          </p:cNvSpPr>
          <p:nvPr>
            <p:ph idx="1"/>
          </p:nvPr>
        </p:nvSpPr>
        <p:spPr>
          <a:xfrm>
            <a:off x="275771" y="1016000"/>
            <a:ext cx="10885714" cy="5704114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common data structures:</a:t>
            </a:r>
          </a:p>
          <a:p>
            <a:pPr lvl="1"/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waiting[n];</a:t>
            </a:r>
          </a:p>
          <a:p>
            <a:pPr lvl="1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// initialized to false</a:t>
            </a:r>
          </a:p>
          <a:p>
            <a:pPr lvl="1"/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lock; </a:t>
            </a:r>
          </a:p>
          <a:p>
            <a:pPr lvl="1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// initialized to false</a:t>
            </a: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4531177" y="964746"/>
            <a:ext cx="5614307" cy="5729669"/>
            <a:chOff x="4531177" y="964746"/>
            <a:chExt cx="5614307" cy="5729669"/>
          </a:xfrm>
        </p:grpSpPr>
        <p:grpSp>
          <p:nvGrpSpPr>
            <p:cNvPr id="8" name="Group 7"/>
            <p:cNvGrpSpPr/>
            <p:nvPr/>
          </p:nvGrpSpPr>
          <p:grpSpPr>
            <a:xfrm>
              <a:off x="4531177" y="964746"/>
              <a:ext cx="5614307" cy="5729669"/>
              <a:chOff x="4705349" y="892174"/>
              <a:chExt cx="5614307" cy="5729669"/>
            </a:xfrm>
          </p:grpSpPr>
          <p:pic>
            <p:nvPicPr>
              <p:cNvPr id="2" name="Picture 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05349" y="892174"/>
                <a:ext cx="5614307" cy="5729669"/>
              </a:xfrm>
              <a:prstGeom prst="rect">
                <a:avLst/>
              </a:prstGeom>
            </p:spPr>
          </p:pic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1843" y="2047194"/>
                <a:ext cx="698500" cy="436563"/>
              </a:xfrm>
              <a:prstGeom prst="rect">
                <a:avLst/>
              </a:prstGeom>
            </p:spPr>
          </p:pic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04881" y="2115004"/>
                <a:ext cx="2922499" cy="308882"/>
              </a:xfrm>
              <a:prstGeom prst="rect">
                <a:avLst/>
              </a:prstGeom>
            </p:spPr>
          </p:pic>
        </p:grp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29712" y="2197326"/>
              <a:ext cx="638175" cy="257175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8FD6A-B5FB-A8FA-3821-4C312A8F7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32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913241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542639" y="2100942"/>
            <a:ext cx="9659830" cy="4495800"/>
          </a:xfrm>
          <a:custGeom>
            <a:avLst/>
            <a:gdLst/>
            <a:ahLst/>
            <a:cxnLst/>
            <a:rect l="l" t="t" r="r" b="b"/>
            <a:pathLst>
              <a:path w="9144000" h="4495800">
                <a:moveTo>
                  <a:pt x="0" y="4495800"/>
                </a:moveTo>
                <a:lnTo>
                  <a:pt x="9144000" y="4495800"/>
                </a:lnTo>
                <a:lnTo>
                  <a:pt x="9144000" y="0"/>
                </a:lnTo>
                <a:lnTo>
                  <a:pt x="0" y="0"/>
                </a:lnTo>
                <a:lnTo>
                  <a:pt x="0" y="4495800"/>
                </a:lnTo>
                <a:close/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91772" y="528383"/>
            <a:ext cx="9768114" cy="57990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endParaRPr lang="en-US" sz="4000" spc="-5" dirty="0">
              <a:solidFill>
                <a:srgbClr val="FFFFFF"/>
              </a:solidFill>
              <a:latin typeface="Arial MT"/>
              <a:cs typeface="Arial MT"/>
            </a:endParaRPr>
          </a:p>
          <a:p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Swaps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atomically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endParaRPr lang="en-US" sz="4000" dirty="0">
              <a:solidFill>
                <a:srgbClr val="FFFFFF"/>
              </a:solidFill>
              <a:latin typeface="Arial MT"/>
            </a:endParaRPr>
          </a:p>
          <a:p>
            <a:endParaRPr lang="en-US" sz="4000" dirty="0">
              <a:solidFill>
                <a:srgbClr val="FFFFFF"/>
              </a:solidFill>
              <a:latin typeface="Arial MT"/>
            </a:endParaRPr>
          </a:p>
          <a:p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compare and swap(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*value,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expected, 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new value) </a:t>
            </a:r>
          </a:p>
          <a:p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900113"/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temp = *value;</a:t>
            </a:r>
          </a:p>
          <a:p>
            <a:pPr marL="900113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if (*value == expected)</a:t>
            </a:r>
          </a:p>
          <a:p>
            <a:pPr marL="900113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*value = new value;</a:t>
            </a:r>
          </a:p>
          <a:p>
            <a:pPr marL="900113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return temp;</a:t>
            </a:r>
          </a:p>
          <a:p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77257" y="359250"/>
            <a:ext cx="8633950" cy="690574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compare and swap </a:t>
            </a:r>
            <a:r>
              <a:rPr spc="-5" dirty="0"/>
              <a:t>Inst</a:t>
            </a:r>
            <a:r>
              <a:rPr spc="160" dirty="0"/>
              <a:t>r</a:t>
            </a:r>
            <a:r>
              <a:rPr dirty="0"/>
              <a:t>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A2AFCE-EC01-5D39-4A65-B777519C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33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3682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831340" y="963448"/>
            <a:ext cx="6644640" cy="689932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spcBef>
                <a:spcPts val="580"/>
              </a:spcBef>
              <a:buClr>
                <a:srgbClr val="FFFF66"/>
              </a:buClr>
              <a:tabLst>
                <a:tab pos="355600" algn="l"/>
              </a:tabLst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Structure for</a:t>
            </a:r>
            <a:r>
              <a:rPr sz="4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Pi</a:t>
            </a:r>
            <a:endParaRPr sz="40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711760" y="284865"/>
            <a:ext cx="8012811" cy="659796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5" dirty="0"/>
              <a:t>Solution</a:t>
            </a:r>
            <a:r>
              <a:rPr spc="-25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compare and swap </a:t>
            </a:r>
            <a:endParaRPr b="1" spc="-5" dirty="0">
              <a:latin typeface="Courier New"/>
              <a:cs typeface="Courier New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51429" y="1979658"/>
            <a:ext cx="91440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while (true)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while (compare and swap(&amp;lock, 0, 1) != 0); 	/* critical section */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lock = 0;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	/* remainder section */</a:t>
            </a:r>
          </a:p>
          <a:p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bject 4"/>
          <p:cNvSpPr/>
          <p:nvPr/>
        </p:nvSpPr>
        <p:spPr>
          <a:xfrm>
            <a:off x="1166754" y="1839685"/>
            <a:ext cx="9659830" cy="3791858"/>
          </a:xfrm>
          <a:custGeom>
            <a:avLst/>
            <a:gdLst/>
            <a:ahLst/>
            <a:cxnLst/>
            <a:rect l="l" t="t" r="r" b="b"/>
            <a:pathLst>
              <a:path w="9144000" h="4495800">
                <a:moveTo>
                  <a:pt x="0" y="4495800"/>
                </a:moveTo>
                <a:lnTo>
                  <a:pt x="9144000" y="4495800"/>
                </a:lnTo>
                <a:lnTo>
                  <a:pt x="9144000" y="0"/>
                </a:lnTo>
                <a:lnTo>
                  <a:pt x="0" y="0"/>
                </a:lnTo>
                <a:lnTo>
                  <a:pt x="0" y="4495800"/>
                </a:lnTo>
                <a:close/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DABCDB-587D-FA25-C9B2-22C5EE97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34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4141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0770" y="1455501"/>
            <a:ext cx="11637916" cy="466948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4200" marR="1311275" indent="-571500">
              <a:lnSpc>
                <a:spcPct val="105700"/>
              </a:lnSpc>
              <a:spcBef>
                <a:spcPts val="95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4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b="1" spc="-5" dirty="0">
                <a:solidFill>
                  <a:srgbClr val="FFFFFF"/>
                </a:solidFill>
                <a:latin typeface="Courier New"/>
                <a:cs typeface="Courier New"/>
              </a:rPr>
              <a:t>swap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-based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solution </a:t>
            </a:r>
            <a:r>
              <a:rPr sz="4400" spc="-12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good?</a:t>
            </a:r>
            <a:endParaRPr sz="4400" dirty="0">
              <a:latin typeface="Arial MT"/>
              <a:cs typeface="Arial MT"/>
            </a:endParaRPr>
          </a:p>
          <a:p>
            <a:pPr marL="927100" indent="-571500">
              <a:spcBef>
                <a:spcPts val="3650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endParaRPr sz="4400" dirty="0">
              <a:latin typeface="Arial"/>
              <a:cs typeface="Arial"/>
            </a:endParaRPr>
          </a:p>
          <a:p>
            <a:pPr marL="584200" indent="-571500">
              <a:spcBef>
                <a:spcPts val="3650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Mutual</a:t>
            </a:r>
            <a:r>
              <a:rPr sz="4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Exclusion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Satisfied</a:t>
            </a:r>
            <a:endParaRPr sz="4400" dirty="0">
              <a:latin typeface="Arial MT"/>
              <a:cs typeface="Arial MT"/>
            </a:endParaRPr>
          </a:p>
          <a:p>
            <a:pPr marL="584200" indent="-571500">
              <a:spcBef>
                <a:spcPts val="1060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Progress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4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Satisfied</a:t>
            </a:r>
            <a:endParaRPr sz="4400" dirty="0">
              <a:latin typeface="Arial MT"/>
              <a:cs typeface="Arial MT"/>
            </a:endParaRPr>
          </a:p>
          <a:p>
            <a:pPr marL="584200" indent="-571500">
              <a:spcBef>
                <a:spcPts val="1055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Bounded</a:t>
            </a:r>
            <a:r>
              <a:rPr sz="4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b="1" spc="-20" dirty="0">
                <a:solidFill>
                  <a:srgbClr val="FFFFFF"/>
                </a:solidFill>
                <a:latin typeface="Arial"/>
                <a:cs typeface="Arial"/>
              </a:rPr>
              <a:t>Waiting</a:t>
            </a:r>
            <a:r>
              <a:rPr sz="4400" spc="-20" dirty="0">
                <a:solidFill>
                  <a:srgbClr val="FFFFFF"/>
                </a:solidFill>
                <a:latin typeface="Arial MT"/>
                <a:cs typeface="Arial MT"/>
              </a:rPr>
              <a:t>: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4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satisfied</a:t>
            </a:r>
            <a:endParaRPr sz="4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1" y="459035"/>
            <a:ext cx="7989824" cy="659796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5" dirty="0"/>
              <a:t>Solution</a:t>
            </a:r>
            <a:r>
              <a:rPr spc="-25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compare and swap </a:t>
            </a:r>
            <a:endParaRPr b="1" spc="-5" dirty="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67311-F294-F71E-D370-7D50FB990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35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7074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93486" y="110693"/>
            <a:ext cx="9942285" cy="1306127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dirty="0"/>
              <a:t>Bounded-waiting mutual exclusion with compare and swap().</a:t>
            </a:r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416799" y="1834303"/>
            <a:ext cx="3927385" cy="321626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spcBef>
                <a:spcPts val="580"/>
              </a:spcBef>
              <a:buClr>
                <a:srgbClr val="FFFF66"/>
              </a:buClr>
              <a:tabLst>
                <a:tab pos="355600" algn="l"/>
              </a:tabLst>
            </a:pP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‘key’</a:t>
            </a:r>
            <a:r>
              <a:rPr sz="4000" spc="-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local;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‘lock’</a:t>
            </a:r>
            <a:r>
              <a:rPr sz="4000" spc="-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‘waiting’</a:t>
            </a:r>
            <a:r>
              <a:rPr sz="400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global</a:t>
            </a:r>
            <a:endParaRPr sz="4000" dirty="0">
              <a:latin typeface="Arial MT"/>
              <a:cs typeface="Arial MT"/>
            </a:endParaRPr>
          </a:p>
          <a:p>
            <a:pPr marL="12700">
              <a:spcBef>
                <a:spcPts val="484"/>
              </a:spcBef>
              <a:buClr>
                <a:srgbClr val="FFFF66"/>
              </a:buClr>
              <a:tabLst>
                <a:tab pos="355600" algn="l"/>
              </a:tabLst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4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variables</a:t>
            </a:r>
            <a:r>
              <a:rPr sz="4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set</a:t>
            </a:r>
            <a:r>
              <a:rPr sz="4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4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false</a:t>
            </a:r>
            <a:endParaRPr sz="4000" dirty="0">
              <a:latin typeface="Arial MT"/>
              <a:cs typeface="Arial M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046" y="1416966"/>
            <a:ext cx="5173211" cy="544103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2B0219-69EF-37CB-7B32-2D3E2B037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36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2581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40AA77CE-6516-425F-91F7-E1576FF916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44697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Mutex Locks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287F1076-6897-4824-ADA6-893AEF09D4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1445" y="1074016"/>
            <a:ext cx="11068334" cy="566797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Previous solutions are complicated and generally inaccessible to application programmers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OS designers build software tools to solve critical section problem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Simplest is mutex lock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Boolean variable indicating if lock is available or not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Protect a critical section  by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acquire()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lock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Then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release()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lock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Calls to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acquire()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release()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must be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Usually implemented via hardware atomic instructions such as compare-and-swap.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But this solution requires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busy waiting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lock therefore called a 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spinlock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753214-9EB1-FE59-5CD7-CC9F2E7CF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37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9809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74A0C2-4038-40CE-B8F5-4EE988D17AB5}"/>
              </a:ext>
            </a:extLst>
          </p:cNvPr>
          <p:cNvSpPr/>
          <p:nvPr/>
        </p:nvSpPr>
        <p:spPr bwMode="auto">
          <a:xfrm>
            <a:off x="2047164" y="1995701"/>
            <a:ext cx="3153565" cy="6346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lIns="64002" tIns="32001" rIns="64002" bIns="32001"/>
          <a:lstStyle/>
          <a:p>
            <a:pPr>
              <a:defRPr/>
            </a:pPr>
            <a:endParaRPr lang="en-US">
              <a:solidFill>
                <a:schemeClr val="tx1"/>
              </a:solidFill>
              <a:latin typeface="Verdana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778C6D-AEC7-48EC-BE5D-470EDD9A8460}"/>
              </a:ext>
            </a:extLst>
          </p:cNvPr>
          <p:cNvSpPr/>
          <p:nvPr/>
        </p:nvSpPr>
        <p:spPr bwMode="auto">
          <a:xfrm>
            <a:off x="2019869" y="3795358"/>
            <a:ext cx="3384644" cy="84488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lIns="64002" tIns="32001" rIns="64002" bIns="32001"/>
          <a:lstStyle/>
          <a:p>
            <a:pPr>
              <a:defRPr/>
            </a:pPr>
            <a:endParaRPr lang="en-US">
              <a:solidFill>
                <a:schemeClr val="tx1"/>
              </a:solidFill>
              <a:latin typeface="Verdana" charset="0"/>
            </a:endParaRPr>
          </a:p>
        </p:txBody>
      </p:sp>
      <p:sp>
        <p:nvSpPr>
          <p:cNvPr id="44035" name="Title 1">
            <a:extLst>
              <a:ext uri="{FF2B5EF4-FFF2-40B4-BE49-F238E27FC236}">
                <a16:creationId xmlns:a16="http://schemas.microsoft.com/office/drawing/2014/main" id="{830B4045-5ECB-4A4A-B601-B013451BC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719" y="447869"/>
            <a:ext cx="8842513" cy="766782"/>
          </a:xfrm>
        </p:spPr>
        <p:txBody>
          <a:bodyPr/>
          <a:lstStyle/>
          <a:p>
            <a:r>
              <a:rPr lang="en-US" altLang="en-US" sz="2800" dirty="0"/>
              <a:t>Solution to CS Problem Using Mutex Locks</a:t>
            </a:r>
          </a:p>
        </p:txBody>
      </p:sp>
      <p:sp>
        <p:nvSpPr>
          <p:cNvPr id="44036" name="Rectangle 2">
            <a:extLst>
              <a:ext uri="{FF2B5EF4-FFF2-40B4-BE49-F238E27FC236}">
                <a16:creationId xmlns:a16="http://schemas.microsoft.com/office/drawing/2014/main" id="{267E4949-D8C0-4A2A-95D8-AD20DC300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1390" y="1524261"/>
            <a:ext cx="6481571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Monotype Sorts" pitchFamily="-84" charset="2"/>
              <a:buNone/>
            </a:pPr>
            <a:r>
              <a:rPr lang="en-US" altLang="en-US" sz="3200" b="1" dirty="0">
                <a:latin typeface="Courier New" panose="02070309020205020404" pitchFamily="49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3200" b="1" dirty="0">
                <a:latin typeface="Courier New" panose="02070309020205020404" pitchFamily="49" charset="0"/>
              </a:rPr>
              <a:t>	acquire lock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3200" b="1" dirty="0">
                <a:latin typeface="Courier New" panose="02070309020205020404" pitchFamily="49" charset="0"/>
              </a:rPr>
              <a:t>			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3200" b="1" dirty="0">
                <a:latin typeface="Courier New" panose="02070309020205020404" pitchFamily="49" charset="0"/>
              </a:rPr>
              <a:t>	   critical section </a:t>
            </a:r>
          </a:p>
          <a:p>
            <a:pPr>
              <a:buFont typeface="Monotype Sorts" pitchFamily="-84" charset="2"/>
              <a:buNone/>
            </a:pPr>
            <a:endParaRPr lang="en-US" altLang="en-US" sz="3200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3200" b="1" dirty="0">
                <a:latin typeface="Courier New" panose="02070309020205020404" pitchFamily="49" charset="0"/>
              </a:rPr>
              <a:t>	release lock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3200" b="1" dirty="0">
                <a:latin typeface="Courier New" panose="02070309020205020404" pitchFamily="49" charset="0"/>
              </a:rPr>
              <a:t>	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3200" b="1" dirty="0">
                <a:latin typeface="Courier New" panose="02070309020205020404" pitchFamily="49" charset="0"/>
              </a:rPr>
              <a:t>remainder section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3200" b="1" dirty="0">
                <a:latin typeface="Courier New" panose="02070309020205020404" pitchFamily="49" charset="0"/>
              </a:rPr>
              <a:t>} </a:t>
            </a:r>
          </a:p>
        </p:txBody>
      </p:sp>
      <p:sp>
        <p:nvSpPr>
          <p:cNvPr id="2" name="Rectangle 1"/>
          <p:cNvSpPr/>
          <p:nvPr/>
        </p:nvSpPr>
        <p:spPr>
          <a:xfrm>
            <a:off x="7532725" y="2151727"/>
            <a:ext cx="428413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acquire() </a:t>
            </a: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while (!available)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; /* busy wait */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available = false;</a:t>
            </a:r>
          </a:p>
          <a:p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427322" y="4772727"/>
            <a:ext cx="40097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release() {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available = true;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7652824" y="1065555"/>
            <a:ext cx="3756074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common data</a:t>
            </a:r>
          </a:p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available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// initialized to True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73D6CE-EA9A-8782-A7B1-5597EE14E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38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3612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9182" y="235966"/>
            <a:ext cx="7472680" cy="6591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Is</a:t>
            </a:r>
            <a:r>
              <a:rPr spc="-20" dirty="0"/>
              <a:t> </a:t>
            </a:r>
            <a:r>
              <a:rPr spc="-5" dirty="0"/>
              <a:t>it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spc="-5" dirty="0"/>
              <a:t>Good</a:t>
            </a:r>
            <a:r>
              <a:rPr spc="-15" dirty="0"/>
              <a:t> </a:t>
            </a:r>
            <a:r>
              <a:rPr spc="-5" dirty="0"/>
              <a:t>Solution?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40" y="1637196"/>
            <a:ext cx="7465060" cy="2461571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583565" indent="-571500">
              <a:spcBef>
                <a:spcPts val="1155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6235" algn="l"/>
                <a:tab pos="5419090" algn="l"/>
              </a:tabLst>
            </a:pP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Mutual</a:t>
            </a:r>
            <a:r>
              <a:rPr sz="4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Exclusio</a:t>
            </a:r>
            <a:r>
              <a:rPr sz="440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:	Yes</a:t>
            </a:r>
            <a:endParaRPr sz="4400" dirty="0">
              <a:latin typeface="Arial MT"/>
              <a:cs typeface="Arial MT"/>
            </a:endParaRPr>
          </a:p>
          <a:p>
            <a:pPr marL="583565" indent="-571500">
              <a:spcBef>
                <a:spcPts val="1055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6235" algn="l"/>
                <a:tab pos="3246755" algn="l"/>
              </a:tabLst>
            </a:pP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Progress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:	Yes</a:t>
            </a:r>
            <a:endParaRPr sz="4400" dirty="0">
              <a:latin typeface="Arial MT"/>
              <a:cs typeface="Arial MT"/>
            </a:endParaRPr>
          </a:p>
          <a:p>
            <a:pPr marL="583565" indent="-571500">
              <a:spcBef>
                <a:spcPts val="1060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6235" algn="l"/>
                <a:tab pos="5417820" algn="l"/>
              </a:tabLst>
            </a:pP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Bounded</a:t>
            </a:r>
            <a:r>
              <a:rPr sz="44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b="1" spc="-5" dirty="0">
                <a:solidFill>
                  <a:srgbClr val="FFFFFF"/>
                </a:solidFill>
                <a:latin typeface="Arial"/>
                <a:cs typeface="Arial"/>
              </a:rPr>
              <a:t>Waiting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:	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endParaRPr sz="4400" dirty="0">
              <a:latin typeface="Arial MT"/>
              <a:cs typeface="Arial 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4DBC5-2ADE-452D-B4D5-E30F5558C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39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8934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9634" y="212801"/>
            <a:ext cx="4331335" cy="659796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5" dirty="0"/>
              <a:t>Semaphores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31340" y="969688"/>
            <a:ext cx="10140266" cy="3999813"/>
          </a:xfrm>
          <a:prstGeom prst="rect">
            <a:avLst/>
          </a:prstGeom>
        </p:spPr>
        <p:txBody>
          <a:bodyPr vert="horz" wrap="square" lIns="0" tIns="280670" rIns="0" bIns="0" rtlCol="0">
            <a:spAutoFit/>
          </a:bodyPr>
          <a:lstStyle/>
          <a:p>
            <a:pPr marL="584200" indent="-571500">
              <a:spcBef>
                <a:spcPts val="2210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Synchronization</a:t>
            </a:r>
            <a:r>
              <a:rPr sz="4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tool</a:t>
            </a:r>
            <a:endParaRPr sz="4400" dirty="0">
              <a:latin typeface="Arial MT"/>
              <a:cs typeface="Arial MT"/>
            </a:endParaRPr>
          </a:p>
          <a:p>
            <a:pPr marL="584200" indent="-571500">
              <a:spcBef>
                <a:spcPts val="2115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Semaphore</a:t>
            </a:r>
            <a:r>
              <a:rPr sz="4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8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4800" spc="-166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– integer variab</a:t>
            </a:r>
            <a:r>
              <a:rPr sz="4400" spc="5" dirty="0">
                <a:solidFill>
                  <a:srgbClr val="FFFFFF"/>
                </a:solidFill>
                <a:latin typeface="Arial MT"/>
                <a:cs typeface="Arial MT"/>
              </a:rPr>
              <a:t>l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e  that </a:t>
            </a:r>
            <a:r>
              <a:rPr sz="4400" spc="5" dirty="0">
                <a:solidFill>
                  <a:srgbClr val="FFFFFF"/>
                </a:solidFill>
                <a:latin typeface="Arial MT"/>
                <a:cs typeface="Arial MT"/>
              </a:rPr>
              <a:t>can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only be accessed via </a:t>
            </a:r>
            <a:r>
              <a:rPr sz="4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two indivisible (atomic) </a:t>
            </a:r>
            <a:r>
              <a:rPr sz="4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operations, ca</a:t>
            </a:r>
            <a:r>
              <a:rPr sz="4400" spc="10" dirty="0">
                <a:solidFill>
                  <a:srgbClr val="FFFFFF"/>
                </a:solidFill>
                <a:latin typeface="Arial MT"/>
                <a:cs typeface="Arial MT"/>
              </a:rPr>
              <a:t>l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led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spc="-5" dirty="0">
                <a:solidFill>
                  <a:srgbClr val="FFFFFF"/>
                </a:solidFill>
                <a:latin typeface="Courier New"/>
                <a:cs typeface="Courier New"/>
              </a:rPr>
              <a:t>wai</a:t>
            </a:r>
            <a:r>
              <a:rPr sz="4400" dirty="0">
                <a:solidFill>
                  <a:srgbClr val="FFFFFF"/>
                </a:solidFill>
                <a:latin typeface="Courier New"/>
                <a:cs typeface="Courier New"/>
              </a:rPr>
              <a:t>t</a:t>
            </a:r>
            <a:r>
              <a:rPr sz="4400" spc="-14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and  </a:t>
            </a:r>
            <a:r>
              <a:rPr sz="4400" spc="-10" dirty="0">
                <a:solidFill>
                  <a:srgbClr val="FFFFFF"/>
                </a:solidFill>
                <a:latin typeface="Courier New"/>
                <a:cs typeface="Courier New"/>
              </a:rPr>
              <a:t>signal</a:t>
            </a:r>
            <a:endParaRPr sz="4400" dirty="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99597-4AD5-073A-37F8-D2AEF3DA4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40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1067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9634" y="212801"/>
            <a:ext cx="4331335" cy="659796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5" dirty="0"/>
              <a:t>Semaphores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0251" y="1065222"/>
            <a:ext cx="11234627" cy="4615366"/>
          </a:xfrm>
          <a:prstGeom prst="rect">
            <a:avLst/>
          </a:prstGeom>
        </p:spPr>
        <p:txBody>
          <a:bodyPr vert="horz" wrap="square" lIns="0" tIns="280670" rIns="0" bIns="0" rtlCol="0">
            <a:spAutoFit/>
          </a:bodyPr>
          <a:lstStyle/>
          <a:p>
            <a:pPr marL="584200" indent="-571500">
              <a:spcBef>
                <a:spcPts val="2115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Binary Semaphore 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is a semaphore whose integer value range over 0 and 1. </a:t>
            </a:r>
          </a:p>
          <a:p>
            <a:pPr marL="584200" indent="-571500">
              <a:spcBef>
                <a:spcPts val="2115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counting semaphore 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is a semaphore that has multiple values of the counter. The value can range over an unrestricted domain.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E7B7E-486D-022E-90CC-723F2D3A9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41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1128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object 5"/>
          <p:cNvGrpSpPr/>
          <p:nvPr/>
        </p:nvGrpSpPr>
        <p:grpSpPr>
          <a:xfrm>
            <a:off x="3981522" y="4905021"/>
            <a:ext cx="4124325" cy="695325"/>
            <a:chOff x="2509837" y="3729037"/>
            <a:chExt cx="4124325" cy="695325"/>
          </a:xfrm>
          <a:solidFill>
            <a:schemeClr val="accent3">
              <a:lumMod val="75000"/>
            </a:schemeClr>
          </a:solidFill>
        </p:grpSpPr>
        <p:sp>
          <p:nvSpPr>
            <p:cNvPr id="15" name="object 6"/>
            <p:cNvSpPr/>
            <p:nvPr/>
          </p:nvSpPr>
          <p:spPr>
            <a:xfrm>
              <a:off x="2514600" y="3733800"/>
              <a:ext cx="4114800" cy="685800"/>
            </a:xfrm>
            <a:custGeom>
              <a:avLst/>
              <a:gdLst/>
              <a:ahLst/>
              <a:cxnLst/>
              <a:rect l="l" t="t" r="r" b="b"/>
              <a:pathLst>
                <a:path w="4114800" h="685800">
                  <a:moveTo>
                    <a:pt x="4114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4114800" y="685800"/>
                  </a:lnTo>
                  <a:lnTo>
                    <a:pt x="41148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7"/>
            <p:cNvSpPr/>
            <p:nvPr/>
          </p:nvSpPr>
          <p:spPr>
            <a:xfrm>
              <a:off x="2514600" y="3733800"/>
              <a:ext cx="4114800" cy="685800"/>
            </a:xfrm>
            <a:custGeom>
              <a:avLst/>
              <a:gdLst/>
              <a:ahLst/>
              <a:cxnLst/>
              <a:rect l="l" t="t" r="r" b="b"/>
              <a:pathLst>
                <a:path w="4114800" h="685800">
                  <a:moveTo>
                    <a:pt x="0" y="685800"/>
                  </a:moveTo>
                  <a:lnTo>
                    <a:pt x="4114800" y="685800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grpFill/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6813" y="235966"/>
            <a:ext cx="8492490" cy="6591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n-Processes</a:t>
            </a:r>
            <a:r>
              <a:rPr spc="-45" dirty="0"/>
              <a:t> </a:t>
            </a:r>
            <a:r>
              <a:rPr dirty="0"/>
              <a:t>CS</a:t>
            </a:r>
            <a:r>
              <a:rPr spc="-15" dirty="0"/>
              <a:t> </a:t>
            </a:r>
            <a:r>
              <a:rPr spc="-5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39" y="1116189"/>
            <a:ext cx="8476763" cy="204927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583565" indent="-571500">
              <a:spcBef>
                <a:spcPts val="580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6235" algn="l"/>
              </a:tabLst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Shared</a:t>
            </a:r>
            <a:r>
              <a:rPr sz="4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data:</a:t>
            </a:r>
            <a:endParaRPr sz="4000" dirty="0">
              <a:latin typeface="Arial MT"/>
              <a:cs typeface="Arial MT"/>
            </a:endParaRPr>
          </a:p>
          <a:p>
            <a:pPr marL="1572894" indent="-571500">
              <a:spcBef>
                <a:spcPts val="484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semaphore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mutex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1;</a:t>
            </a:r>
            <a:endParaRPr sz="4000" dirty="0">
              <a:latin typeface="Arial MT"/>
              <a:cs typeface="Arial MT"/>
            </a:endParaRPr>
          </a:p>
          <a:p>
            <a:pPr marL="583565" indent="-571500">
              <a:spcBef>
                <a:spcPts val="480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6235" algn="l"/>
              </a:tabLst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Structure of</a:t>
            </a:r>
            <a:r>
              <a:rPr sz="4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Pi:</a:t>
            </a:r>
            <a:endParaRPr sz="40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2200" y="3276600"/>
            <a:ext cx="7696200" cy="350520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4265"/>
              </a:lnSpc>
            </a:pP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do</a:t>
            </a:r>
            <a:r>
              <a:rPr sz="3600" b="1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3600" dirty="0">
              <a:latin typeface="Courier New"/>
              <a:cs typeface="Courier New"/>
            </a:endParaRPr>
          </a:p>
          <a:p>
            <a:pPr marL="2287905" marR="734060">
              <a:lnSpc>
                <a:spcPts val="9510"/>
              </a:lnSpc>
              <a:spcBef>
                <a:spcPts val="310"/>
              </a:spcBef>
            </a:pP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critical section </a:t>
            </a:r>
            <a:r>
              <a:rPr sz="3600" b="1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remainder</a:t>
            </a:r>
            <a:r>
              <a:rPr sz="3600" b="1" spc="-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section</a:t>
            </a:r>
            <a:endParaRPr sz="3600" dirty="0">
              <a:latin typeface="Courier New"/>
              <a:cs typeface="Courier New"/>
            </a:endParaRPr>
          </a:p>
          <a:p>
            <a:pPr marL="91440">
              <a:lnSpc>
                <a:spcPts val="3135"/>
              </a:lnSpc>
            </a:pPr>
            <a:r>
              <a:rPr sz="3600" b="1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r>
              <a:rPr sz="3600" b="1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while</a:t>
            </a:r>
            <a:r>
              <a:rPr sz="3600" b="1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(1);</a:t>
            </a:r>
            <a:endParaRPr sz="3600" dirty="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033838" y="3729038"/>
            <a:ext cx="4124325" cy="695325"/>
            <a:chOff x="2509837" y="3729037"/>
            <a:chExt cx="4124325" cy="695325"/>
          </a:xfrm>
          <a:solidFill>
            <a:schemeClr val="accent3">
              <a:lumMod val="75000"/>
            </a:schemeClr>
          </a:solidFill>
        </p:grpSpPr>
        <p:sp>
          <p:nvSpPr>
            <p:cNvPr id="6" name="object 6"/>
            <p:cNvSpPr/>
            <p:nvPr/>
          </p:nvSpPr>
          <p:spPr>
            <a:xfrm>
              <a:off x="2514600" y="3733800"/>
              <a:ext cx="4114800" cy="685800"/>
            </a:xfrm>
            <a:custGeom>
              <a:avLst/>
              <a:gdLst/>
              <a:ahLst/>
              <a:cxnLst/>
              <a:rect l="l" t="t" r="r" b="b"/>
              <a:pathLst>
                <a:path w="4114800" h="685800">
                  <a:moveTo>
                    <a:pt x="4114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4114800" y="685800"/>
                  </a:lnTo>
                  <a:lnTo>
                    <a:pt x="41148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14600" y="3733800"/>
              <a:ext cx="4114800" cy="685800"/>
            </a:xfrm>
            <a:custGeom>
              <a:avLst/>
              <a:gdLst/>
              <a:ahLst/>
              <a:cxnLst/>
              <a:rect l="l" t="t" r="r" b="b"/>
              <a:pathLst>
                <a:path w="4114800" h="685800">
                  <a:moveTo>
                    <a:pt x="0" y="685800"/>
                  </a:moveTo>
                  <a:lnTo>
                    <a:pt x="4114800" y="685800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grpFill/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038600" y="3733800"/>
            <a:ext cx="4114800" cy="5700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2075">
              <a:spcBef>
                <a:spcPts val="125"/>
              </a:spcBef>
            </a:pPr>
            <a:r>
              <a:rPr sz="3600" b="1" spc="-5" dirty="0">
                <a:latin typeface="Courier New"/>
                <a:cs typeface="Courier New"/>
              </a:rPr>
              <a:t>wait(mutex);</a:t>
            </a:r>
            <a:endParaRPr sz="3600" dirty="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52248" y="5007592"/>
            <a:ext cx="4114800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2075">
              <a:spcBef>
                <a:spcPts val="130"/>
              </a:spcBef>
            </a:pPr>
            <a:r>
              <a:rPr sz="3600" b="1" spc="-5" dirty="0">
                <a:latin typeface="Courier New"/>
                <a:cs typeface="Courier New"/>
              </a:rPr>
              <a:t>signal(mutex);</a:t>
            </a:r>
            <a:endParaRPr sz="3600" dirty="0">
              <a:latin typeface="Courier New"/>
              <a:cs typeface="Courier New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776A3-A0C8-0448-2C48-C056EB53A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42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3739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632" y="136601"/>
            <a:ext cx="4349750" cy="659796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spc="10" dirty="0"/>
              <a:t>Semaphores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6140" y="1000370"/>
            <a:ext cx="3684270" cy="5613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97815" indent="-343535">
              <a:lnSpc>
                <a:spcPct val="111600"/>
              </a:lnSpc>
              <a:spcBef>
                <a:spcPts val="95"/>
              </a:spcBef>
              <a:tabLst>
                <a:tab pos="3073400" algn="l"/>
              </a:tabLst>
            </a:pPr>
            <a:r>
              <a:rPr sz="4000" b="1" spc="-5" dirty="0">
                <a:solidFill>
                  <a:srgbClr val="FFFFFF"/>
                </a:solidFill>
                <a:latin typeface="Courier New"/>
                <a:cs typeface="Courier New"/>
              </a:rPr>
              <a:t>wait(S){ </a:t>
            </a:r>
            <a:r>
              <a:rPr sz="4000" b="1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Courier New"/>
                <a:cs typeface="Courier New"/>
              </a:rPr>
              <a:t>while</a:t>
            </a:r>
            <a:r>
              <a:rPr sz="4000" b="1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4000" b="1" spc="-15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4000" spc="-5" dirty="0">
                <a:solidFill>
                  <a:srgbClr val="FFFFFF"/>
                </a:solidFill>
                <a:latin typeface="Symbol"/>
                <a:cs typeface="Symbol"/>
              </a:rPr>
              <a:t></a:t>
            </a:r>
            <a:r>
              <a:rPr sz="4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4000" b="1" spc="-5" dirty="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4000">
              <a:latin typeface="Courier New"/>
              <a:cs typeface="Courier New"/>
            </a:endParaRPr>
          </a:p>
          <a:p>
            <a:pPr marL="355600" marR="5080" indent="570865">
              <a:lnSpc>
                <a:spcPts val="4320"/>
              </a:lnSpc>
              <a:spcBef>
                <a:spcPts val="950"/>
              </a:spcBef>
            </a:pPr>
            <a:r>
              <a:rPr sz="4000" b="1" spc="-5" dirty="0">
                <a:solidFill>
                  <a:srgbClr val="FFFFFF"/>
                </a:solidFill>
                <a:latin typeface="Courier New"/>
                <a:cs typeface="Courier New"/>
              </a:rPr>
              <a:t>;</a:t>
            </a:r>
            <a:r>
              <a:rPr sz="4000" b="1" spc="-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Courier New"/>
                <a:cs typeface="Courier New"/>
              </a:rPr>
              <a:t>//no-op </a:t>
            </a:r>
            <a:r>
              <a:rPr sz="4000" b="1" spc="-23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Courier New"/>
                <a:cs typeface="Courier New"/>
              </a:rPr>
              <a:t>S--;</a:t>
            </a:r>
            <a:endParaRPr sz="4000">
              <a:latin typeface="Courier New"/>
              <a:cs typeface="Courier New"/>
            </a:endParaRPr>
          </a:p>
          <a:p>
            <a:pPr marL="12700">
              <a:spcBef>
                <a:spcPts val="420"/>
              </a:spcBef>
            </a:pPr>
            <a:r>
              <a:rPr sz="4000" b="1" spc="-5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4000">
              <a:latin typeface="Courier New"/>
              <a:cs typeface="Courier New"/>
            </a:endParaRPr>
          </a:p>
          <a:p>
            <a:pPr marL="355600" marR="612775" indent="-343535">
              <a:lnSpc>
                <a:spcPct val="110000"/>
              </a:lnSpc>
              <a:spcBef>
                <a:spcPts val="2645"/>
              </a:spcBef>
            </a:pPr>
            <a:r>
              <a:rPr sz="4000" b="1" spc="-5" dirty="0">
                <a:solidFill>
                  <a:srgbClr val="FFFFFF"/>
                </a:solidFill>
                <a:latin typeface="Courier New"/>
                <a:cs typeface="Courier New"/>
              </a:rPr>
              <a:t>signal(S){  S++;</a:t>
            </a:r>
            <a:endParaRPr sz="4000">
              <a:latin typeface="Courier New"/>
              <a:cs typeface="Courier New"/>
            </a:endParaRPr>
          </a:p>
          <a:p>
            <a:pPr marL="12700">
              <a:spcBef>
                <a:spcPts val="480"/>
              </a:spcBef>
            </a:pPr>
            <a:r>
              <a:rPr sz="4000" b="1" spc="-5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4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173BF-14C7-CDF1-7472-D41FA9541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43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2208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9182" y="235966"/>
            <a:ext cx="7472680" cy="6591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Is</a:t>
            </a:r>
            <a:r>
              <a:rPr spc="-20" dirty="0"/>
              <a:t> </a:t>
            </a:r>
            <a:r>
              <a:rPr spc="-5" dirty="0"/>
              <a:t>it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spc="-5" dirty="0"/>
              <a:t>Good</a:t>
            </a:r>
            <a:r>
              <a:rPr spc="-15" dirty="0"/>
              <a:t> </a:t>
            </a:r>
            <a:r>
              <a:rPr spc="-5" dirty="0"/>
              <a:t>Solution?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40" y="1637196"/>
            <a:ext cx="7465060" cy="2461571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583565" indent="-571500">
              <a:spcBef>
                <a:spcPts val="1155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6235" algn="l"/>
                <a:tab pos="5419090" algn="l"/>
              </a:tabLst>
            </a:pP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Mutual</a:t>
            </a:r>
            <a:r>
              <a:rPr sz="4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Exclusio</a:t>
            </a:r>
            <a:r>
              <a:rPr sz="440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:	Yes</a:t>
            </a:r>
            <a:endParaRPr sz="4400" dirty="0">
              <a:latin typeface="Arial MT"/>
              <a:cs typeface="Arial MT"/>
            </a:endParaRPr>
          </a:p>
          <a:p>
            <a:pPr marL="583565" indent="-571500">
              <a:spcBef>
                <a:spcPts val="1055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6235" algn="l"/>
                <a:tab pos="3246755" algn="l"/>
              </a:tabLst>
            </a:pP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Progress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:	Yes</a:t>
            </a:r>
            <a:endParaRPr sz="4400" dirty="0">
              <a:latin typeface="Arial MT"/>
              <a:cs typeface="Arial MT"/>
            </a:endParaRPr>
          </a:p>
          <a:p>
            <a:pPr marL="583565" indent="-571500">
              <a:spcBef>
                <a:spcPts val="1060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6235" algn="l"/>
                <a:tab pos="5417820" algn="l"/>
              </a:tabLst>
            </a:pPr>
            <a:r>
              <a:rPr sz="4400" b="1" dirty="0">
                <a:solidFill>
                  <a:srgbClr val="FFFFFF"/>
                </a:solidFill>
                <a:latin typeface="Arial"/>
                <a:cs typeface="Arial"/>
              </a:rPr>
              <a:t>Bounded</a:t>
            </a:r>
            <a:r>
              <a:rPr sz="44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b="1" spc="-5" dirty="0">
                <a:solidFill>
                  <a:srgbClr val="FFFFFF"/>
                </a:solidFill>
                <a:latin typeface="Arial"/>
                <a:cs typeface="Arial"/>
              </a:rPr>
              <a:t>Waiting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:	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endParaRPr sz="4400" dirty="0">
              <a:latin typeface="Arial MT"/>
              <a:cs typeface="Arial 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DFE26-5C18-7527-B58C-4B49B9D6A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44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2402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2786" y="30303"/>
            <a:ext cx="5497195" cy="1306127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 marR="5080" indent="777240">
              <a:spcBef>
                <a:spcPts val="105"/>
              </a:spcBef>
            </a:pPr>
            <a:r>
              <a:rPr spc="-5" dirty="0"/>
              <a:t>Semaphore </a:t>
            </a:r>
            <a:r>
              <a:rPr dirty="0"/>
              <a:t> </a:t>
            </a:r>
            <a:r>
              <a:rPr spc="-5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39" y="1924634"/>
            <a:ext cx="9527009" cy="39106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>
              <a:spcBef>
                <a:spcPts val="95"/>
              </a:spcBef>
              <a:buClr>
                <a:srgbClr val="FFFF66"/>
              </a:buClr>
              <a:tabLst>
                <a:tab pos="356235" algn="l"/>
              </a:tabLst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Define a semaphore</a:t>
            </a:r>
            <a:r>
              <a:rPr sz="40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as a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record</a:t>
            </a:r>
            <a:endParaRPr sz="4000" dirty="0">
              <a:latin typeface="Arial MT"/>
              <a:cs typeface="Arial MT"/>
            </a:endParaRPr>
          </a:p>
          <a:p>
            <a:pPr>
              <a:spcBef>
                <a:spcPts val="55"/>
              </a:spcBef>
            </a:pPr>
            <a:endParaRPr sz="3650" dirty="0">
              <a:latin typeface="Arial MT"/>
              <a:cs typeface="Arial MT"/>
            </a:endParaRPr>
          </a:p>
          <a:p>
            <a:pPr marL="1841500" marR="1815464" indent="-914400">
              <a:lnSpc>
                <a:spcPct val="120000"/>
              </a:lnSpc>
              <a:tabLst>
                <a:tab pos="3364865" algn="l"/>
                <a:tab pos="5498465" algn="l"/>
              </a:tabLst>
            </a:pPr>
            <a:r>
              <a:rPr sz="4000" b="1" spc="-5" dirty="0">
                <a:solidFill>
                  <a:srgbClr val="FFFFFF"/>
                </a:solidFill>
                <a:latin typeface="Courier New"/>
                <a:cs typeface="Courier New"/>
              </a:rPr>
              <a:t>typedef	struct	{  int</a:t>
            </a:r>
            <a:r>
              <a:rPr sz="4000" b="1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Courier New"/>
                <a:cs typeface="Courier New"/>
              </a:rPr>
              <a:t>value;</a:t>
            </a:r>
            <a:endParaRPr sz="4000" dirty="0">
              <a:latin typeface="Courier New"/>
              <a:cs typeface="Courier New"/>
            </a:endParaRPr>
          </a:p>
          <a:p>
            <a:pPr marL="1841500">
              <a:tabLst>
                <a:tab pos="3974465" algn="l"/>
                <a:tab pos="6412865" algn="l"/>
              </a:tabLst>
            </a:pPr>
            <a:r>
              <a:rPr sz="4000" b="1" spc="-5" dirty="0">
                <a:solidFill>
                  <a:srgbClr val="FFFFFF"/>
                </a:solidFill>
                <a:latin typeface="Courier New"/>
                <a:cs typeface="Courier New"/>
              </a:rPr>
              <a:t>struct	process	*L</a:t>
            </a:r>
            <a:r>
              <a:rPr lang="en-US" sz="4000" b="1" spc="-5" dirty="0">
                <a:solidFill>
                  <a:srgbClr val="FFFFFF"/>
                </a:solidFill>
                <a:latin typeface="Courier New"/>
                <a:cs typeface="Courier New"/>
              </a:rPr>
              <a:t>ist</a:t>
            </a:r>
            <a:r>
              <a:rPr sz="4000" b="1" spc="-5" dirty="0">
                <a:solidFill>
                  <a:srgbClr val="FFFFFF"/>
                </a:solidFill>
                <a:latin typeface="Courier New"/>
                <a:cs typeface="Courier New"/>
              </a:rPr>
              <a:t>;</a:t>
            </a:r>
            <a:endParaRPr sz="4000" dirty="0">
              <a:latin typeface="Courier New"/>
              <a:cs typeface="Courier New"/>
            </a:endParaRPr>
          </a:p>
          <a:p>
            <a:pPr marL="927100"/>
            <a:r>
              <a:rPr sz="4000" b="1" spc="-5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r>
              <a:rPr sz="4000" b="1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Courier New"/>
                <a:cs typeface="Courier New"/>
              </a:rPr>
              <a:t>semaphore</a:t>
            </a:r>
            <a:r>
              <a:rPr sz="4000" spc="-5" dirty="0">
                <a:solidFill>
                  <a:srgbClr val="FFFFFF"/>
                </a:solidFill>
                <a:latin typeface="Courier New"/>
                <a:cs typeface="Courier New"/>
              </a:rPr>
              <a:t>;</a:t>
            </a:r>
            <a:endParaRPr sz="4000" dirty="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49BF4-8C2A-89CC-2E61-6B7695E12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2735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2786" y="30303"/>
            <a:ext cx="5497195" cy="1306127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 marR="5080" indent="777240">
              <a:spcBef>
                <a:spcPts val="105"/>
              </a:spcBef>
            </a:pPr>
            <a:r>
              <a:rPr spc="-5" dirty="0"/>
              <a:t>Semaphore </a:t>
            </a:r>
            <a:r>
              <a:rPr dirty="0"/>
              <a:t> </a:t>
            </a:r>
            <a:r>
              <a:rPr spc="-5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3331" y="1944861"/>
            <a:ext cx="10881815" cy="3758208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584200" indent="-571500">
              <a:spcBef>
                <a:spcPts val="855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Assume</a:t>
            </a:r>
            <a:r>
              <a:rPr sz="4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two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simple</a:t>
            </a:r>
            <a:r>
              <a:rPr sz="4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operations:</a:t>
            </a:r>
            <a:endParaRPr sz="4400" dirty="0">
              <a:latin typeface="Arial MT"/>
              <a:cs typeface="Arial MT"/>
            </a:endParaRPr>
          </a:p>
          <a:p>
            <a:pPr marL="1040765" marR="1856739" lvl="1" indent="-571500">
              <a:lnSpc>
                <a:spcPct val="105700"/>
              </a:lnSpc>
              <a:spcBef>
                <a:spcPts val="455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756920" algn="l"/>
              </a:tabLst>
            </a:pPr>
            <a:r>
              <a:rPr sz="4400" spc="-5" dirty="0">
                <a:solidFill>
                  <a:srgbClr val="FFFFFF"/>
                </a:solidFill>
                <a:latin typeface="Courier New"/>
                <a:cs typeface="Courier New"/>
              </a:rPr>
              <a:t>block(</a:t>
            </a:r>
            <a:r>
              <a:rPr sz="4400" dirty="0">
                <a:solidFill>
                  <a:srgbClr val="FFFFFF"/>
                </a:solidFill>
                <a:latin typeface="Courier New"/>
                <a:cs typeface="Courier New"/>
              </a:rPr>
              <a:t>)</a:t>
            </a:r>
            <a:r>
              <a:rPr sz="4400" spc="-14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suspends</a:t>
            </a:r>
            <a:r>
              <a:rPr sz="4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4400" spc="-15" dirty="0">
                <a:solidFill>
                  <a:srgbClr val="FFFFFF"/>
                </a:solidFill>
                <a:latin typeface="Arial MT"/>
                <a:cs typeface="Arial MT"/>
              </a:rPr>
              <a:t>h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e process</a:t>
            </a:r>
            <a:r>
              <a:rPr sz="4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4400" spc="-30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hat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invokes</a:t>
            </a:r>
            <a:r>
              <a:rPr sz="4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it.</a:t>
            </a:r>
            <a:endParaRPr sz="4400" dirty="0">
              <a:latin typeface="Arial MT"/>
              <a:cs typeface="Arial MT"/>
            </a:endParaRPr>
          </a:p>
          <a:p>
            <a:pPr marL="1040765" marR="5080" lvl="1" indent="-571500">
              <a:lnSpc>
                <a:spcPct val="102899"/>
              </a:lnSpc>
              <a:spcBef>
                <a:spcPts val="605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756920" algn="l"/>
              </a:tabLst>
            </a:pPr>
            <a:r>
              <a:rPr sz="4400" spc="-5" dirty="0">
                <a:solidFill>
                  <a:srgbClr val="FFFFFF"/>
                </a:solidFill>
                <a:latin typeface="Courier New"/>
                <a:cs typeface="Courier New"/>
              </a:rPr>
              <a:t>wakeup(P</a:t>
            </a:r>
            <a:r>
              <a:rPr sz="4400" dirty="0">
                <a:solidFill>
                  <a:srgbClr val="FFFFFF"/>
                </a:solidFill>
                <a:latin typeface="Courier New"/>
                <a:cs typeface="Courier New"/>
              </a:rPr>
              <a:t>)</a:t>
            </a:r>
            <a:r>
              <a:rPr sz="4400" spc="-14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resumes</a:t>
            </a:r>
            <a:r>
              <a:rPr sz="4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4400" spc="-15" dirty="0">
                <a:solidFill>
                  <a:srgbClr val="FFFFFF"/>
                </a:solidFill>
                <a:latin typeface="Arial MT"/>
                <a:cs typeface="Arial MT"/>
              </a:rPr>
              <a:t>h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e  execution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4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blocked</a:t>
            </a:r>
            <a:r>
              <a:rPr sz="4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process </a:t>
            </a:r>
            <a:r>
              <a:rPr sz="4400" spc="-12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P.</a:t>
            </a:r>
            <a:endParaRPr sz="4400" dirty="0">
              <a:latin typeface="Arial MT"/>
              <a:cs typeface="Arial 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D04A2-5631-E132-6DC2-205A73579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3696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2786" y="0"/>
            <a:ext cx="5497195" cy="130548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 indent="777240">
              <a:spcBef>
                <a:spcPts val="100"/>
              </a:spcBef>
            </a:pPr>
            <a:r>
              <a:rPr spc="-5" dirty="0"/>
              <a:t>Semaphore </a:t>
            </a:r>
            <a:r>
              <a:rPr dirty="0"/>
              <a:t> </a:t>
            </a:r>
            <a:r>
              <a:rPr spc="-5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4024" y="1632608"/>
            <a:ext cx="11455021" cy="428277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584200" marR="5080" indent="-571500">
              <a:lnSpc>
                <a:spcPct val="101899"/>
              </a:lnSpc>
              <a:spcBef>
                <a:spcPts val="300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negative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value</a:t>
            </a:r>
            <a:r>
              <a:rPr sz="4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4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spc="-5" dirty="0">
                <a:solidFill>
                  <a:srgbClr val="FFFFFF"/>
                </a:solidFill>
                <a:latin typeface="Courier New"/>
                <a:cs typeface="Courier New"/>
              </a:rPr>
              <a:t>S.value </a:t>
            </a:r>
            <a:r>
              <a:rPr sz="4400" spc="-26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indicates the number of </a:t>
            </a:r>
            <a:r>
              <a:rPr sz="4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processes waiting for the </a:t>
            </a:r>
            <a:r>
              <a:rPr sz="4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semaphore</a:t>
            </a:r>
            <a:endParaRPr sz="4400" dirty="0">
              <a:latin typeface="Arial MT"/>
              <a:cs typeface="Arial MT"/>
            </a:endParaRPr>
          </a:p>
          <a:p>
            <a:pPr marL="584200" marR="145415" indent="-571500" algn="just">
              <a:spcBef>
                <a:spcPts val="1055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4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pointer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PCB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needed</a:t>
            </a:r>
            <a:r>
              <a:rPr sz="4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4400" spc="-12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maintain a queue of processes </a:t>
            </a:r>
            <a:r>
              <a:rPr sz="4400" spc="-12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waiting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semaphore</a:t>
            </a:r>
            <a:endParaRPr sz="4400" dirty="0">
              <a:latin typeface="Arial MT"/>
              <a:cs typeface="Arial 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A0865-AC78-20E6-EE76-978E962FA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47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0957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4644" y="210058"/>
            <a:ext cx="6443980" cy="6591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Semaphore</a:t>
            </a:r>
            <a:r>
              <a:rPr spc="-65" dirty="0"/>
              <a:t> </a:t>
            </a:r>
            <a:r>
              <a:rPr b="1" spc="-5" dirty="0">
                <a:latin typeface="Courier New"/>
                <a:cs typeface="Courier New"/>
              </a:rPr>
              <a:t>wait()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3583" y="1170177"/>
            <a:ext cx="10481480" cy="5280292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1238885">
              <a:lnSpc>
                <a:spcPts val="4760"/>
              </a:lnSpc>
              <a:spcBef>
                <a:spcPts val="695"/>
              </a:spcBef>
              <a:buClr>
                <a:srgbClr val="FFFF66"/>
              </a:buClr>
              <a:tabLst>
                <a:tab pos="355600" algn="l"/>
              </a:tabLst>
            </a:pP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Semaphore</a:t>
            </a:r>
            <a:r>
              <a:rPr sz="4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operations</a:t>
            </a:r>
            <a:r>
              <a:rPr sz="4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now </a:t>
            </a:r>
            <a:r>
              <a:rPr sz="4400" spc="-12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defined</a:t>
            </a:r>
            <a:r>
              <a:rPr sz="4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endParaRPr sz="4400" dirty="0">
              <a:latin typeface="Arial MT"/>
              <a:cs typeface="Arial MT"/>
            </a:endParaRPr>
          </a:p>
          <a:p>
            <a:pPr marL="355600">
              <a:lnSpc>
                <a:spcPts val="4265"/>
              </a:lnSpc>
            </a:pP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void</a:t>
            </a:r>
            <a:r>
              <a:rPr sz="3600" b="1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wait(semaphore</a:t>
            </a:r>
            <a:r>
              <a:rPr sz="3600" b="1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S){</a:t>
            </a:r>
            <a:endParaRPr sz="3600" dirty="0">
              <a:latin typeface="Courier New"/>
              <a:cs typeface="Courier New"/>
            </a:endParaRPr>
          </a:p>
          <a:p>
            <a:pPr marL="927100">
              <a:spcBef>
                <a:spcPts val="215"/>
              </a:spcBef>
            </a:pP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S.value--;</a:t>
            </a:r>
            <a:endParaRPr sz="3600" dirty="0">
              <a:latin typeface="Courier New"/>
              <a:cs typeface="Courier New"/>
            </a:endParaRPr>
          </a:p>
          <a:p>
            <a:pPr marL="927100">
              <a:spcBef>
                <a:spcPts val="219"/>
              </a:spcBef>
            </a:pP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if</a:t>
            </a:r>
            <a:r>
              <a:rPr sz="3600" b="1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(S.value</a:t>
            </a:r>
            <a:r>
              <a:rPr sz="3600" b="1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ourier New"/>
                <a:cs typeface="Courier New"/>
              </a:rPr>
              <a:t>&lt;</a:t>
            </a: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b="1" spc="5" dirty="0">
                <a:solidFill>
                  <a:srgbClr val="FFFFFF"/>
                </a:solidFill>
                <a:latin typeface="Courier New"/>
                <a:cs typeface="Courier New"/>
              </a:rPr>
              <a:t>0)</a:t>
            </a:r>
            <a:r>
              <a:rPr sz="3600" b="1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3600" dirty="0">
              <a:latin typeface="Courier New"/>
              <a:cs typeface="Courier New"/>
            </a:endParaRPr>
          </a:p>
          <a:p>
            <a:pPr marL="1841500" marR="5080">
              <a:lnSpc>
                <a:spcPts val="3890"/>
              </a:lnSpc>
              <a:spcBef>
                <a:spcPts val="700"/>
              </a:spcBef>
            </a:pP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add this process to </a:t>
            </a:r>
            <a:r>
              <a:rPr sz="3600" b="1" spc="-5" dirty="0" err="1">
                <a:solidFill>
                  <a:srgbClr val="FFFFFF"/>
                </a:solidFill>
                <a:latin typeface="Courier New"/>
                <a:cs typeface="Courier New"/>
              </a:rPr>
              <a:t>S.L</a:t>
            </a:r>
            <a:r>
              <a:rPr lang="en-US" sz="3600" b="1" spc="-5" dirty="0" err="1">
                <a:solidFill>
                  <a:srgbClr val="FFFFFF"/>
                </a:solidFill>
                <a:latin typeface="Courier New"/>
                <a:cs typeface="Courier New"/>
              </a:rPr>
              <a:t>ist</a:t>
            </a: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; </a:t>
            </a:r>
            <a:r>
              <a:rPr sz="3600" b="1" spc="-21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block();</a:t>
            </a:r>
            <a:endParaRPr sz="3600" dirty="0">
              <a:latin typeface="Courier New"/>
              <a:cs typeface="Courier New"/>
            </a:endParaRPr>
          </a:p>
          <a:p>
            <a:pPr marL="927100">
              <a:spcBef>
                <a:spcPts val="160"/>
              </a:spcBef>
            </a:pPr>
            <a:r>
              <a:rPr sz="3600" b="1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3600" dirty="0">
              <a:latin typeface="Courier New"/>
              <a:cs typeface="Courier New"/>
            </a:endParaRPr>
          </a:p>
          <a:p>
            <a:pPr marL="355600">
              <a:spcBef>
                <a:spcPts val="215"/>
              </a:spcBef>
            </a:pPr>
            <a:r>
              <a:rPr sz="3600" b="1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3600" dirty="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00941-5798-DCC4-28F6-D3D79AD03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48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5893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3671" y="248158"/>
            <a:ext cx="7206615" cy="6591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Semaphore</a:t>
            </a:r>
            <a:r>
              <a:rPr spc="-60" dirty="0"/>
              <a:t> </a:t>
            </a:r>
            <a:r>
              <a:rPr b="1" spc="-5" dirty="0">
                <a:latin typeface="Courier New"/>
                <a:cs typeface="Courier New"/>
              </a:rPr>
              <a:t>signal()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7539" y="1429258"/>
            <a:ext cx="9379159" cy="3786934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561340" marR="1377315" indent="-549275">
              <a:lnSpc>
                <a:spcPts val="4260"/>
              </a:lnSpc>
              <a:spcBef>
                <a:spcPts val="290"/>
              </a:spcBef>
            </a:pP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void signal(semaphore S){ </a:t>
            </a:r>
            <a:r>
              <a:rPr sz="3600" b="1" spc="-21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S.value++;</a:t>
            </a:r>
            <a:endParaRPr sz="3600" dirty="0">
              <a:latin typeface="Courier New"/>
              <a:cs typeface="Courier New"/>
            </a:endParaRPr>
          </a:p>
          <a:p>
            <a:pPr marL="561340">
              <a:lnSpc>
                <a:spcPts val="4190"/>
              </a:lnSpc>
            </a:pP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if</a:t>
            </a:r>
            <a:r>
              <a:rPr sz="3600" b="1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(S.value</a:t>
            </a:r>
            <a:r>
              <a:rPr sz="3600" b="1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ourier New"/>
                <a:cs typeface="Courier New"/>
              </a:rPr>
              <a:t>&lt;=</a:t>
            </a:r>
            <a:r>
              <a:rPr sz="3600" b="1" spc="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0)</a:t>
            </a:r>
            <a:r>
              <a:rPr sz="3600" b="1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3600" dirty="0">
              <a:latin typeface="Courier New"/>
              <a:cs typeface="Courier New"/>
            </a:endParaRPr>
          </a:p>
          <a:p>
            <a:pPr marL="1109980" marR="5080">
              <a:lnSpc>
                <a:spcPts val="3460"/>
              </a:lnSpc>
              <a:spcBef>
                <a:spcPts val="835"/>
              </a:spcBef>
            </a:pP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remove process </a:t>
            </a:r>
            <a:r>
              <a:rPr sz="3600" b="1" dirty="0">
                <a:solidFill>
                  <a:srgbClr val="FFFFFF"/>
                </a:solidFill>
                <a:latin typeface="Courier New"/>
                <a:cs typeface="Courier New"/>
              </a:rPr>
              <a:t>P </a:t>
            </a: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from </a:t>
            </a:r>
            <a:r>
              <a:rPr sz="3600" b="1" spc="-5" dirty="0" err="1">
                <a:solidFill>
                  <a:srgbClr val="FFFFFF"/>
                </a:solidFill>
                <a:latin typeface="Courier New"/>
                <a:cs typeface="Courier New"/>
              </a:rPr>
              <a:t>S.L</a:t>
            </a:r>
            <a:r>
              <a:rPr lang="en-US" sz="3600" b="1" spc="-5" dirty="0" err="1">
                <a:solidFill>
                  <a:srgbClr val="FFFFFF"/>
                </a:solidFill>
                <a:latin typeface="Courier New"/>
                <a:cs typeface="Courier New"/>
              </a:rPr>
              <a:t>ist</a:t>
            </a: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; </a:t>
            </a:r>
            <a:r>
              <a:rPr sz="3600" b="1" spc="-21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b="1" spc="-5" dirty="0">
                <a:solidFill>
                  <a:srgbClr val="FFFFFF"/>
                </a:solidFill>
                <a:latin typeface="Courier New"/>
                <a:cs typeface="Courier New"/>
              </a:rPr>
              <a:t>wakeup(P);</a:t>
            </a:r>
            <a:endParaRPr sz="3600" dirty="0">
              <a:latin typeface="Courier New"/>
              <a:cs typeface="Courier New"/>
            </a:endParaRPr>
          </a:p>
          <a:p>
            <a:pPr marL="561340">
              <a:spcBef>
                <a:spcPts val="25"/>
              </a:spcBef>
            </a:pPr>
            <a:r>
              <a:rPr sz="3600" b="1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3600" dirty="0">
              <a:latin typeface="Courier New"/>
              <a:cs typeface="Courier New"/>
            </a:endParaRPr>
          </a:p>
          <a:p>
            <a:pPr marL="12700"/>
            <a:r>
              <a:rPr sz="3600" b="1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3600" dirty="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91CB3-E071-14A0-4419-1A9EA4D10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6276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2926" y="452719"/>
            <a:ext cx="9407173" cy="6591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235200" marR="5080" indent="-759460">
              <a:spcBef>
                <a:spcPts val="100"/>
              </a:spcBef>
            </a:pPr>
            <a:r>
              <a:rPr dirty="0"/>
              <a:t>Deadlocks</a:t>
            </a:r>
            <a:r>
              <a:rPr spc="-90" dirty="0"/>
              <a:t> </a:t>
            </a:r>
            <a:r>
              <a:rPr dirty="0"/>
              <a:t>and </a:t>
            </a:r>
            <a:r>
              <a:rPr spc="-1655" dirty="0"/>
              <a:t> </a:t>
            </a:r>
            <a:r>
              <a:rPr spc="-5" dirty="0"/>
              <a:t>Starvation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729" y="1482598"/>
            <a:ext cx="11177516" cy="4731423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584200" marR="5080" indent="-571500">
              <a:lnSpc>
                <a:spcPct val="90000"/>
              </a:lnSpc>
              <a:spcBef>
                <a:spcPts val="575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4000" spc="-2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set of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processes are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said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 be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in </a:t>
            </a:r>
            <a:r>
              <a:rPr sz="4000" spc="-10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deadlock</a:t>
            </a:r>
            <a:r>
              <a:rPr sz="4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state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if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every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is </a:t>
            </a:r>
            <a:r>
              <a:rPr sz="4000" spc="-10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waiting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an event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that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can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be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caused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only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another</a:t>
            </a:r>
            <a:r>
              <a:rPr sz="40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r>
              <a:rPr sz="4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in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set.</a:t>
            </a:r>
            <a:endParaRPr sz="4000" dirty="0">
              <a:latin typeface="Arial MT"/>
              <a:cs typeface="Arial MT"/>
            </a:endParaRPr>
          </a:p>
          <a:p>
            <a:pPr marL="1040765" lvl="1" indent="-571500">
              <a:spcBef>
                <a:spcPts val="445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756920" algn="l"/>
              </a:tabLst>
            </a:pP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Traffic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deadlocks</a:t>
            </a:r>
            <a:endParaRPr sz="3600" dirty="0">
              <a:latin typeface="Arial MT"/>
              <a:cs typeface="Arial MT"/>
            </a:endParaRPr>
          </a:p>
          <a:p>
            <a:pPr marL="1040765" lvl="1" indent="-571500">
              <a:spcBef>
                <a:spcPts val="434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756920" algn="l"/>
              </a:tabLst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One-way</a:t>
            </a:r>
            <a:r>
              <a:rPr sz="3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bridge-crossing</a:t>
            </a:r>
            <a:endParaRPr sz="3600" dirty="0">
              <a:latin typeface="Arial MT"/>
              <a:cs typeface="Arial MT"/>
            </a:endParaRPr>
          </a:p>
          <a:p>
            <a:pPr marL="584200" marR="117475" indent="-571500">
              <a:lnSpc>
                <a:spcPts val="4320"/>
              </a:lnSpc>
              <a:spcBef>
                <a:spcPts val="1010"/>
              </a:spcBef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Starvation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(infinite</a:t>
            </a:r>
            <a:r>
              <a:rPr sz="4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blocking)</a:t>
            </a:r>
            <a:r>
              <a:rPr sz="40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due 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4000" spc="-10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unavailability</a:t>
            </a:r>
            <a:r>
              <a:rPr sz="4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resources</a:t>
            </a:r>
            <a:endParaRPr sz="4000" dirty="0">
              <a:latin typeface="Arial MT"/>
              <a:cs typeface="Arial 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785DB-B75E-9DBA-75D3-1DA87C981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50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4702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3786" y="403301"/>
            <a:ext cx="3277235" cy="659796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Deadlock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50441" y="1545679"/>
            <a:ext cx="3376929" cy="458660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692150">
              <a:spcBef>
                <a:spcPts val="600"/>
              </a:spcBef>
            </a:pPr>
            <a:r>
              <a:rPr sz="5400" b="1" spc="-5" dirty="0">
                <a:solidFill>
                  <a:srgbClr val="FFFFFF"/>
                </a:solidFill>
                <a:latin typeface="Arial"/>
                <a:cs typeface="Arial"/>
              </a:rPr>
              <a:t>P0</a:t>
            </a:r>
            <a:endParaRPr sz="5400">
              <a:latin typeface="Arial"/>
              <a:cs typeface="Arial"/>
            </a:endParaRPr>
          </a:p>
          <a:p>
            <a:pPr marL="12700">
              <a:spcBef>
                <a:spcPts val="414"/>
              </a:spcBef>
            </a:pPr>
            <a:r>
              <a:rPr sz="4400" b="1" spc="-10" dirty="0">
                <a:solidFill>
                  <a:srgbClr val="FFFFFF"/>
                </a:solidFill>
                <a:latin typeface="Courier New"/>
                <a:cs typeface="Courier New"/>
              </a:rPr>
              <a:t>wait(S);</a:t>
            </a:r>
            <a:endParaRPr sz="4400">
              <a:latin typeface="Courier New"/>
              <a:cs typeface="Courier New"/>
            </a:endParaRPr>
          </a:p>
          <a:p>
            <a:pPr marL="12700">
              <a:spcBef>
                <a:spcPts val="530"/>
              </a:spcBef>
            </a:pPr>
            <a:r>
              <a:rPr sz="4400" b="1" spc="-5" dirty="0">
                <a:solidFill>
                  <a:srgbClr val="FFFFFF"/>
                </a:solidFill>
                <a:latin typeface="Courier New"/>
                <a:cs typeface="Courier New"/>
              </a:rPr>
              <a:t>wait(Q);</a:t>
            </a:r>
            <a:endParaRPr sz="4400">
              <a:latin typeface="Courier New"/>
              <a:cs typeface="Courier New"/>
            </a:endParaRPr>
          </a:p>
          <a:p>
            <a:pPr marL="12700" marR="5080" indent="571500">
              <a:lnSpc>
                <a:spcPct val="109300"/>
              </a:lnSpc>
              <a:spcBef>
                <a:spcPts val="105"/>
              </a:spcBef>
            </a:pPr>
            <a:r>
              <a:rPr sz="4400" b="1" spc="-1070" dirty="0">
                <a:solidFill>
                  <a:srgbClr val="FFFFFF"/>
                </a:solidFill>
                <a:latin typeface="Tahoma"/>
                <a:cs typeface="Tahoma"/>
              </a:rPr>
              <a:t>⁝ </a:t>
            </a:r>
            <a:r>
              <a:rPr sz="4400" b="1" spc="-10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400" b="1" spc="-5" dirty="0">
                <a:solidFill>
                  <a:srgbClr val="FFFFFF"/>
                </a:solidFill>
                <a:latin typeface="Courier New"/>
                <a:cs typeface="Courier New"/>
              </a:rPr>
              <a:t>sig</a:t>
            </a:r>
            <a:r>
              <a:rPr sz="4400" b="1" spc="-3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4400" b="1" spc="-5" dirty="0">
                <a:solidFill>
                  <a:srgbClr val="FFFFFF"/>
                </a:solidFill>
                <a:latin typeface="Courier New"/>
                <a:cs typeface="Courier New"/>
              </a:rPr>
              <a:t>al(</a:t>
            </a:r>
            <a:r>
              <a:rPr sz="4400" b="1" spc="-3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4400" b="1" spc="-5" dirty="0">
                <a:solidFill>
                  <a:srgbClr val="FFFFFF"/>
                </a:solidFill>
                <a:latin typeface="Courier New"/>
                <a:cs typeface="Courier New"/>
              </a:rPr>
              <a:t>);  sig</a:t>
            </a:r>
            <a:r>
              <a:rPr sz="4400" b="1" spc="-25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4400" b="1" spc="-5" dirty="0">
                <a:solidFill>
                  <a:srgbClr val="FFFFFF"/>
                </a:solidFill>
                <a:latin typeface="Courier New"/>
                <a:cs typeface="Courier New"/>
              </a:rPr>
              <a:t>al(</a:t>
            </a:r>
            <a:r>
              <a:rPr sz="4400" b="1" spc="-25" dirty="0">
                <a:solidFill>
                  <a:srgbClr val="FFFFFF"/>
                </a:solidFill>
                <a:latin typeface="Courier New"/>
                <a:cs typeface="Courier New"/>
              </a:rPr>
              <a:t>Q</a:t>
            </a:r>
            <a:r>
              <a:rPr sz="4400" b="1" spc="-5" dirty="0">
                <a:solidFill>
                  <a:srgbClr val="FFFFFF"/>
                </a:solidFill>
                <a:latin typeface="Courier New"/>
                <a:cs typeface="Courier New"/>
              </a:rPr>
              <a:t>);</a:t>
            </a:r>
            <a:endParaRPr sz="4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80429" y="1545679"/>
            <a:ext cx="3376929" cy="458660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622300">
              <a:spcBef>
                <a:spcPts val="600"/>
              </a:spcBef>
            </a:pPr>
            <a:r>
              <a:rPr sz="5400" b="1" spc="-5" dirty="0">
                <a:solidFill>
                  <a:srgbClr val="FFFFFF"/>
                </a:solidFill>
                <a:latin typeface="Arial"/>
                <a:cs typeface="Arial"/>
              </a:rPr>
              <a:t>P1</a:t>
            </a:r>
            <a:endParaRPr sz="5400">
              <a:latin typeface="Arial"/>
              <a:cs typeface="Arial"/>
            </a:endParaRPr>
          </a:p>
          <a:p>
            <a:pPr marL="12700">
              <a:spcBef>
                <a:spcPts val="414"/>
              </a:spcBef>
            </a:pPr>
            <a:r>
              <a:rPr sz="4400" b="1" spc="-10" dirty="0">
                <a:solidFill>
                  <a:srgbClr val="FFFFFF"/>
                </a:solidFill>
                <a:latin typeface="Courier New"/>
                <a:cs typeface="Courier New"/>
              </a:rPr>
              <a:t>wait(Q);</a:t>
            </a:r>
            <a:endParaRPr sz="4400">
              <a:latin typeface="Courier New"/>
              <a:cs typeface="Courier New"/>
            </a:endParaRPr>
          </a:p>
          <a:p>
            <a:pPr marL="12700">
              <a:spcBef>
                <a:spcPts val="530"/>
              </a:spcBef>
            </a:pPr>
            <a:r>
              <a:rPr sz="4400" b="1" spc="-5" dirty="0">
                <a:solidFill>
                  <a:srgbClr val="FFFFFF"/>
                </a:solidFill>
                <a:latin typeface="Courier New"/>
                <a:cs typeface="Courier New"/>
              </a:rPr>
              <a:t>wait(S);</a:t>
            </a:r>
            <a:endParaRPr sz="4400">
              <a:latin typeface="Courier New"/>
              <a:cs typeface="Courier New"/>
            </a:endParaRPr>
          </a:p>
          <a:p>
            <a:pPr marL="12700" marR="5080">
              <a:lnSpc>
                <a:spcPct val="109300"/>
              </a:lnSpc>
              <a:spcBef>
                <a:spcPts val="105"/>
              </a:spcBef>
            </a:pPr>
            <a:r>
              <a:rPr sz="4400" b="1" spc="-1070" dirty="0">
                <a:solidFill>
                  <a:srgbClr val="FFFFFF"/>
                </a:solidFill>
                <a:latin typeface="Tahoma"/>
                <a:cs typeface="Tahoma"/>
              </a:rPr>
              <a:t>⁝ </a:t>
            </a:r>
            <a:r>
              <a:rPr sz="4400" b="1" spc="-10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400" b="1" spc="-5" dirty="0">
                <a:solidFill>
                  <a:srgbClr val="FFFFFF"/>
                </a:solidFill>
                <a:latin typeface="Courier New"/>
                <a:cs typeface="Courier New"/>
              </a:rPr>
              <a:t>sig</a:t>
            </a:r>
            <a:r>
              <a:rPr sz="4400" b="1" spc="-3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4400" b="1" spc="-5" dirty="0">
                <a:solidFill>
                  <a:srgbClr val="FFFFFF"/>
                </a:solidFill>
                <a:latin typeface="Courier New"/>
                <a:cs typeface="Courier New"/>
              </a:rPr>
              <a:t>al(</a:t>
            </a:r>
            <a:r>
              <a:rPr sz="4400" b="1" spc="-30" dirty="0">
                <a:solidFill>
                  <a:srgbClr val="FFFFFF"/>
                </a:solidFill>
                <a:latin typeface="Courier New"/>
                <a:cs typeface="Courier New"/>
              </a:rPr>
              <a:t>Q</a:t>
            </a:r>
            <a:r>
              <a:rPr sz="4400" b="1" spc="-5" dirty="0">
                <a:solidFill>
                  <a:srgbClr val="FFFFFF"/>
                </a:solidFill>
                <a:latin typeface="Courier New"/>
                <a:cs typeface="Courier New"/>
              </a:rPr>
              <a:t>);  sig</a:t>
            </a:r>
            <a:r>
              <a:rPr sz="4400" b="1" spc="-25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4400" b="1" spc="-5" dirty="0">
                <a:solidFill>
                  <a:srgbClr val="FFFFFF"/>
                </a:solidFill>
                <a:latin typeface="Courier New"/>
                <a:cs typeface="Courier New"/>
              </a:rPr>
              <a:t>al(</a:t>
            </a:r>
            <a:r>
              <a:rPr sz="4400" b="1" spc="-25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4400" b="1" spc="-5" dirty="0">
                <a:solidFill>
                  <a:srgbClr val="FFFFFF"/>
                </a:solidFill>
                <a:latin typeface="Courier New"/>
                <a:cs typeface="Courier New"/>
              </a:rPr>
              <a:t>);</a:t>
            </a:r>
            <a:endParaRPr sz="4400">
              <a:latin typeface="Courier New"/>
              <a:cs typeface="Courier New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BE381-2C0A-4374-5605-F0E2C7DFC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51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693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1556</TotalTime>
  <Words>2029</Words>
  <Application>Microsoft Office PowerPoint</Application>
  <PresentationFormat>Widescreen</PresentationFormat>
  <Paragraphs>411</Paragraphs>
  <Slides>51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5" baseType="lpstr">
      <vt:lpstr>Arial</vt:lpstr>
      <vt:lpstr>Arial MT</vt:lpstr>
      <vt:lpstr>Calibri</vt:lpstr>
      <vt:lpstr>Century Gothic</vt:lpstr>
      <vt:lpstr>Courier New</vt:lpstr>
      <vt:lpstr>Helvetica</vt:lpstr>
      <vt:lpstr>Monotype Sorts</vt:lpstr>
      <vt:lpstr>Symbol</vt:lpstr>
      <vt:lpstr>Tahoma</vt:lpstr>
      <vt:lpstr>Times New Roman</vt:lpstr>
      <vt:lpstr>Verdana</vt:lpstr>
      <vt:lpstr>Wingdings</vt:lpstr>
      <vt:lpstr>Wingdings 3</vt:lpstr>
      <vt:lpstr>Ion</vt:lpstr>
      <vt:lpstr>Operating  Systems</vt:lpstr>
      <vt:lpstr>Process  Synchronization</vt:lpstr>
      <vt:lpstr>Bounded-Buffer Problem</vt:lpstr>
      <vt:lpstr>Bounded-Buffer Problem</vt:lpstr>
      <vt:lpstr>Bounded-Buffer Problem</vt:lpstr>
      <vt:lpstr>Bounded-Buffer Problem</vt:lpstr>
      <vt:lpstr>Bounded-Buffer Problem</vt:lpstr>
      <vt:lpstr>Bounded-Buffer Problem</vt:lpstr>
      <vt:lpstr>Process  Synchronization</vt:lpstr>
      <vt:lpstr>Process  Synchronization</vt:lpstr>
      <vt:lpstr>Process  Synchronization</vt:lpstr>
      <vt:lpstr>Bank Transactions</vt:lpstr>
      <vt:lpstr>Bank Transactions</vt:lpstr>
      <vt:lpstr>Bank Transactions</vt:lpstr>
      <vt:lpstr>Diagram of Critical Section Problem</vt:lpstr>
      <vt:lpstr>Solution of the Critical  Problem</vt:lpstr>
      <vt:lpstr>Solution of the Critical  Problem</vt:lpstr>
      <vt:lpstr>Structure of Solution</vt:lpstr>
      <vt:lpstr>Solution to Critical-  Section Problem</vt:lpstr>
      <vt:lpstr>Solution to Critical-  Section Problem</vt:lpstr>
      <vt:lpstr>Solution to Critical-  Section Problem</vt:lpstr>
      <vt:lpstr>Possible Solutions</vt:lpstr>
      <vt:lpstr>Peterson’s Algorithm</vt:lpstr>
      <vt:lpstr>Peterson’s Algorithm</vt:lpstr>
      <vt:lpstr>Peterson’s Algorithm</vt:lpstr>
      <vt:lpstr>Peterson’s Algorithm</vt:lpstr>
      <vt:lpstr>Synchronization Hardware</vt:lpstr>
      <vt:lpstr>Solution to Critical-section Problem Using Locks</vt:lpstr>
      <vt:lpstr>test_and_set  Instruction </vt:lpstr>
      <vt:lpstr>Solution using test_and_set()</vt:lpstr>
      <vt:lpstr>Solution with test_and_set()</vt:lpstr>
      <vt:lpstr>Bounded-waiting Mutual Exclusion with test_and_set</vt:lpstr>
      <vt:lpstr>compare and swap Instruction</vt:lpstr>
      <vt:lpstr>Solution with compare and swap </vt:lpstr>
      <vt:lpstr>Solution with compare and swap </vt:lpstr>
      <vt:lpstr>Bounded-waiting mutual exclusion with compare and swap().</vt:lpstr>
      <vt:lpstr>Mutex Locks</vt:lpstr>
      <vt:lpstr>Solution to CS Problem Using Mutex Locks</vt:lpstr>
      <vt:lpstr>Is it a Good Solution?</vt:lpstr>
      <vt:lpstr>Semaphores</vt:lpstr>
      <vt:lpstr>Semaphores</vt:lpstr>
      <vt:lpstr>n-Processes CS Problem</vt:lpstr>
      <vt:lpstr>Semaphores</vt:lpstr>
      <vt:lpstr>Is it a Good Solution?</vt:lpstr>
      <vt:lpstr>Semaphore  Implementation</vt:lpstr>
      <vt:lpstr>Semaphore  Implementation</vt:lpstr>
      <vt:lpstr>Semaphore  Implementation</vt:lpstr>
      <vt:lpstr>Semaphore wait()</vt:lpstr>
      <vt:lpstr>Semaphore signal()</vt:lpstr>
      <vt:lpstr>Deadlocks and  Starvation</vt:lpstr>
      <vt:lpstr>Deadlock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 Systems</dc:title>
  <dc:creator>Ayesha Asmat</dc:creator>
  <cp:lastModifiedBy>Ayesha Asmat</cp:lastModifiedBy>
  <cp:revision>32</cp:revision>
  <dcterms:created xsi:type="dcterms:W3CDTF">2022-12-26T07:32:44Z</dcterms:created>
  <dcterms:modified xsi:type="dcterms:W3CDTF">2026-06-04T05:29:14Z</dcterms:modified>
</cp:coreProperties>
</file>