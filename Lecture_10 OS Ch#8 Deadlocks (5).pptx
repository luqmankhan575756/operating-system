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097" r:id="rId1"/>
  </p:sldMasterIdLst>
  <p:notesMasterIdLst>
    <p:notesMasterId r:id="rId49"/>
  </p:notesMasterIdLst>
  <p:handoutMasterIdLst>
    <p:handoutMasterId r:id="rId50"/>
  </p:handoutMasterIdLst>
  <p:sldIdLst>
    <p:sldId id="331" r:id="rId2"/>
    <p:sldId id="380" r:id="rId3"/>
    <p:sldId id="381" r:id="rId4"/>
    <p:sldId id="334" r:id="rId5"/>
    <p:sldId id="335" r:id="rId6"/>
    <p:sldId id="388" r:id="rId7"/>
    <p:sldId id="337" r:id="rId8"/>
    <p:sldId id="384" r:id="rId9"/>
    <p:sldId id="339" r:id="rId10"/>
    <p:sldId id="340" r:id="rId11"/>
    <p:sldId id="341" r:id="rId12"/>
    <p:sldId id="342" r:id="rId13"/>
    <p:sldId id="385" r:id="rId14"/>
    <p:sldId id="375" r:id="rId15"/>
    <p:sldId id="343" r:id="rId16"/>
    <p:sldId id="344" r:id="rId17"/>
    <p:sldId id="345" r:id="rId18"/>
    <p:sldId id="348" r:id="rId19"/>
    <p:sldId id="349" r:id="rId20"/>
    <p:sldId id="377" r:id="rId21"/>
    <p:sldId id="350" r:id="rId22"/>
    <p:sldId id="351" r:id="rId23"/>
    <p:sldId id="352" r:id="rId24"/>
    <p:sldId id="353" r:id="rId25"/>
    <p:sldId id="354" r:id="rId26"/>
    <p:sldId id="355" r:id="rId27"/>
    <p:sldId id="356" r:id="rId28"/>
    <p:sldId id="357" r:id="rId29"/>
    <p:sldId id="358" r:id="rId30"/>
    <p:sldId id="359" r:id="rId31"/>
    <p:sldId id="360" r:id="rId32"/>
    <p:sldId id="361" r:id="rId33"/>
    <p:sldId id="362" r:id="rId34"/>
    <p:sldId id="378" r:id="rId35"/>
    <p:sldId id="363" r:id="rId36"/>
    <p:sldId id="364" r:id="rId37"/>
    <p:sldId id="365" r:id="rId38"/>
    <p:sldId id="366" r:id="rId39"/>
    <p:sldId id="367" r:id="rId40"/>
    <p:sldId id="368" r:id="rId41"/>
    <p:sldId id="369" r:id="rId42"/>
    <p:sldId id="370" r:id="rId43"/>
    <p:sldId id="371" r:id="rId44"/>
    <p:sldId id="376" r:id="rId45"/>
    <p:sldId id="372" r:id="rId46"/>
    <p:sldId id="373" r:id="rId47"/>
    <p:sldId id="374" r:id="rId48"/>
  </p:sldIdLst>
  <p:sldSz cx="12192000" cy="6858000"/>
  <p:notesSz cx="7086600" cy="93726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250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993300"/>
    <a:srgbClr val="FF0000"/>
    <a:srgbClr val="CCECFF"/>
    <a:srgbClr val="66CCFF"/>
    <a:srgbClr val="CCFFFF"/>
    <a:srgbClr val="F8F8F8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6" autoAdjust="0"/>
    <p:restoredTop sz="88214" autoAdjust="0"/>
  </p:normalViewPr>
  <p:slideViewPr>
    <p:cSldViewPr snapToGrid="0">
      <p:cViewPr>
        <p:scale>
          <a:sx n="66" d="100"/>
          <a:sy n="66" d="100"/>
        </p:scale>
        <p:origin x="846" y="-144"/>
      </p:cViewPr>
      <p:guideLst>
        <p:guide orient="horz" pos="799"/>
        <p:guide pos="25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57CCCA0-48FF-49B9-A81B-A3AA031DB3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6684F4D-30DF-4BAD-8B6E-B450802D514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DE87A7CF-DA4E-40B2-A46B-B171BEBFD7F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0588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1BAD7235-1FED-4C76-86CF-CA7E8C6271B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 smtClean="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15FB2A04-1989-43F8-A1CA-48ECCECD274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2650461-F8FA-4EC9-961B-07ADBB023C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0E5BD76-7D57-4BB9-B88E-0E6DC0CDF86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5272630-4094-4E90-A63E-0495C021B59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0688" y="704850"/>
            <a:ext cx="6246812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63F933E7-8229-4DE7-9E50-6467D80561B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BE11052-68AA-4FFB-BCC0-9A147F9D34F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800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22CD8673-A829-446C-9245-DC4B35A5D7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 smtClean="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690704E8-AF53-4555-9777-1ADF916834F9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6AC06DF3-9AE2-41AA-9CBA-13E1929E3D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AC1245-D4B7-4BF8-9C7C-5CCEA50EE6B4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F68B959-C08D-438B-A2B9-0BE8A788A2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A0B3EA2-4E30-4C2D-A22C-A8F69CD23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1ADC7518-9872-4333-AA46-60EFDCA7D2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3D5F3B-AA43-4BFE-B7D8-ABACBA690890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53AE06A-D96F-4924-ADB1-9A4FCAE6756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F1AF07E-65DB-4D38-AF79-8BD1ED28CF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8077533E-706D-4519-A626-A1081FF67D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8FCB05-E490-4039-8DCD-E4AE6D5BDAEB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9AED6BB2-41E3-441B-96D5-551A517889F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F0D39893-84C6-4095-A3A7-B55BBF46FE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8077533E-706D-4519-A626-A1081FF67D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8FCB05-E490-4039-8DCD-E4AE6D5BDAEB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9AED6BB2-41E3-441B-96D5-551A517889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F0D39893-84C6-4095-A3A7-B55BBF46FE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128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BEB3293C-0681-402E-B8D9-BC04A0F8A1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F8B1F9B-278C-4310-BEBF-1A79592274C5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8D189ED3-1E1F-49E8-925B-CAFAD4776D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69A062FB-580D-46EF-8C58-E261403E1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0F3AAA6F-5447-41B3-80A6-874F7A2C7D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29E6F0D-4785-4D7F-8FCA-5AD9D0E2F451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E2241B4C-308E-449C-BEE4-936431798D9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35E4806B-ED22-43F1-A4ED-51CF10871C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5FA1100C-0EC2-4302-85D0-C3599B7A6E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F6F22E-ACE9-4D71-97EC-9377F845450E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D4ECF9D1-EA64-4F34-BCAC-6E008868803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B57A9623-5F67-472A-A2E1-3FF6539DF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6444C067-101E-4527-8A2B-86B7B47DFD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6BE9357-676B-4531-B974-2BA85DAB79D3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EFC24CBE-1D65-4D18-A4B4-AAC8004599F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17E9C3CF-2910-48FE-B4B4-02F4F4B4B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36A07B18-6478-4EB7-9B8B-C54A6C1466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37F341-C841-42E3-9928-8A909C972144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3A11C188-4E25-4E78-835C-593D4A2C4D0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078A48D6-0991-44CC-8D52-9BEAFCA09C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29674301-F2FD-4A03-80ED-6564DFD202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AD3C2BB-EB00-48A4-AA17-009C2A67DC45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292805FC-6C26-47C6-A3DA-63533C47015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CC2BB09E-5CC1-4C34-82DD-82BB9FB08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81914CB4-F805-4567-B0BD-0415F2F8CB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B07568-0BD3-466A-A26A-EFECCBA167F7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3342F3A6-ADAB-41CD-9E01-9C3CC87DFE7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B46D1FB0-0BD5-4B11-A0C1-098B8A31A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0688" y="704850"/>
            <a:ext cx="6246812" cy="35147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 A – Deadlock exist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Graph B – No Deadlock T2 can execute first.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0704E8-AF53-4555-9777-1ADF916834F9}" type="slidenum">
              <a:rPr lang="en-US" altLang="x-none" smtClean="0"/>
              <a:pPr>
                <a:defRPr/>
              </a:pPr>
              <a:t>14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036538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689F2254-CEAC-49B1-BE0A-D6CB96F435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D41B5E-17FB-4D46-9362-847B144758B3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4B1FD14C-9281-442C-8C41-64B3BE6376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94DEA45-1A08-4C66-97F7-6168200CE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9A353AA0-75CC-497D-91B9-904D63A07C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6E1ECD-C743-4D6B-BD89-29F8B07C8DD9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9367321B-5D3F-40F6-873F-A0784A9360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7737192-9A86-4917-AA29-F5DDF1F61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3D1CD0EC-DA42-4B0A-91AE-C322FFF596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385A92-FB98-4E13-B633-A2409733F709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14F7186-B838-47BD-BB46-FCF66D59FA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C57AA80-DBC4-41A7-B1E2-378433EB6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79311C47-F7AB-46DF-911B-8A18B25975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A5BC7FA-2A8F-4C00-BF8D-85AE95F3803B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4BACDE31-FAC6-484D-B679-84D4734C9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F1C660C-85C3-44DC-B351-84A7FEC20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AD30CC9D-7DD3-44B2-A8FC-073E926D45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0FE232-0859-4FEB-B794-69908630F257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23748D27-ADCC-4859-912A-07FA268013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E5E0810E-A480-4FF7-B73F-6679962179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37028435-25E6-4A3F-B20A-EB7193F77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1533BA6-63EA-4C8E-83D6-D75ED0A0DEDD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60FDCA58-DEE3-4954-8951-F43ECB200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46113F0-86BE-41CA-9B9F-A08D697B7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665131B-02A1-4089-8A6A-3ECBBEBF69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93F69B1-EE3C-4C05-93FA-4501AC790494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233FA0CE-6439-42A3-9DCD-EA87FF718D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E0A33F4-52D6-4093-86D6-67B742B18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6792FF15-7A49-43D0-A115-585E2200E2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2923B9-B579-4C76-9C8F-F75E541564F1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0CD7888D-A9DA-4CC5-A90D-5319A897CF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E4F605D-F0FE-4CA7-A649-128C342B2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37DD703A-9D9B-4A3C-94E4-94F0519663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CCD7ED-0622-4446-BEE7-FC6134B518E5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5EED2E36-0063-4F32-BEBB-00285C49C2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952F800A-2C32-447C-A000-2690B96256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C3333D1D-E65D-4B89-8425-6E44461ABA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2AD3C6-3796-443F-BEF1-D7BB5126679A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0D8270D-05F7-42B0-9BA1-8DD9811B93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ECF7658-4FEB-4CBF-80D9-CB99F52E4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975D2170-B7E7-4E3E-9E59-992D46F816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E1D3FD-B35A-4DBF-B791-BA5787967C2A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28803E2A-E437-4C89-A1E5-9341B9B6B6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42161F1-20B1-4BA8-BDB3-5D756C52D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A4AF2CC2-7843-4103-B4FD-A7AAC6D1D6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24F6B0-400A-4243-88CD-37282AB90F11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C1843D4D-D422-4E71-885E-FB6A7F165B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9A406CF-8133-4241-A273-A716941B1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6628516B-41BA-4A5F-B9F6-4374FDE052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586326-4BC7-4B67-B6D0-BCE4326A5AA3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70E7C568-95D9-4222-9AF6-17DB50942F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A40EED6A-BEA4-4846-8DD6-49230CEDDE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F916C152-73D8-464B-99EE-F6F1FA4B18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929230-05BF-4F8E-AAC6-9C2CABFA3A36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79BA3C69-44B1-47E2-A112-EC9A898C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836193AF-01D3-4E16-BA42-54D7E3B29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6DE0041D-EB20-44A4-B890-E4F7209FD8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44A5C6-97A1-4829-A483-FFE95AC41A71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FCB85357-8A0A-45B1-93B2-226D274F6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6F5FF3A-C78E-4E91-9558-6F09843B9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AC5AB899-77D3-455F-9B21-6A69A2B369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394D91-CE4B-4811-9F12-1C1C3BA044FD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52DB2037-C37A-4CA1-BD76-5F7585DE66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07AB9C24-6195-4426-8F5C-F51C8B6148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FCF99593-3D61-45EC-AE3E-666EA11677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A47E08D-E788-4793-A447-675472F508F1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8F011B3B-A08E-470C-A349-615B552E8C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0EC2961-88E3-4417-B379-0A1B1AAAF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30159211-0323-4C37-9CD9-29B8BAD08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CE425D2-AF5D-4132-9A2F-C7A3D296DE2A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8B34BB0D-33CC-42F0-82C9-4C7D28821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6996B81-6007-4913-82D9-A0BE6BDC1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FAC21EC5-CA2D-46EA-97C3-F21B8C2A09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33DEFD-8CE8-4151-BD0F-A1B90B603367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39EAC599-FAF6-4398-BBBD-0FB3C67A4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CF563622-5D37-42A4-B057-9D3EA55C5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D6E12682-9701-4F39-BB3E-92E4FC21CC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98336-7757-4016-8252-3D560ED463A8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FE593242-7A5A-4B00-BA3E-61851F35DF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F75FE67-284F-41B4-A1B6-F34F949441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7961B956-A0C3-490F-AA7C-63E1D3F15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44E0DDC-DEED-4536-B61A-5F0C9D5EB9D2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2E350ED2-0623-4ED7-B1A2-C3ED08545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025808C0-0E5E-4B5C-8D23-736C3CFF2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902642F4-E0F8-4929-B08E-2629073311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CEC565-1F79-4ED9-AF48-6877F7383DF8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8E27F7D9-8FBC-41BD-A75A-49ABD406C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2EC3AE3-96CA-4114-B784-44078F699D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53DE3335-3CD8-4BE6-8520-4541D24D5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F74AF4-5110-4B4D-8D5F-3D303766ACDC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CD171C36-DE07-41E4-B9A5-C9C9558E4C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732FE629-FE3C-488F-8CC2-E0AB0D48F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C4B30BFB-1565-48F8-9931-E4896EF528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A584267-1E93-4193-AB8C-7CE8D18E655B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5D799F1C-1708-4226-A08B-131126238D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C8D6CD20-A953-4B1C-8FD6-276535612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7EFC8381-020E-475F-9CBF-F1C9278751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BB14BB-F15E-4364-9A5F-D46CF6966674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E839460C-E25F-4936-8FC3-1571CCB8EF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A1B5A7B-2C6F-4732-B6FF-6CAE4DD68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CA973F4B-8029-49E1-8C56-41A7E92407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B14046-5666-41B3-886D-062DE8244CAC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B0F8AA49-F542-42B6-975E-C7F0EFD76C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6BCD7B1-5B82-46B6-AA4C-B0F269BACB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1CEC2E7B-5B2B-4EB2-AAAD-E5691A6ED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A80C5E-8E4D-4DA5-A27C-ECDA1D1CE610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E1E57FEC-A475-42F5-B967-B10F8AB19A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648F885B-5E1A-4E3A-B4EE-EBC0DC8DB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49EC4C22-398C-4206-BB0C-E5D96B8496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FE1507-F8C6-4550-9308-FC6BF0D09833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38DB72F6-E0EC-4635-B4F5-D9ECFAF7C4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B98D8344-5E35-4121-8B1D-84F0EB7D9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04A8DED5-9BEB-4215-BE0F-7C846434FD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B925D9D-7534-4064-99E1-C9780FC489DC}" type="slidenum">
              <a:rPr lang="en-US" altLang="en-US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80D493A7-4A45-4901-915C-EC9EF0A661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21F78BDF-9E0C-4AA4-8E28-044D8E994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11BBF78D-E4AF-4A4D-839B-A0D51076B0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B419FD-7D0A-4AA8-B70F-F67AF9A664FE}" type="slidenum">
              <a:rPr lang="en-US" altLang="en-US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E5BDA589-16EC-4BAC-BF6D-353F0ABD11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4850"/>
            <a:ext cx="6246812" cy="3514725"/>
          </a:xfrm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AF7CE04-5998-40E0-8D26-F2F518625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8600" y="1171525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36642" y="312860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dirty="0"/>
              <a:t>Ayesha Asmat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237923" y="144584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Image result for umt logo">
            <a:extLst>
              <a:ext uri="{FF2B5EF4-FFF2-40B4-BE49-F238E27FC236}">
                <a16:creationId xmlns:a16="http://schemas.microsoft.com/office/drawing/2014/main" id="{253E27E3-48B1-4D5D-899A-017DAC31E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4192" y="1241948"/>
            <a:ext cx="2843409" cy="21529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6370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PK"/>
              <a:t>1B-</a:t>
            </a:r>
            <a:fld id="{D7746D25-83A1-410C-A431-92E20787AE49}" type="slidenum">
              <a:rPr lang="en-US" altLang="en-PK" smtClean="0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136711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1712254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36933" y="370266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Ayesha Asmat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319810" y="1986574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Image result for umt logo">
            <a:extLst>
              <a:ext uri="{FF2B5EF4-FFF2-40B4-BE49-F238E27FC236}">
                <a16:creationId xmlns:a16="http://schemas.microsoft.com/office/drawing/2014/main" id="{4D2EEAFE-E713-4623-9201-47216875D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9340" y="1556102"/>
            <a:ext cx="2834995" cy="21465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2051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PK"/>
              <a:t>1B-</a:t>
            </a:r>
            <a:fld id="{5594B12E-A30C-4744-978E-89E954B0F512}" type="slidenum">
              <a:rPr lang="en-US" altLang="en-PK" smtClean="0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3348858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PK"/>
              <a:t>1B-</a:t>
            </a:r>
            <a:fld id="{C47E9DD2-EF2C-4CCD-BE31-0D09C7032F5C}" type="slidenum">
              <a:rPr lang="en-US" altLang="en-PK" smtClean="0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38366987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PK"/>
              <a:t>1B-</a:t>
            </a:r>
            <a:fld id="{FA1F335F-B27B-4D91-9E96-E6F4AEA1160E}" type="slidenum">
              <a:rPr lang="en-US" altLang="en-PK" smtClean="0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399868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r>
              <a:rPr lang="en-US" altLang="en-PK"/>
              <a:t>1B-</a:t>
            </a:r>
            <a:fld id="{44CAFBF0-C234-4E95-9044-120983DC4833}" type="slidenum">
              <a:rPr lang="en-US" altLang="en-PK" smtClean="0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3418817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PK"/>
              <a:t>1B-</a:t>
            </a:r>
            <a:fld id="{17F93739-E16B-44E7-8724-952E3C6A176D}" type="slidenum">
              <a:rPr lang="en-US" altLang="en-PK" smtClean="0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8145066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PK"/>
              <a:t>1B-</a:t>
            </a:r>
            <a:fld id="{9DB58508-47E2-48A7-8BB7-E4EA78C3AE84}" type="slidenum">
              <a:rPr lang="en-US" altLang="en-PK" smtClean="0"/>
              <a:pPr/>
              <a:t>‹#›</a:t>
            </a:fld>
            <a:endParaRPr lang="en-US" altLang="en-P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83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PK"/>
              <a:t>1B-</a:t>
            </a:r>
            <a:fld id="{B793AE0A-4BB4-455C-96A1-77EDA7A3BC69}" type="slidenum">
              <a:rPr lang="en-US" altLang="en-PK" smtClean="0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2277671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PK"/>
              <a:t>1B-</a:t>
            </a:r>
            <a:fld id="{0B12D45A-B20A-4D98-B503-BA52581E5E8B}" type="slidenum">
              <a:rPr lang="en-US" altLang="en-PK" smtClean="0"/>
              <a:pPr/>
              <a:t>‹#›</a:t>
            </a:fld>
            <a:endParaRPr lang="en-US" altLang="en-PK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711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03512" y="1928646"/>
            <a:ext cx="7642745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mage result for umt logo">
            <a:extLst>
              <a:ext uri="{FF2B5EF4-FFF2-40B4-BE49-F238E27FC236}">
                <a16:creationId xmlns:a16="http://schemas.microsoft.com/office/drawing/2014/main" id="{3FFFB8F1-AE55-4891-9DA1-CBAFA455F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5671" y="1928646"/>
            <a:ext cx="2809490" cy="2127250"/>
          </a:xfrm>
          <a:prstGeom prst="rect">
            <a:avLst/>
          </a:prstGeom>
          <a:noFill/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4282BF-FBAF-4E94-835C-01FA473C0CF9}"/>
              </a:ext>
            </a:extLst>
          </p:cNvPr>
          <p:cNvCxnSpPr/>
          <p:nvPr/>
        </p:nvCxnSpPr>
        <p:spPr>
          <a:xfrm flipV="1">
            <a:off x="4210629" y="2514600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322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altLang="en-PK"/>
              <a:t>1B-</a:t>
            </a:r>
            <a:fld id="{866ACBA0-1537-4BF0-A065-0ED869FDEABA}" type="slidenum">
              <a:rPr lang="en-US" altLang="en-PK" smtClean="0"/>
              <a:pPr/>
              <a:t>‹#›</a:t>
            </a:fld>
            <a:endParaRPr lang="en-US" altLang="en-PK"/>
          </a:p>
        </p:txBody>
      </p:sp>
    </p:spTree>
    <p:extLst>
      <p:ext uri="{BB962C8B-B14F-4D97-AF65-F5344CB8AC3E}">
        <p14:creationId xmlns:p14="http://schemas.microsoft.com/office/powerpoint/2010/main" val="305407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8" r:id="rId1"/>
    <p:sldLayoutId id="2147484099" r:id="rId2"/>
    <p:sldLayoutId id="2147484100" r:id="rId3"/>
    <p:sldLayoutId id="2147484101" r:id="rId4"/>
    <p:sldLayoutId id="2147484102" r:id="rId5"/>
    <p:sldLayoutId id="2147484103" r:id="rId6"/>
    <p:sldLayoutId id="2147484104" r:id="rId7"/>
    <p:sldLayoutId id="2147484105" r:id="rId8"/>
    <p:sldLayoutId id="2147484106" r:id="rId9"/>
    <p:sldLayoutId id="2147484107" r:id="rId10"/>
    <p:sldLayoutId id="2147484108" r:id="rId11"/>
    <p:sldLayoutId id="2147484109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3FFF3FEB-4621-4BB0-8381-30D0EE5065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746523" y="1959743"/>
            <a:ext cx="5036574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8:  Deadlocks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B94EC-4F65-4196-9A17-B1947DE2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DEADLOCK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11E07-F42D-47CE-BFE5-77E96EB13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084832"/>
            <a:ext cx="9720073" cy="4023360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w Cen MT (Body)"/>
              </a:rPr>
              <a:t>A set of two or more processes are deadlocked if they are blocked (i.e., in the waiting state) each holding a resource and waiting to acquire a resource held by another process in the set. </a:t>
            </a:r>
          </a:p>
          <a:p>
            <a:pPr algn="just"/>
            <a:r>
              <a:rPr lang="en-US" sz="2800" dirty="0">
                <a:latin typeface="Tw Cen MT (Body)"/>
              </a:rPr>
              <a:t>Or</a:t>
            </a:r>
          </a:p>
          <a:p>
            <a:pPr algn="just"/>
            <a:r>
              <a:rPr lang="en-US" sz="2800" dirty="0">
                <a:latin typeface="Tw Cen MT (Body)"/>
              </a:rPr>
              <a:t>A process is deadlocked if it is waiting for an event which is never going to happen. Deadlocks can occur via system calls, locking, etc.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2BD9C-7F22-4776-86B2-8012BBD2C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326" y="5023718"/>
            <a:ext cx="4053956" cy="167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15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B94EC-4F65-4196-9A17-B1947DE22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11E07-F42D-47CE-BFE5-77E96EB13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084832"/>
            <a:ext cx="9720073" cy="4023360"/>
          </a:xfrm>
        </p:spPr>
        <p:txBody>
          <a:bodyPr>
            <a:normAutofit/>
          </a:bodyPr>
          <a:lstStyle/>
          <a:p>
            <a:pPr algn="just"/>
            <a:endParaRPr lang="en-US" sz="2800" dirty="0">
              <a:latin typeface="Tw Cen MT (Body)"/>
            </a:endParaRPr>
          </a:p>
        </p:txBody>
      </p:sp>
      <p:pic>
        <p:nvPicPr>
          <p:cNvPr id="6" name="Object 1">
            <a:extLst>
              <a:ext uri="{FF2B5EF4-FFF2-40B4-BE49-F238E27FC236}">
                <a16:creationId xmlns:a16="http://schemas.microsoft.com/office/drawing/2014/main" id="{E071DCA3-8E6C-4C56-B500-3A0CE22B5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85" t="21777" r="23585"/>
          <a:stretch/>
        </p:blipFill>
        <p:spPr>
          <a:xfrm>
            <a:off x="2697192" y="1620386"/>
            <a:ext cx="6797616" cy="566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23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7867ADD-A0DF-487D-B429-3BDA55CD3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0974" y="5826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System Model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6BA469E-2684-4075-AD34-8317685FA7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974" y="1397479"/>
            <a:ext cx="9216126" cy="4877908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System consists of resources</a:t>
            </a:r>
          </a:p>
          <a:p>
            <a:r>
              <a:rPr lang="en-US" altLang="en-US" sz="3600" dirty="0"/>
              <a:t>Resource types </a:t>
            </a:r>
            <a:r>
              <a:rPr lang="en-US" altLang="en-US" sz="3600" i="1" dirty="0"/>
              <a:t>R</a:t>
            </a:r>
            <a:r>
              <a:rPr lang="en-US" altLang="en-US" sz="3600" baseline="-25000" dirty="0"/>
              <a:t>1</a:t>
            </a:r>
            <a:r>
              <a:rPr lang="en-US" altLang="en-US" sz="3600" dirty="0"/>
              <a:t>, </a:t>
            </a:r>
            <a:r>
              <a:rPr lang="en-US" altLang="en-US" sz="3600" i="1" dirty="0"/>
              <a:t>R</a:t>
            </a:r>
            <a:r>
              <a:rPr lang="en-US" altLang="en-US" sz="3600" baseline="-25000" dirty="0"/>
              <a:t>2</a:t>
            </a:r>
            <a:r>
              <a:rPr lang="en-US" altLang="en-US" sz="3600" dirty="0"/>
              <a:t>, . . ., </a:t>
            </a:r>
            <a:r>
              <a:rPr lang="en-US" altLang="en-US" sz="3600" i="1" dirty="0"/>
              <a:t>R</a:t>
            </a:r>
            <a:r>
              <a:rPr lang="en-US" altLang="en-US" sz="3600" baseline="-25000" dirty="0"/>
              <a:t>m</a:t>
            </a:r>
          </a:p>
          <a:p>
            <a:pPr lvl="2">
              <a:buFont typeface="Webdings" panose="05030102010509060703" pitchFamily="18" charset="2"/>
              <a:buNone/>
            </a:pPr>
            <a:r>
              <a:rPr lang="en-US" altLang="en-US" sz="2400" i="1" dirty="0"/>
              <a:t>CPU cycles, memory space, I/O devices</a:t>
            </a:r>
          </a:p>
          <a:p>
            <a:r>
              <a:rPr lang="en-US" altLang="en-US" sz="3600" dirty="0"/>
              <a:t>Each resource type </a:t>
            </a:r>
            <a:r>
              <a:rPr lang="en-US" altLang="en-US" sz="3600" i="1" dirty="0"/>
              <a:t>R</a:t>
            </a:r>
            <a:r>
              <a:rPr lang="en-US" altLang="en-US" sz="3600" baseline="-25000" dirty="0"/>
              <a:t>i</a:t>
            </a:r>
            <a:r>
              <a:rPr lang="en-US" altLang="en-US" sz="3600" dirty="0"/>
              <a:t> has </a:t>
            </a:r>
            <a:r>
              <a:rPr lang="en-US" altLang="en-US" sz="3600" i="1" dirty="0"/>
              <a:t>W</a:t>
            </a:r>
            <a:r>
              <a:rPr lang="en-US" altLang="en-US" sz="3600" baseline="-25000" dirty="0"/>
              <a:t>i</a:t>
            </a:r>
            <a:r>
              <a:rPr lang="en-US" altLang="en-US" sz="3600" dirty="0"/>
              <a:t> instances.</a:t>
            </a:r>
          </a:p>
          <a:p>
            <a:r>
              <a:rPr lang="en-US" altLang="en-US" sz="3600" dirty="0"/>
              <a:t>Each process utilizes a resource as follows:</a:t>
            </a:r>
          </a:p>
          <a:p>
            <a:pPr lvl="1"/>
            <a:r>
              <a:rPr lang="en-US" altLang="en-US" sz="3200" b="1" dirty="0"/>
              <a:t>request </a:t>
            </a:r>
          </a:p>
          <a:p>
            <a:pPr lvl="1"/>
            <a:r>
              <a:rPr lang="en-US" altLang="en-US" sz="3200" b="1" dirty="0"/>
              <a:t>use </a:t>
            </a:r>
          </a:p>
          <a:p>
            <a:pPr lvl="1"/>
            <a:r>
              <a:rPr lang="en-US" altLang="en-US" sz="3200" b="1" dirty="0"/>
              <a:t>release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3FE39D2-AD07-46E8-832F-488F281A4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568" y="204292"/>
            <a:ext cx="7937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Deadlock Characterization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AFAF9D2-B38B-4699-AC3A-119D19E65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6220" y="1852017"/>
            <a:ext cx="11270980" cy="4668837"/>
          </a:xfrm>
        </p:spPr>
        <p:txBody>
          <a:bodyPr>
            <a:normAutofit/>
          </a:bodyPr>
          <a:lstStyle/>
          <a:p>
            <a:r>
              <a:rPr lang="en-US" altLang="en-US" sz="4400" b="1" dirty="0">
                <a:solidFill>
                  <a:srgbClr val="3366FF"/>
                </a:solidFill>
              </a:rPr>
              <a:t>Mutual exclusion</a:t>
            </a:r>
            <a:r>
              <a:rPr lang="en-US" altLang="en-US" sz="4400" b="1" dirty="0"/>
              <a:t>:</a:t>
            </a:r>
            <a:r>
              <a:rPr lang="en-US" altLang="en-US" sz="4400" dirty="0"/>
              <a:t>  only one process at a time can use a resource</a:t>
            </a:r>
            <a:endParaRPr lang="en-US" altLang="en-US" sz="1400" dirty="0"/>
          </a:p>
          <a:p>
            <a:r>
              <a:rPr lang="en-US" altLang="en-US" sz="4400" b="1" dirty="0">
                <a:solidFill>
                  <a:srgbClr val="3366FF"/>
                </a:solidFill>
              </a:rPr>
              <a:t>Hold and wait</a:t>
            </a:r>
            <a:r>
              <a:rPr lang="en-US" altLang="en-US" sz="4400" b="1" dirty="0"/>
              <a:t>:</a:t>
            </a:r>
            <a:r>
              <a:rPr lang="en-US" altLang="en-US" sz="4400" dirty="0"/>
              <a:t>  a process holding at least one resource is waiting to acquire additional resources held by other processes</a:t>
            </a:r>
            <a:endParaRPr lang="en-US" altLang="en-US" sz="1400" dirty="0"/>
          </a:p>
          <a:p>
            <a:endParaRPr lang="en-US" altLang="en-US" sz="4400" dirty="0"/>
          </a:p>
        </p:txBody>
      </p:sp>
      <p:sp>
        <p:nvSpPr>
          <p:cNvPr id="7172" name="Text Box 5">
            <a:extLst>
              <a:ext uri="{FF2B5EF4-FFF2-40B4-BE49-F238E27FC236}">
                <a16:creationId xmlns:a16="http://schemas.microsoft.com/office/drawing/2014/main" id="{C0F2F4A8-B940-4558-BF92-E4AB9940E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14" y="1220998"/>
            <a:ext cx="1109045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200" dirty="0">
                <a:latin typeface="Helvetica" panose="020B0604020202020204" pitchFamily="34" charset="0"/>
              </a:rPr>
              <a:t>Deadlock can arise if four conditions hold simultaneously.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3FE39D2-AD07-46E8-832F-488F281A4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1866" y="647699"/>
            <a:ext cx="7937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Deadlock Characterization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AFAF9D2-B38B-4699-AC3A-119D19E65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7147" y="1541464"/>
            <a:ext cx="10731261" cy="4668837"/>
          </a:xfrm>
        </p:spPr>
        <p:txBody>
          <a:bodyPr>
            <a:normAutofit fontScale="92500"/>
          </a:bodyPr>
          <a:lstStyle/>
          <a:p>
            <a:r>
              <a:rPr lang="en-US" altLang="en-US" sz="4000" b="1" dirty="0">
                <a:solidFill>
                  <a:srgbClr val="3366FF"/>
                </a:solidFill>
              </a:rPr>
              <a:t>No preemption</a:t>
            </a:r>
            <a:r>
              <a:rPr lang="en-US" altLang="en-US" sz="4000" b="1" dirty="0"/>
              <a:t>:</a:t>
            </a:r>
            <a:r>
              <a:rPr lang="en-US" altLang="en-US" sz="4000" dirty="0"/>
              <a:t>  a resource can be released only voluntarily by the process holding it, after that process has completed its task</a:t>
            </a:r>
            <a:endParaRPr lang="en-US" altLang="en-US" sz="1200" dirty="0"/>
          </a:p>
          <a:p>
            <a:r>
              <a:rPr lang="en-US" altLang="en-US" sz="4000" b="1" dirty="0">
                <a:solidFill>
                  <a:srgbClr val="3366FF"/>
                </a:solidFill>
              </a:rPr>
              <a:t>Circular wait</a:t>
            </a:r>
            <a:r>
              <a:rPr lang="en-US" altLang="en-US" sz="4000" b="1" dirty="0"/>
              <a:t>:</a:t>
            </a:r>
            <a:r>
              <a:rPr lang="en-US" altLang="en-US" sz="4000" dirty="0"/>
              <a:t>  there exists a set {</a:t>
            </a:r>
            <a:r>
              <a:rPr lang="en-US" altLang="en-US" sz="4000" i="1" dirty="0"/>
              <a:t>P</a:t>
            </a:r>
            <a:r>
              <a:rPr lang="en-US" altLang="en-US" sz="4000" baseline="-25000" dirty="0"/>
              <a:t>0</a:t>
            </a:r>
            <a:r>
              <a:rPr lang="en-US" altLang="en-US" sz="4000" dirty="0"/>
              <a:t>, </a:t>
            </a:r>
            <a:r>
              <a:rPr lang="en-US" altLang="en-US" sz="4000" i="1" dirty="0"/>
              <a:t>P</a:t>
            </a:r>
            <a:r>
              <a:rPr lang="en-US" altLang="en-US" sz="4000" baseline="-25000" dirty="0"/>
              <a:t>1</a:t>
            </a:r>
            <a:r>
              <a:rPr lang="en-US" altLang="en-US" sz="4000" dirty="0"/>
              <a:t>, …, </a:t>
            </a:r>
            <a:r>
              <a:rPr lang="en-US" altLang="en-US" sz="4000" i="1" dirty="0" err="1"/>
              <a:t>P</a:t>
            </a:r>
            <a:r>
              <a:rPr lang="en-US" altLang="en-US" sz="4000" baseline="-25000" dirty="0" err="1"/>
              <a:t>n</a:t>
            </a:r>
            <a:r>
              <a:rPr lang="en-US" altLang="en-US" sz="4000" dirty="0"/>
              <a:t>} of waiting processes such that </a:t>
            </a:r>
            <a:r>
              <a:rPr lang="en-US" altLang="en-US" sz="4000" i="1" dirty="0"/>
              <a:t>P</a:t>
            </a:r>
            <a:r>
              <a:rPr lang="en-US" altLang="en-US" sz="4000" baseline="-25000" dirty="0"/>
              <a:t>0 </a:t>
            </a:r>
            <a:r>
              <a:rPr lang="en-US" altLang="en-US" sz="4000" dirty="0"/>
              <a:t>is waiting for a resource that is held by </a:t>
            </a:r>
            <a:r>
              <a:rPr lang="en-US" altLang="en-US" sz="4000" i="1" dirty="0"/>
              <a:t>P</a:t>
            </a:r>
            <a:r>
              <a:rPr lang="en-US" altLang="en-US" sz="4000" baseline="-25000" dirty="0"/>
              <a:t>1</a:t>
            </a:r>
            <a:r>
              <a:rPr lang="en-US" altLang="en-US" sz="4000" dirty="0"/>
              <a:t>, </a:t>
            </a:r>
            <a:r>
              <a:rPr lang="en-US" altLang="en-US" sz="4000" i="1" dirty="0"/>
              <a:t>P</a:t>
            </a:r>
            <a:r>
              <a:rPr lang="en-US" altLang="en-US" sz="4000" baseline="-25000" dirty="0"/>
              <a:t>1</a:t>
            </a:r>
            <a:r>
              <a:rPr lang="en-US" altLang="en-US" sz="4000" dirty="0"/>
              <a:t> is waiting for a resource that is held by </a:t>
            </a:r>
            <a:r>
              <a:rPr lang="en-US" altLang="en-US" sz="4000" i="1" dirty="0"/>
              <a:t>P</a:t>
            </a:r>
            <a:r>
              <a:rPr lang="en-US" altLang="en-US" sz="4000" baseline="-25000" dirty="0"/>
              <a:t>2</a:t>
            </a:r>
            <a:r>
              <a:rPr lang="en-US" altLang="en-US" sz="4000" dirty="0"/>
              <a:t>, …, </a:t>
            </a:r>
            <a:r>
              <a:rPr lang="en-US" altLang="en-US" sz="4000" i="1" dirty="0" err="1"/>
              <a:t>P</a:t>
            </a:r>
            <a:r>
              <a:rPr lang="en-US" altLang="en-US" sz="4000" i="1" baseline="-25000" dirty="0" err="1"/>
              <a:t>n</a:t>
            </a:r>
            <a:r>
              <a:rPr lang="en-US" altLang="en-US" sz="4000" baseline="-25000" dirty="0"/>
              <a:t>–1</a:t>
            </a:r>
            <a:r>
              <a:rPr lang="en-US" altLang="en-US" sz="4000" dirty="0"/>
              <a:t> is waiting for a resource that is held by </a:t>
            </a:r>
            <a:r>
              <a:rPr lang="en-US" altLang="en-US" sz="4000" i="1" dirty="0" err="1"/>
              <a:t>P</a:t>
            </a:r>
            <a:r>
              <a:rPr lang="en-US" altLang="en-US" sz="4000" baseline="-25000" dirty="0" err="1"/>
              <a:t>n</a:t>
            </a:r>
            <a:r>
              <a:rPr lang="en-US" altLang="en-US" sz="4000" dirty="0"/>
              <a:t>, and </a:t>
            </a:r>
            <a:r>
              <a:rPr lang="en-US" altLang="en-US" sz="4000" i="1" dirty="0" err="1"/>
              <a:t>P</a:t>
            </a:r>
            <a:r>
              <a:rPr lang="en-US" altLang="en-US" sz="4000" baseline="-25000" dirty="0" err="1"/>
              <a:t>n</a:t>
            </a:r>
            <a:r>
              <a:rPr lang="en-US" altLang="en-US" sz="4000" dirty="0"/>
              <a:t> is waiting for a resource that is held by </a:t>
            </a:r>
            <a:r>
              <a:rPr lang="en-US" altLang="en-US" sz="4000" i="1" dirty="0"/>
              <a:t>P</a:t>
            </a:r>
            <a:r>
              <a:rPr lang="en-US" altLang="en-US" sz="4000" baseline="-25000" dirty="0"/>
              <a:t>0</a:t>
            </a:r>
            <a:r>
              <a:rPr lang="en-US" altLang="en-US" sz="4000" dirty="0"/>
              <a:t>.</a:t>
            </a:r>
          </a:p>
          <a:p>
            <a:endParaRPr lang="en-US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82526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63A012B-EC52-4E33-9464-DD93F1F65E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4757" y="598010"/>
            <a:ext cx="8306043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400"/>
              <a:t>Resource-Allocation Graph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F8DE224-CF0B-49AC-8B27-F8A4498D8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00724" y="1988659"/>
            <a:ext cx="10551969" cy="4601921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V is partitioned into two types:</a:t>
            </a:r>
          </a:p>
          <a:p>
            <a:pPr lvl="1"/>
            <a:r>
              <a:rPr lang="en-US" altLang="en-US" sz="2800" i="1" dirty="0"/>
              <a:t>P</a:t>
            </a:r>
            <a:r>
              <a:rPr lang="en-US" altLang="en-US" sz="2800" dirty="0"/>
              <a:t> = {</a:t>
            </a:r>
            <a:r>
              <a:rPr lang="en-US" altLang="en-US" sz="2800" i="1" dirty="0"/>
              <a:t>P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i="1" dirty="0"/>
              <a:t>P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 …, </a:t>
            </a:r>
            <a:r>
              <a:rPr lang="en-US" altLang="en-US" sz="2800" i="1" dirty="0" err="1"/>
              <a:t>P</a:t>
            </a:r>
            <a:r>
              <a:rPr lang="en-US" altLang="en-US" sz="2800" i="1" baseline="-25000" dirty="0" err="1"/>
              <a:t>n</a:t>
            </a:r>
            <a:r>
              <a:rPr lang="en-US" altLang="en-US" sz="2800" dirty="0"/>
              <a:t>}, the set consisting of all the processes in the system</a:t>
            </a:r>
            <a:br>
              <a:rPr lang="en-US" altLang="en-US" sz="2800" dirty="0"/>
            </a:br>
            <a:endParaRPr lang="en-US" altLang="en-US" sz="2800" dirty="0"/>
          </a:p>
          <a:p>
            <a:pPr lvl="1"/>
            <a:r>
              <a:rPr lang="en-US" altLang="en-US" sz="2800" i="1" dirty="0"/>
              <a:t>R</a:t>
            </a:r>
            <a:r>
              <a:rPr lang="en-US" altLang="en-US" sz="2800" dirty="0"/>
              <a:t> = {</a:t>
            </a:r>
            <a:r>
              <a:rPr lang="en-US" altLang="en-US" sz="2800" i="1" dirty="0"/>
              <a:t>R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i="1" dirty="0"/>
              <a:t>R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 …, </a:t>
            </a:r>
            <a:r>
              <a:rPr lang="en-US" altLang="en-US" sz="2800" i="1" dirty="0"/>
              <a:t>R</a:t>
            </a:r>
            <a:r>
              <a:rPr lang="en-US" altLang="en-US" sz="2800" i="1" baseline="-25000" dirty="0"/>
              <a:t>m</a:t>
            </a:r>
            <a:r>
              <a:rPr lang="en-US" altLang="en-US" sz="2800" dirty="0"/>
              <a:t>}, the set consisting of all resource types in the system</a:t>
            </a:r>
          </a:p>
          <a:p>
            <a:pPr lvl="1"/>
            <a:endParaRPr lang="en-US" altLang="en-US" sz="1100" dirty="0"/>
          </a:p>
          <a:p>
            <a:r>
              <a:rPr lang="en-US" altLang="en-US" sz="3200" b="1" dirty="0">
                <a:solidFill>
                  <a:srgbClr val="3366FF"/>
                </a:solidFill>
              </a:rPr>
              <a:t>request edge</a:t>
            </a:r>
            <a:r>
              <a:rPr lang="en-US" altLang="en-US" sz="3200" dirty="0">
                <a:solidFill>
                  <a:srgbClr val="3366FF"/>
                </a:solidFill>
              </a:rPr>
              <a:t> </a:t>
            </a:r>
            <a:r>
              <a:rPr lang="en-US" altLang="en-US" sz="3200" dirty="0"/>
              <a:t>– directed edge </a:t>
            </a:r>
            <a:r>
              <a:rPr lang="en-US" altLang="en-US" sz="3200" i="1" dirty="0"/>
              <a:t>P</a:t>
            </a:r>
            <a:r>
              <a:rPr lang="en-US" altLang="en-US" sz="3200" i="1" baseline="-25000" dirty="0"/>
              <a:t>i </a:t>
            </a:r>
            <a:r>
              <a:rPr lang="en-US" altLang="en-US" sz="3200" dirty="0">
                <a:sym typeface="Symbol" panose="05050102010706020507" pitchFamily="18" charset="2"/>
              </a:rPr>
              <a:t> </a:t>
            </a:r>
            <a:r>
              <a:rPr lang="en-US" altLang="en-US" sz="3200" i="1" dirty="0" err="1">
                <a:sym typeface="Symbol" panose="05050102010706020507" pitchFamily="18" charset="2"/>
              </a:rPr>
              <a:t>R</a:t>
            </a:r>
            <a:r>
              <a:rPr lang="en-US" altLang="en-US" sz="3200" i="1" baseline="-25000" dirty="0" err="1">
                <a:sym typeface="Symbol" panose="05050102010706020507" pitchFamily="18" charset="2"/>
              </a:rPr>
              <a:t>j</a:t>
            </a:r>
            <a:endParaRPr lang="en-US" altLang="en-US" sz="3200" i="1" baseline="-25000" dirty="0">
              <a:sym typeface="Symbol" panose="05050102010706020507" pitchFamily="18" charset="2"/>
            </a:endParaRPr>
          </a:p>
          <a:p>
            <a:endParaRPr lang="en-US" altLang="en-US" sz="1100" i="1" baseline="-25000" dirty="0">
              <a:sym typeface="Symbol" panose="05050102010706020507" pitchFamily="18" charset="2"/>
            </a:endParaRPr>
          </a:p>
          <a:p>
            <a:r>
              <a:rPr lang="en-US" altLang="en-US" sz="3200" b="1" dirty="0">
                <a:solidFill>
                  <a:srgbClr val="3366FF"/>
                </a:solidFill>
                <a:sym typeface="Symbol" panose="05050102010706020507" pitchFamily="18" charset="2"/>
              </a:rPr>
              <a:t>assignment edge</a:t>
            </a:r>
            <a:r>
              <a:rPr lang="en-US" altLang="en-US" sz="3200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3200" dirty="0"/>
              <a:t>– directed edge </a:t>
            </a:r>
            <a:r>
              <a:rPr lang="en-US" altLang="en-US" sz="3200" i="1" dirty="0" err="1"/>
              <a:t>R</a:t>
            </a:r>
            <a:r>
              <a:rPr lang="en-US" altLang="en-US" sz="3200" i="1" baseline="-25000" dirty="0" err="1"/>
              <a:t>j</a:t>
            </a:r>
            <a:r>
              <a:rPr lang="en-US" altLang="en-US" sz="3200" i="1" dirty="0"/>
              <a:t> </a:t>
            </a:r>
            <a:r>
              <a:rPr lang="en-US" altLang="en-US" sz="3200" dirty="0">
                <a:sym typeface="Symbol" panose="05050102010706020507" pitchFamily="18" charset="2"/>
              </a:rPr>
              <a:t> </a:t>
            </a:r>
            <a:r>
              <a:rPr lang="en-US" altLang="en-US" sz="3200" i="1" dirty="0">
                <a:sym typeface="Symbol" panose="05050102010706020507" pitchFamily="18" charset="2"/>
              </a:rPr>
              <a:t>P</a:t>
            </a:r>
            <a:r>
              <a:rPr lang="en-US" altLang="en-US" sz="3200" i="1" baseline="-25000" dirty="0">
                <a:sym typeface="Symbol" panose="05050102010706020507" pitchFamily="18" charset="2"/>
              </a:rPr>
              <a:t>i</a:t>
            </a:r>
            <a:endParaRPr lang="en-US" altLang="en-US" sz="3200" dirty="0">
              <a:sym typeface="Symbol" panose="05050102010706020507" pitchFamily="18" charset="2"/>
            </a:endParaRP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6413A83F-8664-4122-A412-0F7808E66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7189" y="1341547"/>
            <a:ext cx="1055197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600" dirty="0">
                <a:latin typeface="Helvetica" panose="020B0604020202020204" pitchFamily="34" charset="0"/>
              </a:rPr>
              <a:t>A set of vertices </a:t>
            </a:r>
            <a:r>
              <a:rPr lang="en-US" altLang="en-US" sz="3600" i="1" dirty="0">
                <a:latin typeface="Helvetica" panose="020B0604020202020204" pitchFamily="34" charset="0"/>
              </a:rPr>
              <a:t>V</a:t>
            </a:r>
            <a:r>
              <a:rPr lang="en-US" altLang="en-US" sz="3600" dirty="0">
                <a:latin typeface="Helvetica" panose="020B0604020202020204" pitchFamily="34" charset="0"/>
              </a:rPr>
              <a:t> and a set of edges </a:t>
            </a:r>
            <a:r>
              <a:rPr lang="en-US" altLang="en-US" sz="3600" i="1" dirty="0">
                <a:latin typeface="Helvetica" panose="020B0604020202020204" pitchFamily="34" charset="0"/>
              </a:rPr>
              <a:t>E</a:t>
            </a:r>
            <a:r>
              <a:rPr lang="en-US" altLang="en-US" sz="3600" dirty="0">
                <a:latin typeface="Helvetica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E572394-7A57-4FAF-9768-7B727AEA1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2713" y="182563"/>
            <a:ext cx="7810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Resource-Allocation Graph (Cont.)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208B6FF-D0EF-4175-B501-45156E5FF4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25284" y="1138239"/>
            <a:ext cx="8028318" cy="5314319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Process</a:t>
            </a: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Resource Type with 4 instances</a:t>
            </a:r>
          </a:p>
          <a:p>
            <a:pPr>
              <a:buFont typeface="Monotype Sorts" pitchFamily="-84" charset="2"/>
              <a:buNone/>
            </a:pPr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i="1" dirty="0"/>
              <a:t>P</a:t>
            </a:r>
            <a:r>
              <a:rPr lang="en-US" altLang="en-US" sz="2400" i="1" baseline="-25000" dirty="0"/>
              <a:t>i</a:t>
            </a:r>
            <a:r>
              <a:rPr lang="en-US" altLang="en-US" sz="2400" i="1" dirty="0"/>
              <a:t> </a:t>
            </a:r>
            <a:r>
              <a:rPr lang="en-US" altLang="en-US" sz="2400" dirty="0"/>
              <a:t>requests instance of </a:t>
            </a:r>
            <a:r>
              <a:rPr lang="en-US" altLang="en-US" sz="2400" i="1" dirty="0" err="1"/>
              <a:t>R</a:t>
            </a:r>
            <a:r>
              <a:rPr lang="en-US" altLang="en-US" sz="2400" i="1" baseline="-25000" dirty="0" err="1"/>
              <a:t>j</a:t>
            </a:r>
            <a:endParaRPr lang="en-US" altLang="en-US" sz="2400" dirty="0"/>
          </a:p>
          <a:p>
            <a:endParaRPr lang="en-US" altLang="en-US" sz="2400" dirty="0"/>
          </a:p>
          <a:p>
            <a:pPr>
              <a:buFont typeface="Monotype Sorts" pitchFamily="-84" charset="2"/>
              <a:buNone/>
            </a:pPr>
            <a:endParaRPr lang="en-US" altLang="en-US" sz="2400" dirty="0"/>
          </a:p>
          <a:p>
            <a:r>
              <a:rPr lang="en-US" altLang="en-US" sz="2400" i="1" dirty="0"/>
              <a:t>P</a:t>
            </a:r>
            <a:r>
              <a:rPr lang="en-US" altLang="en-US" sz="2400" i="1" baseline="-25000" dirty="0"/>
              <a:t>i</a:t>
            </a:r>
            <a:r>
              <a:rPr lang="en-US" altLang="en-US" sz="2400" dirty="0"/>
              <a:t> is holding an instance of </a:t>
            </a:r>
            <a:r>
              <a:rPr lang="en-US" altLang="en-US" sz="2400" i="1" dirty="0" err="1"/>
              <a:t>R</a:t>
            </a:r>
            <a:r>
              <a:rPr lang="en-US" altLang="en-US" sz="2400" i="1" baseline="-25000" dirty="0" err="1"/>
              <a:t>j</a:t>
            </a:r>
            <a:endParaRPr lang="en-US" altLang="en-US" sz="2400" i="1" dirty="0"/>
          </a:p>
        </p:txBody>
      </p:sp>
      <p:sp>
        <p:nvSpPr>
          <p:cNvPr id="10244" name="Oval 4">
            <a:extLst>
              <a:ext uri="{FF2B5EF4-FFF2-40B4-BE49-F238E27FC236}">
                <a16:creationId xmlns:a16="http://schemas.microsoft.com/office/drawing/2014/main" id="{0A0EAD4D-D9C0-4C3B-A79F-382DD8095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75" y="1493838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245" name="Oval 5">
            <a:extLst>
              <a:ext uri="{FF2B5EF4-FFF2-40B4-BE49-F238E27FC236}">
                <a16:creationId xmlns:a16="http://schemas.microsoft.com/office/drawing/2014/main" id="{9B1DA212-9BC0-40EE-91C4-647B97883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675" y="5316538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i="1">
                <a:latin typeface="Helvetica" panose="020B0604020202020204" pitchFamily="34" charset="0"/>
              </a:rPr>
              <a:t>P</a:t>
            </a:r>
            <a:r>
              <a:rPr lang="en-US" altLang="en-US" i="1" baseline="-25000">
                <a:latin typeface="Helvetica" panose="020B0604020202020204" pitchFamily="34" charset="0"/>
              </a:rPr>
              <a:t>i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6" name="Oval 6">
            <a:extLst>
              <a:ext uri="{FF2B5EF4-FFF2-40B4-BE49-F238E27FC236}">
                <a16:creationId xmlns:a16="http://schemas.microsoft.com/office/drawing/2014/main" id="{4C326589-FFA1-4AA2-BD63-B11908D48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0" y="3914775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i="1">
                <a:latin typeface="Helvetica" panose="020B0604020202020204" pitchFamily="34" charset="0"/>
              </a:rPr>
              <a:t>P</a:t>
            </a:r>
            <a:r>
              <a:rPr lang="en-US" altLang="en-US" i="1" baseline="-25000">
                <a:latin typeface="Helvetica" panose="020B0604020202020204" pitchFamily="34" charset="0"/>
              </a:rPr>
              <a:t>i</a:t>
            </a:r>
            <a:endParaRPr lang="en-US" altLang="en-US" i="1">
              <a:latin typeface="Helvetica" panose="020B0604020202020204" pitchFamily="34" charset="0"/>
            </a:endParaRP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606161B1-4DAC-499F-97F1-82ACF82130ED}"/>
              </a:ext>
            </a:extLst>
          </p:cNvPr>
          <p:cNvGrpSpPr>
            <a:grpSpLocks/>
          </p:cNvGrpSpPr>
          <p:nvPr/>
        </p:nvGrpSpPr>
        <p:grpSpPr bwMode="auto">
          <a:xfrm>
            <a:off x="5756275" y="2862263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0264" name="Rectangle 7">
              <a:extLst>
                <a:ext uri="{FF2B5EF4-FFF2-40B4-BE49-F238E27FC236}">
                  <a16:creationId xmlns:a16="http://schemas.microsoft.com/office/drawing/2014/main" id="{AEAE2921-370D-429B-9392-22B699922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5" name="Rectangle 8">
              <a:extLst>
                <a:ext uri="{FF2B5EF4-FFF2-40B4-BE49-F238E27FC236}">
                  <a16:creationId xmlns:a16="http://schemas.microsoft.com/office/drawing/2014/main" id="{DAE1AA61-8F23-4CDE-95FD-605E0478E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6" name="Rectangle 9">
              <a:extLst>
                <a:ext uri="{FF2B5EF4-FFF2-40B4-BE49-F238E27FC236}">
                  <a16:creationId xmlns:a16="http://schemas.microsoft.com/office/drawing/2014/main" id="{3027FA73-012B-4181-9006-24E8ECEDD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7" name="Rectangle 10">
              <a:extLst>
                <a:ext uri="{FF2B5EF4-FFF2-40B4-BE49-F238E27FC236}">
                  <a16:creationId xmlns:a16="http://schemas.microsoft.com/office/drawing/2014/main" id="{D15011EE-F5A6-499B-9ED3-58A8CEE2D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8" name="Rectangle 11">
              <a:extLst>
                <a:ext uri="{FF2B5EF4-FFF2-40B4-BE49-F238E27FC236}">
                  <a16:creationId xmlns:a16="http://schemas.microsoft.com/office/drawing/2014/main" id="{8099EEC5-4C56-46B2-8F37-845B25223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1AA98092-1CFA-48CC-B474-23EBFB2F09F9}"/>
              </a:ext>
            </a:extLst>
          </p:cNvPr>
          <p:cNvGrpSpPr>
            <a:grpSpLocks/>
          </p:cNvGrpSpPr>
          <p:nvPr/>
        </p:nvGrpSpPr>
        <p:grpSpPr bwMode="auto">
          <a:xfrm>
            <a:off x="6216650" y="3978275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0259" name="Rectangle 14">
              <a:extLst>
                <a:ext uri="{FF2B5EF4-FFF2-40B4-BE49-F238E27FC236}">
                  <a16:creationId xmlns:a16="http://schemas.microsoft.com/office/drawing/2014/main" id="{AFEE7DCF-8EF6-4A87-9A01-9C9093283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0" name="Rectangle 15">
              <a:extLst>
                <a:ext uri="{FF2B5EF4-FFF2-40B4-BE49-F238E27FC236}">
                  <a16:creationId xmlns:a16="http://schemas.microsoft.com/office/drawing/2014/main" id="{89CD203E-7B1D-40B4-BEC2-6F432A746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1" name="Rectangle 16">
              <a:extLst>
                <a:ext uri="{FF2B5EF4-FFF2-40B4-BE49-F238E27FC236}">
                  <a16:creationId xmlns:a16="http://schemas.microsoft.com/office/drawing/2014/main" id="{6AE4EA7D-7960-4F60-A584-8808449C6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2" name="Rectangle 17">
              <a:extLst>
                <a:ext uri="{FF2B5EF4-FFF2-40B4-BE49-F238E27FC236}">
                  <a16:creationId xmlns:a16="http://schemas.microsoft.com/office/drawing/2014/main" id="{9048958E-99E8-4FDD-96EC-C1604D64A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63" name="Rectangle 18">
              <a:extLst>
                <a:ext uri="{FF2B5EF4-FFF2-40B4-BE49-F238E27FC236}">
                  <a16:creationId xmlns:a16="http://schemas.microsoft.com/office/drawing/2014/main" id="{9D7C1AFE-C5FC-46EB-8961-E33BAC705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0249" name="Line 19">
            <a:extLst>
              <a:ext uri="{FF2B5EF4-FFF2-40B4-BE49-F238E27FC236}">
                <a16:creationId xmlns:a16="http://schemas.microsoft.com/office/drawing/2014/main" id="{F26719F7-5948-4BC5-B3D9-E3AA557C2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9625" y="418147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Text Box 20">
            <a:extLst>
              <a:ext uri="{FF2B5EF4-FFF2-40B4-BE49-F238E27FC236}">
                <a16:creationId xmlns:a16="http://schemas.microsoft.com/office/drawing/2014/main" id="{FEB21FF4-43E3-41F8-8646-FF68C8092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164" y="4394301"/>
            <a:ext cx="3417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400" i="1">
                <a:latin typeface="Helvetica" panose="020B0604020202020204" pitchFamily="34" charset="0"/>
              </a:rPr>
              <a:t>R</a:t>
            </a:r>
            <a:r>
              <a:rPr lang="en-US" altLang="en-US" sz="1400" i="1" baseline="-25000">
                <a:latin typeface="Helvetica" panose="020B0604020202020204" pitchFamily="34" charset="0"/>
              </a:rPr>
              <a:t>j</a:t>
            </a:r>
            <a:endParaRPr lang="en-US" altLang="en-US" sz="1400" i="1">
              <a:latin typeface="Helvetica" panose="020B0604020202020204" pitchFamily="34" charset="0"/>
            </a:endParaRPr>
          </a:p>
        </p:txBody>
      </p:sp>
      <p:grpSp>
        <p:nvGrpSpPr>
          <p:cNvPr id="4" name="Group 21">
            <a:extLst>
              <a:ext uri="{FF2B5EF4-FFF2-40B4-BE49-F238E27FC236}">
                <a16:creationId xmlns:a16="http://schemas.microsoft.com/office/drawing/2014/main" id="{7F15228C-A5FB-448A-9D54-4932C6751444}"/>
              </a:ext>
            </a:extLst>
          </p:cNvPr>
          <p:cNvGrpSpPr>
            <a:grpSpLocks/>
          </p:cNvGrpSpPr>
          <p:nvPr/>
        </p:nvGrpSpPr>
        <p:grpSpPr bwMode="auto">
          <a:xfrm>
            <a:off x="6194425" y="5380038"/>
            <a:ext cx="438150" cy="419100"/>
            <a:chOff x="2666" y="1966"/>
            <a:chExt cx="276" cy="264"/>
          </a:xfrm>
          <a:solidFill>
            <a:srgbClr val="CCECFF"/>
          </a:solidFill>
        </p:grpSpPr>
        <p:sp>
          <p:nvSpPr>
            <p:cNvPr id="10254" name="Rectangle 22">
              <a:extLst>
                <a:ext uri="{FF2B5EF4-FFF2-40B4-BE49-F238E27FC236}">
                  <a16:creationId xmlns:a16="http://schemas.microsoft.com/office/drawing/2014/main" id="{934CA1B1-8170-41E6-B73B-2B3FFB825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55" name="Rectangle 23">
              <a:extLst>
                <a:ext uri="{FF2B5EF4-FFF2-40B4-BE49-F238E27FC236}">
                  <a16:creationId xmlns:a16="http://schemas.microsoft.com/office/drawing/2014/main" id="{E7D7B9C0-E476-4054-9513-233CC8561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56" name="Rectangle 24">
              <a:extLst>
                <a:ext uri="{FF2B5EF4-FFF2-40B4-BE49-F238E27FC236}">
                  <a16:creationId xmlns:a16="http://schemas.microsoft.com/office/drawing/2014/main" id="{575F9C55-7E29-4931-857E-4551C1673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57" name="Rectangle 25">
              <a:extLst>
                <a:ext uri="{FF2B5EF4-FFF2-40B4-BE49-F238E27FC236}">
                  <a16:creationId xmlns:a16="http://schemas.microsoft.com/office/drawing/2014/main" id="{39D95FDA-85FA-4FB3-BB6F-3733ECD76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258" name="Rectangle 26">
              <a:extLst>
                <a:ext uri="{FF2B5EF4-FFF2-40B4-BE49-F238E27FC236}">
                  <a16:creationId xmlns:a16="http://schemas.microsoft.com/office/drawing/2014/main" id="{5EB62B75-A2ED-484F-B362-301B70F4B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0252" name="Line 27">
            <a:extLst>
              <a:ext uri="{FF2B5EF4-FFF2-40B4-BE49-F238E27FC236}">
                <a16:creationId xmlns:a16="http://schemas.microsoft.com/office/drawing/2014/main" id="{C7756A22-8AB8-404F-B424-C8E6E62A63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5526089"/>
            <a:ext cx="476250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Text Box 28">
            <a:extLst>
              <a:ext uri="{FF2B5EF4-FFF2-40B4-BE49-F238E27FC236}">
                <a16:creationId xmlns:a16="http://schemas.microsoft.com/office/drawing/2014/main" id="{DC310B98-5866-4ABC-BDC1-22A30C46C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3414" y="5767488"/>
            <a:ext cx="34176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400" i="1">
                <a:latin typeface="Helvetica" panose="020B0604020202020204" pitchFamily="34" charset="0"/>
              </a:rPr>
              <a:t>R</a:t>
            </a:r>
            <a:r>
              <a:rPr lang="en-US" altLang="en-US" sz="1400" i="1" baseline="-25000">
                <a:latin typeface="Helvetica" panose="020B0604020202020204" pitchFamily="34" charset="0"/>
              </a:rPr>
              <a:t>j</a:t>
            </a:r>
            <a:endParaRPr lang="en-US" altLang="en-US" sz="1400" i="1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>
            <a:extLst>
              <a:ext uri="{FF2B5EF4-FFF2-40B4-BE49-F238E27FC236}">
                <a16:creationId xmlns:a16="http://schemas.microsoft.com/office/drawing/2014/main" id="{9D20DA97-7B9A-4883-9594-9C2AF782B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0326" y="207963"/>
            <a:ext cx="8150225" cy="512762"/>
          </a:xfrm>
        </p:spPr>
        <p:txBody>
          <a:bodyPr/>
          <a:lstStyle/>
          <a:p>
            <a:pPr eaLnBrk="1" hangingPunct="1"/>
            <a:r>
              <a:rPr lang="en-US" altLang="en-US" sz="2800"/>
              <a:t>Example of a Resource Allocation Graph</a:t>
            </a:r>
          </a:p>
        </p:txBody>
      </p:sp>
      <p:pic>
        <p:nvPicPr>
          <p:cNvPr id="11267" name="Picture 1032">
            <a:extLst>
              <a:ext uri="{FF2B5EF4-FFF2-40B4-BE49-F238E27FC236}">
                <a16:creationId xmlns:a16="http://schemas.microsoft.com/office/drawing/2014/main" id="{EB682812-6808-4D2A-9394-D548DD4F6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4465638" y="1316039"/>
            <a:ext cx="2741612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FA67B66-3510-4037-9AC1-7F998B251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7464" y="273050"/>
            <a:ext cx="8378825" cy="469900"/>
          </a:xfrm>
        </p:spPr>
        <p:txBody>
          <a:bodyPr/>
          <a:lstStyle/>
          <a:p>
            <a:pPr eaLnBrk="1" hangingPunct="1"/>
            <a:r>
              <a:rPr lang="en-US" altLang="en-US" sz="2800"/>
              <a:t>Resource Allocation Graph With A Deadlock</a:t>
            </a:r>
          </a:p>
        </p:txBody>
      </p:sp>
      <p:pic>
        <p:nvPicPr>
          <p:cNvPr id="12291" name="Picture 7">
            <a:extLst>
              <a:ext uri="{FF2B5EF4-FFF2-40B4-BE49-F238E27FC236}">
                <a16:creationId xmlns:a16="http://schemas.microsoft.com/office/drawing/2014/main" id="{B7F6CB12-6042-484B-A1F8-4B7178D84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075" y="1212851"/>
            <a:ext cx="278130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04AF5F9-36EF-4E30-AAC0-8CFB620E1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65426" y="304800"/>
            <a:ext cx="7954963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Graph With A Cycle But No Deadlock</a:t>
            </a:r>
          </a:p>
        </p:txBody>
      </p:sp>
      <p:pic>
        <p:nvPicPr>
          <p:cNvPr id="13315" name="Picture 4" descr="7">
            <a:extLst>
              <a:ext uri="{FF2B5EF4-FFF2-40B4-BE49-F238E27FC236}">
                <a16:creationId xmlns:a16="http://schemas.microsoft.com/office/drawing/2014/main" id="{637314B8-0426-46E7-A332-DF4467739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275" y="1208089"/>
            <a:ext cx="2952750" cy="376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AE3EE3A-3B96-4896-90FE-FF64CB8A2B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5240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Basic Facts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8B47766-CA1A-4FEB-A8F4-03908104AE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8962" y="1228725"/>
            <a:ext cx="9802812" cy="440055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If graph contains no cycles </a:t>
            </a:r>
            <a:r>
              <a:rPr lang="en-US" altLang="en-US" sz="4000" dirty="0">
                <a:sym typeface="Symbol" panose="05050102010706020507" pitchFamily="18" charset="2"/>
              </a:rPr>
              <a:t> no deadlock</a:t>
            </a:r>
          </a:p>
          <a:p>
            <a:r>
              <a:rPr lang="en-US" altLang="en-US" sz="4000" dirty="0">
                <a:sym typeface="Symbol" panose="05050102010706020507" pitchFamily="18" charset="2"/>
              </a:rPr>
              <a:t>If graph contains a cycle </a:t>
            </a:r>
          </a:p>
          <a:p>
            <a:pPr lvl="1"/>
            <a:r>
              <a:rPr lang="en-US" altLang="en-US" sz="3600" dirty="0">
                <a:sym typeface="Symbol" panose="05050102010706020507" pitchFamily="18" charset="2"/>
              </a:rPr>
              <a:t>if only one instance per resource type, then deadlock</a:t>
            </a:r>
          </a:p>
          <a:p>
            <a:pPr lvl="1"/>
            <a:r>
              <a:rPr lang="en-US" altLang="en-US" sz="3600" dirty="0">
                <a:sym typeface="Symbol" panose="05050102010706020507" pitchFamily="18" charset="2"/>
              </a:rPr>
              <a:t>if several instances per resource type, possibility of deadlock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40FCD1A-115F-4D14-A8E5-6F7FCA8134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3664" y="214313"/>
            <a:ext cx="7577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Methods for Handling Deadlocks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4C9CB16-BD9C-4E32-ADF5-E3A64D464B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6596" y="1198562"/>
            <a:ext cx="10679502" cy="5253995"/>
          </a:xfrm>
        </p:spPr>
        <p:txBody>
          <a:bodyPr>
            <a:normAutofit/>
          </a:bodyPr>
          <a:lstStyle/>
          <a:p>
            <a:pPr algn="just"/>
            <a:r>
              <a:rPr lang="en-US" altLang="en-US" sz="3600" dirty="0"/>
              <a:t>Ensure that the system will </a:t>
            </a:r>
            <a:r>
              <a:rPr lang="en-US" altLang="en-US" sz="3600" b="1" i="1" dirty="0">
                <a:solidFill>
                  <a:srgbClr val="FF0066"/>
                </a:solidFill>
              </a:rPr>
              <a:t>never</a:t>
            </a:r>
            <a:r>
              <a:rPr lang="en-US" altLang="en-US" sz="3600" dirty="0"/>
              <a:t> enter a deadlock state:</a:t>
            </a:r>
          </a:p>
          <a:p>
            <a:pPr lvl="1" algn="just"/>
            <a:r>
              <a:rPr lang="en-US" altLang="en-US" sz="3200" dirty="0"/>
              <a:t>Deadlock prevention</a:t>
            </a:r>
          </a:p>
          <a:p>
            <a:pPr lvl="1" algn="just"/>
            <a:r>
              <a:rPr lang="en-US" altLang="en-US" sz="3200" dirty="0"/>
              <a:t>Deadlock </a:t>
            </a:r>
            <a:r>
              <a:rPr lang="en-US" altLang="en-US" sz="3200" dirty="0" err="1"/>
              <a:t>avoidence</a:t>
            </a:r>
            <a:endParaRPr lang="en-US" altLang="en-US" sz="3200" dirty="0"/>
          </a:p>
          <a:p>
            <a:pPr algn="just"/>
            <a:r>
              <a:rPr lang="en-US" altLang="en-US" sz="3600" dirty="0"/>
              <a:t>Allow the system to enter a deadlock state and then recover</a:t>
            </a:r>
          </a:p>
          <a:p>
            <a:pPr algn="just"/>
            <a:r>
              <a:rPr lang="en-US" altLang="en-US" sz="3600" dirty="0"/>
              <a:t>Ignore the problem and pretend that deadlocks never occur in the system; used by most operating systems, including UNIX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55B74A-45DD-46E8-A196-C6FD08A8B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of the following graph contain Deadlock?</a:t>
            </a:r>
            <a:endParaRPr lang="en-PK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54A542C-2FEB-45B1-A9E3-CBCB9C871FD3}"/>
              </a:ext>
            </a:extLst>
          </p:cNvPr>
          <p:cNvGrpSpPr/>
          <p:nvPr/>
        </p:nvGrpSpPr>
        <p:grpSpPr>
          <a:xfrm>
            <a:off x="2379149" y="1610860"/>
            <a:ext cx="7358410" cy="5247141"/>
            <a:chOff x="1224116" y="2244521"/>
            <a:chExt cx="6548285" cy="461347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275803B-4652-400C-9EFB-4C65DB70F422}"/>
                </a:ext>
              </a:extLst>
            </p:cNvPr>
            <p:cNvGrpSpPr/>
            <p:nvPr/>
          </p:nvGrpSpPr>
          <p:grpSpPr>
            <a:xfrm>
              <a:off x="1224116" y="2244521"/>
              <a:ext cx="6548285" cy="2150316"/>
              <a:chOff x="722671" y="2141282"/>
              <a:chExt cx="6548285" cy="2150316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CD4A355B-2ADC-4257-8FDB-7187E3E6D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9742" y="2141282"/>
                <a:ext cx="4911214" cy="2150316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2F03CE-097A-4376-A513-D1D4053BC143}"/>
                  </a:ext>
                </a:extLst>
              </p:cNvPr>
              <p:cNvSpPr txBox="1"/>
              <p:nvPr/>
            </p:nvSpPr>
            <p:spPr>
              <a:xfrm>
                <a:off x="722671" y="3023419"/>
                <a:ext cx="1297858" cy="324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Graph A</a:t>
                </a:r>
                <a:endParaRPr lang="en-PK" dirty="0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6EABA48-AC11-41A9-B328-C749FF499166}"/>
                </a:ext>
              </a:extLst>
            </p:cNvPr>
            <p:cNvGrpSpPr/>
            <p:nvPr/>
          </p:nvGrpSpPr>
          <p:grpSpPr>
            <a:xfrm>
              <a:off x="1253613" y="4363502"/>
              <a:ext cx="6272981" cy="2494498"/>
              <a:chOff x="737419" y="4243387"/>
              <a:chExt cx="6272981" cy="2494498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221EB61-C388-4935-B64A-3078BA51A1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8516" y="4243387"/>
                <a:ext cx="4871884" cy="2494498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F226067-C643-4D07-BDA6-D44DE20B936A}"/>
                  </a:ext>
                </a:extLst>
              </p:cNvPr>
              <p:cNvSpPr txBox="1"/>
              <p:nvPr/>
            </p:nvSpPr>
            <p:spPr>
              <a:xfrm>
                <a:off x="737419" y="5220618"/>
                <a:ext cx="4572000" cy="3247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Graph B</a:t>
                </a:r>
                <a:endParaRPr lang="en-PK" dirty="0">
                  <a:solidFill>
                    <a:srgbClr val="0070C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97132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4E6DC195-A097-4489-91F0-0823981969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3664" y="214313"/>
            <a:ext cx="7577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Methods for Handling Deadlocks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0B1974F3-B27D-4398-888B-6020EB15EE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87822" y="1198562"/>
            <a:ext cx="9979572" cy="5060347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Ensure that the system will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never</a:t>
            </a:r>
            <a:r>
              <a:rPr lang="en-US" altLang="en-US" sz="2800" dirty="0"/>
              <a:t> enter a deadlock state:</a:t>
            </a:r>
          </a:p>
          <a:p>
            <a:pPr lvl="1"/>
            <a:r>
              <a:rPr lang="en-US" altLang="en-US" sz="2400" dirty="0"/>
              <a:t>Deadlock prevention</a:t>
            </a:r>
          </a:p>
          <a:p>
            <a:pPr lvl="1"/>
            <a:r>
              <a:rPr lang="en-US" altLang="en-US" sz="2400" dirty="0"/>
              <a:t>Deadlock avoidance</a:t>
            </a:r>
          </a:p>
          <a:p>
            <a:r>
              <a:rPr lang="en-US" altLang="en-US" sz="2800" dirty="0"/>
              <a:t>Allow the system to enter a deadlock state and then recover</a:t>
            </a:r>
          </a:p>
          <a:p>
            <a:r>
              <a:rPr lang="en-US" altLang="en-US" sz="2800" dirty="0"/>
              <a:t>Ignore the problem and pretend that deadlocks never occur in the system.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026">
            <a:extLst>
              <a:ext uri="{FF2B5EF4-FFF2-40B4-BE49-F238E27FC236}">
                <a16:creationId xmlns:a16="http://schemas.microsoft.com/office/drawing/2014/main" id="{93884E20-FE6E-43AF-8F05-40E2C3E8F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25136" y="557507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Deadlock Prevention</a:t>
            </a:r>
          </a:p>
        </p:txBody>
      </p:sp>
      <p:sp>
        <p:nvSpPr>
          <p:cNvPr id="25602" name="Rectangle 1027">
            <a:extLst>
              <a:ext uri="{FF2B5EF4-FFF2-40B4-BE49-F238E27FC236}">
                <a16:creationId xmlns:a16="http://schemas.microsoft.com/office/drawing/2014/main" id="{248F74CB-A637-4326-83AD-A85531E46B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948925"/>
            <a:ext cx="10436772" cy="3822700"/>
          </a:xfrm>
        </p:spPr>
        <p:txBody>
          <a:bodyPr>
            <a:noAutofit/>
          </a:bodyPr>
          <a:lstStyle/>
          <a:p>
            <a:r>
              <a:rPr lang="en-US" altLang="en-US" sz="3200" b="1" dirty="0"/>
              <a:t>Mutual Exclusion</a:t>
            </a:r>
            <a:r>
              <a:rPr lang="en-US" altLang="en-US" sz="3200" dirty="0"/>
              <a:t> – not required for sharable resources (e.g., read-only files); must hold for non-sharable resources</a:t>
            </a:r>
          </a:p>
          <a:p>
            <a:r>
              <a:rPr lang="en-US" altLang="en-US" sz="3200" b="1" dirty="0"/>
              <a:t>Hold and Wait</a:t>
            </a:r>
            <a:r>
              <a:rPr lang="en-US" altLang="en-US" sz="3200" dirty="0"/>
              <a:t> – must guarantee that whenever a process requests a resource, it does not hold any other resources</a:t>
            </a:r>
          </a:p>
          <a:p>
            <a:pPr lvl="1"/>
            <a:r>
              <a:rPr lang="en-US" altLang="en-US" sz="2800" dirty="0"/>
              <a:t>Require process to request and be allocated all its resources before it begins execution, or allow process to request resources only when the process has none allocated to it.</a:t>
            </a:r>
          </a:p>
          <a:p>
            <a:pPr lvl="1"/>
            <a:r>
              <a:rPr lang="en-US" altLang="en-US" sz="2800" dirty="0"/>
              <a:t>Low resource utilization; starvation possible</a:t>
            </a:r>
          </a:p>
        </p:txBody>
      </p:sp>
      <p:sp>
        <p:nvSpPr>
          <p:cNvPr id="25603" name="Text Box 1028">
            <a:extLst>
              <a:ext uri="{FF2B5EF4-FFF2-40B4-BE49-F238E27FC236}">
                <a16:creationId xmlns:a16="http://schemas.microsoft.com/office/drawing/2014/main" id="{9845B2D7-F006-41D6-8929-1B9EF427F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929" y="1370154"/>
            <a:ext cx="78009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Invalidate one of the four necessary conditions for deadlock: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026">
            <a:extLst>
              <a:ext uri="{FF2B5EF4-FFF2-40B4-BE49-F238E27FC236}">
                <a16:creationId xmlns:a16="http://schemas.microsoft.com/office/drawing/2014/main" id="{5E79F7A0-88E3-48D2-89FF-125D5DE02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7300" y="232005"/>
            <a:ext cx="7683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Deadlock Prevention (Cont.)</a:t>
            </a:r>
          </a:p>
        </p:txBody>
      </p:sp>
      <p:sp>
        <p:nvSpPr>
          <p:cNvPr id="27650" name="Rectangle 1027">
            <a:extLst>
              <a:ext uri="{FF2B5EF4-FFF2-40B4-BE49-F238E27FC236}">
                <a16:creationId xmlns:a16="http://schemas.microsoft.com/office/drawing/2014/main" id="{D9A7966E-2C18-4BF6-AF61-56D5353061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40979" y="1085853"/>
            <a:ext cx="10610193" cy="5078464"/>
          </a:xfrm>
        </p:spPr>
        <p:txBody>
          <a:bodyPr>
            <a:normAutofit/>
          </a:bodyPr>
          <a:lstStyle/>
          <a:p>
            <a:r>
              <a:rPr lang="en-US" altLang="en-US" sz="3200" b="1" dirty="0"/>
              <a:t>No Preemption</a:t>
            </a:r>
            <a:r>
              <a:rPr lang="en-US" altLang="en-US" sz="3200" dirty="0"/>
              <a:t>:</a:t>
            </a:r>
          </a:p>
          <a:p>
            <a:pPr lvl="1"/>
            <a:r>
              <a:rPr lang="en-US" altLang="en-US" sz="2800" dirty="0"/>
              <a:t>If a process that is holding some resources requests another resource that cannot be immediately allocated to it, then all resources currently being held are released</a:t>
            </a:r>
          </a:p>
          <a:p>
            <a:pPr lvl="1"/>
            <a:r>
              <a:rPr lang="en-US" altLang="en-US" sz="2800" dirty="0"/>
              <a:t>Preempted resources are added to the list of resources for which the process is waiting</a:t>
            </a:r>
          </a:p>
          <a:p>
            <a:pPr lvl="1"/>
            <a:r>
              <a:rPr lang="en-US" altLang="en-US" sz="2800" dirty="0"/>
              <a:t>Process will be restarted only when it can regain its old resources, as well as the new ones that it is requesting</a:t>
            </a:r>
          </a:p>
          <a:p>
            <a:r>
              <a:rPr lang="en-US" altLang="en-US" sz="3200" b="1" dirty="0"/>
              <a:t>Circular Wait:</a:t>
            </a:r>
          </a:p>
          <a:p>
            <a:pPr lvl="1"/>
            <a:r>
              <a:rPr lang="en-US" altLang="en-US" sz="2800" dirty="0"/>
              <a:t>Impose a total ordering of all resource types, and require that each process requests resources in an increasing order of enumeration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CAFFD0F5-6606-4126-85B7-48E43CCCD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7926" y="226431"/>
            <a:ext cx="77628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Deadlock Avoidance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F316B56B-E9C7-4926-A854-188C569231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25214" y="1814513"/>
            <a:ext cx="10846676" cy="3783012"/>
          </a:xfrm>
        </p:spPr>
        <p:txBody>
          <a:bodyPr>
            <a:noAutofit/>
          </a:bodyPr>
          <a:lstStyle/>
          <a:p>
            <a:pPr algn="just"/>
            <a:r>
              <a:rPr lang="en-US" altLang="en-US" sz="3200" dirty="0"/>
              <a:t>Simplest and most useful model requires that each process declare the </a:t>
            </a:r>
            <a:r>
              <a:rPr lang="en-US" altLang="en-US" sz="3200" b="1" i="1" dirty="0"/>
              <a:t>maximum number</a:t>
            </a:r>
            <a:r>
              <a:rPr lang="en-US" altLang="en-US" sz="3200" b="1" dirty="0"/>
              <a:t> </a:t>
            </a:r>
            <a:r>
              <a:rPr lang="en-US" altLang="en-US" sz="3200" dirty="0"/>
              <a:t>of resources of each type that it may need</a:t>
            </a:r>
          </a:p>
          <a:p>
            <a:pPr algn="just"/>
            <a:r>
              <a:rPr lang="en-US" altLang="en-US" sz="3200" dirty="0"/>
              <a:t>The deadlock-avoidance algorithm dynamically examines the resource-allocation state to ensure that there can never be a circular-wait condition</a:t>
            </a:r>
          </a:p>
          <a:p>
            <a:pPr algn="just"/>
            <a:r>
              <a:rPr lang="en-US" altLang="en-US" sz="3200" dirty="0"/>
              <a:t>Resource-allocation </a:t>
            </a:r>
            <a:r>
              <a:rPr lang="en-US" altLang="en-US" sz="3200" i="1" dirty="0"/>
              <a:t>state</a:t>
            </a:r>
            <a:r>
              <a:rPr lang="en-US" altLang="en-US" sz="3200" dirty="0"/>
              <a:t> is defined by the number of available and allocated resources, and the maximum demands of the processes</a:t>
            </a: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19AE85A0-D9E0-41AE-B1B3-22E783F9D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277" y="1141097"/>
            <a:ext cx="10736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400" dirty="0"/>
              <a:t>Requires that the system has some additional </a:t>
            </a:r>
            <a:r>
              <a:rPr kumimoji="0" lang="en-US" altLang="en-US" sz="2400" b="1" i="1" dirty="0">
                <a:solidFill>
                  <a:srgbClr val="FF0000"/>
                </a:solidFill>
              </a:rPr>
              <a:t>a priori </a:t>
            </a:r>
            <a:r>
              <a:rPr kumimoji="0" lang="en-US" altLang="en-US" sz="2400" dirty="0"/>
              <a:t>information available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60134717-6B8D-4E64-9AC7-D74C60478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9836"/>
            <a:ext cx="8229600" cy="921047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dirty="0"/>
              <a:t>Safe State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EFC0A195-78EA-410E-9026-C9CEFE55CB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1338" y="1165225"/>
            <a:ext cx="11146221" cy="4914562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When a process requests an available resource, system must decide if immediate allocation leaves the system in a safe state</a:t>
            </a:r>
          </a:p>
          <a:p>
            <a:r>
              <a:rPr lang="en-US" altLang="en-US" sz="3200" dirty="0"/>
              <a:t>System is in </a:t>
            </a: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safe state </a:t>
            </a:r>
            <a:r>
              <a:rPr lang="en-US" altLang="en-US" sz="3200" dirty="0"/>
              <a:t>if there exists a sequence &lt;</a:t>
            </a:r>
            <a:r>
              <a:rPr lang="en-US" altLang="en-US" sz="3200" i="1" dirty="0"/>
              <a:t>P</a:t>
            </a:r>
            <a:r>
              <a:rPr lang="en-US" altLang="en-US" sz="3200" i="1" baseline="-25000" dirty="0"/>
              <a:t>1</a:t>
            </a:r>
            <a:r>
              <a:rPr lang="en-US" altLang="en-US" sz="3200" i="1" dirty="0"/>
              <a:t>, P</a:t>
            </a:r>
            <a:r>
              <a:rPr lang="en-US" altLang="en-US" sz="3200" i="1" baseline="-25000" dirty="0"/>
              <a:t>2</a:t>
            </a:r>
            <a:r>
              <a:rPr lang="en-US" altLang="en-US" sz="3200" i="1" dirty="0"/>
              <a:t>, …, </a:t>
            </a:r>
            <a:r>
              <a:rPr lang="en-US" altLang="en-US" sz="3200" i="1" dirty="0" err="1"/>
              <a:t>P</a:t>
            </a:r>
            <a:r>
              <a:rPr lang="en-US" altLang="en-US" sz="3200" i="1" baseline="-25000" dirty="0" err="1"/>
              <a:t>n</a:t>
            </a:r>
            <a:r>
              <a:rPr lang="en-US" altLang="en-US" sz="3200" dirty="0"/>
              <a:t>&gt; of ALL the  processes  in the systems such that  for each P</a:t>
            </a:r>
            <a:r>
              <a:rPr lang="en-US" altLang="en-US" sz="3200" baseline="-25000" dirty="0"/>
              <a:t>i</a:t>
            </a:r>
            <a:r>
              <a:rPr lang="en-US" altLang="en-US" sz="3200" dirty="0"/>
              <a:t>, the resources that P</a:t>
            </a:r>
            <a:r>
              <a:rPr lang="en-US" altLang="en-US" sz="3200" baseline="-25000" dirty="0"/>
              <a:t>i </a:t>
            </a:r>
            <a:r>
              <a:rPr lang="en-US" altLang="en-US" sz="3200" dirty="0"/>
              <a:t>can still request can be satisfied by currently available resources + resources held by all the </a:t>
            </a:r>
            <a:r>
              <a:rPr lang="en-US" altLang="en-US" sz="3200" i="1" dirty="0" err="1"/>
              <a:t>P</a:t>
            </a:r>
            <a:r>
              <a:rPr lang="en-US" altLang="en-US" sz="3200" i="1" baseline="-25000" dirty="0" err="1"/>
              <a:t>j</a:t>
            </a:r>
            <a:r>
              <a:rPr lang="en-US" altLang="en-US" sz="3200" dirty="0"/>
              <a:t>, with</a:t>
            </a:r>
            <a:r>
              <a:rPr lang="en-US" altLang="en-US" sz="3200" i="1" dirty="0"/>
              <a:t> j </a:t>
            </a:r>
            <a:r>
              <a:rPr lang="en-US" altLang="en-US" sz="3200" dirty="0"/>
              <a:t>&lt; </a:t>
            </a:r>
            <a:r>
              <a:rPr lang="en-US" altLang="en-US" sz="3200" i="1" dirty="0"/>
              <a:t>I</a:t>
            </a:r>
            <a:endParaRPr lang="en-US" altLang="en-US" sz="3200" dirty="0"/>
          </a:p>
          <a:p>
            <a:r>
              <a:rPr lang="en-US" altLang="en-US" sz="3200" dirty="0"/>
              <a:t>That is:</a:t>
            </a:r>
          </a:p>
          <a:p>
            <a:pPr lvl="1"/>
            <a:r>
              <a:rPr lang="en-US" altLang="en-US" sz="2800" dirty="0"/>
              <a:t>If P</a:t>
            </a:r>
            <a:r>
              <a:rPr lang="en-US" altLang="en-US" sz="2800" baseline="-25000" dirty="0"/>
              <a:t>i</a:t>
            </a:r>
            <a:r>
              <a:rPr lang="en-US" altLang="en-US" sz="2800" dirty="0"/>
              <a:t> resource needs are not immediately available, then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r>
              <a:rPr lang="en-US" altLang="en-US" sz="2800" dirty="0"/>
              <a:t> can wait until all </a:t>
            </a:r>
            <a:r>
              <a:rPr lang="en-US" altLang="en-US" sz="2800" i="1" dirty="0" err="1"/>
              <a:t>P</a:t>
            </a:r>
            <a:r>
              <a:rPr lang="en-US" altLang="en-US" sz="2800" i="1" baseline="-25000" dirty="0" err="1"/>
              <a:t>j</a:t>
            </a:r>
            <a:r>
              <a:rPr lang="en-US" altLang="en-US" sz="2800" i="1" dirty="0"/>
              <a:t> </a:t>
            </a:r>
            <a:r>
              <a:rPr lang="en-US" altLang="en-US" sz="2800" dirty="0"/>
              <a:t>have finished</a:t>
            </a:r>
          </a:p>
          <a:p>
            <a:pPr lvl="1"/>
            <a:r>
              <a:rPr lang="en-US" altLang="en-US" sz="2800" dirty="0"/>
              <a:t>When </a:t>
            </a:r>
            <a:r>
              <a:rPr lang="en-US" altLang="en-US" sz="2800" i="1" dirty="0" err="1"/>
              <a:t>P</a:t>
            </a:r>
            <a:r>
              <a:rPr lang="en-US" altLang="en-US" sz="2800" i="1" baseline="-25000" dirty="0" err="1"/>
              <a:t>j</a:t>
            </a:r>
            <a:r>
              <a:rPr lang="en-US" altLang="en-US" sz="2800" dirty="0"/>
              <a:t> is finished,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r>
              <a:rPr lang="en-US" altLang="en-US" sz="2800" dirty="0"/>
              <a:t> can obtain needed resources, execute, return allocated resources, and terminate</a:t>
            </a:r>
          </a:p>
          <a:p>
            <a:pPr lvl="1"/>
            <a:r>
              <a:rPr lang="en-US" altLang="en-US" sz="2800" dirty="0"/>
              <a:t>When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r>
              <a:rPr lang="en-US" altLang="en-US" sz="2800" dirty="0"/>
              <a:t> terminates,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 </a:t>
            </a:r>
            <a:r>
              <a:rPr lang="en-US" altLang="en-US" sz="2800" baseline="-25000" dirty="0"/>
              <a:t>+1</a:t>
            </a:r>
            <a:r>
              <a:rPr lang="en-US" altLang="en-US" sz="2800" dirty="0"/>
              <a:t> can obtain its needed resources, and so on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8634" y="1844566"/>
            <a:ext cx="9845567" cy="4464794"/>
          </a:xfrm>
        </p:spPr>
        <p:txBody>
          <a:bodyPr>
            <a:normAutofit/>
          </a:bodyPr>
          <a:lstStyle/>
          <a:p>
            <a:r>
              <a:rPr lang="en-US" sz="3200" dirty="0"/>
              <a:t>To illustrate, consider a system with </a:t>
            </a:r>
            <a:r>
              <a:rPr lang="en-US" sz="3200" dirty="0">
                <a:solidFill>
                  <a:srgbClr val="FF0000"/>
                </a:solidFill>
              </a:rPr>
              <a:t>twelve</a:t>
            </a:r>
            <a:r>
              <a:rPr lang="en-US" sz="3200" dirty="0"/>
              <a:t> resources and three threads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10037" r="10602"/>
          <a:stretch/>
        </p:blipFill>
        <p:spPr>
          <a:xfrm>
            <a:off x="3042745" y="2944703"/>
            <a:ext cx="6558455" cy="2242153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60134717-6B8D-4E64-9AC7-D74C604788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dirty="0"/>
              <a:t>Safe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606" y="5439131"/>
            <a:ext cx="102896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/>
              <a:t>The </a:t>
            </a:r>
            <a:r>
              <a:rPr lang="fr-FR" sz="3200" dirty="0" err="1"/>
              <a:t>sequence</a:t>
            </a:r>
            <a:r>
              <a:rPr lang="fr-FR" sz="3200" dirty="0"/>
              <a:t> &lt;T1, T0, T2&gt; </a:t>
            </a:r>
            <a:r>
              <a:rPr lang="fr-FR" sz="3200" dirty="0" err="1"/>
              <a:t>satisfies</a:t>
            </a:r>
            <a:r>
              <a:rPr lang="fr-FR" sz="3200" dirty="0"/>
              <a:t> </a:t>
            </a:r>
            <a:r>
              <a:rPr lang="en-US" sz="3200" dirty="0"/>
              <a:t>the safety condition</a:t>
            </a:r>
            <a:r>
              <a:rPr lang="en-US" dirty="0">
                <a:latin typeface="PalatinoLTStd-Roman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27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9E27B5FF-B4F4-4F92-A75E-BC8329853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65890" y="614752"/>
            <a:ext cx="8229600" cy="57626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Basic Facts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015BDF1D-C0EA-4FC7-A293-BF12CBE7CC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5573" y="1588831"/>
            <a:ext cx="9552210" cy="4414838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If a system is in safe state </a:t>
            </a:r>
            <a:r>
              <a:rPr lang="en-US" altLang="en-US" sz="3200" dirty="0">
                <a:sym typeface="Symbol" panose="05050102010706020507" pitchFamily="18" charset="2"/>
              </a:rPr>
              <a:t> no deadlocks</a:t>
            </a:r>
            <a:br>
              <a:rPr lang="en-US" altLang="en-US" sz="3200" dirty="0">
                <a:sym typeface="Symbol" panose="05050102010706020507" pitchFamily="18" charset="2"/>
              </a:rPr>
            </a:br>
            <a:endParaRPr lang="en-US" altLang="en-US" sz="3200" dirty="0">
              <a:sym typeface="Symbol" panose="05050102010706020507" pitchFamily="18" charset="2"/>
            </a:endParaRPr>
          </a:p>
          <a:p>
            <a:r>
              <a:rPr lang="en-US" altLang="en-US" sz="3200" dirty="0">
                <a:sym typeface="Symbol" panose="05050102010706020507" pitchFamily="18" charset="2"/>
              </a:rPr>
              <a:t>If a system is in unsafe state  possibility of deadlock</a:t>
            </a:r>
          </a:p>
          <a:p>
            <a:endParaRPr lang="en-US" altLang="en-US" sz="3200" dirty="0">
              <a:sym typeface="Symbol" panose="05050102010706020507" pitchFamily="18" charset="2"/>
            </a:endParaRPr>
          </a:p>
          <a:p>
            <a:r>
              <a:rPr lang="en-US" altLang="en-US" sz="3200" dirty="0">
                <a:sym typeface="Symbol" panose="05050102010706020507" pitchFamily="18" charset="2"/>
              </a:rPr>
              <a:t>Avoidance  ensure that a system will never enter an unsafe state.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8833C35E-A99A-45F7-A732-34E0D4573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0138" y="225461"/>
            <a:ext cx="7840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Safe, Unsafe, Deadlock State </a:t>
            </a:r>
          </a:p>
        </p:txBody>
      </p:sp>
      <p:pic>
        <p:nvPicPr>
          <p:cNvPr id="35842" name="Picture 1">
            <a:extLst>
              <a:ext uri="{FF2B5EF4-FFF2-40B4-BE49-F238E27FC236}">
                <a16:creationId xmlns:a16="http://schemas.microsoft.com/office/drawing/2014/main" id="{138FEED4-3700-4E13-BB16-66A99CC6BD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1" y="1462089"/>
            <a:ext cx="4352925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9D3210E7-ED94-41D3-A580-4892C80D7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5400" y="241336"/>
            <a:ext cx="7645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Avoidance Algorithms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03BE1552-DFDD-4C2D-ABAD-33391FB8DA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03586" y="1171575"/>
            <a:ext cx="8986345" cy="44831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Single instance of a resource type</a:t>
            </a:r>
          </a:p>
          <a:p>
            <a:pPr lvl="1"/>
            <a:r>
              <a:rPr lang="en-US" altLang="en-US" sz="3600" dirty="0"/>
              <a:t>Use a resource-allocation graph</a:t>
            </a:r>
          </a:p>
          <a:p>
            <a:pPr lvl="1">
              <a:buFont typeface="Monotype Sorts" pitchFamily="-84" charset="2"/>
              <a:buNone/>
            </a:pPr>
            <a:endParaRPr lang="en-US" altLang="en-US" sz="3600" dirty="0"/>
          </a:p>
          <a:p>
            <a:r>
              <a:rPr lang="en-US" altLang="en-US" sz="4000" dirty="0"/>
              <a:t>Multiple instances of a resource type</a:t>
            </a:r>
          </a:p>
          <a:p>
            <a:pPr lvl="1"/>
            <a:r>
              <a:rPr lang="en-US" altLang="en-US" sz="3600" dirty="0"/>
              <a:t> Use the Banker</a:t>
            </a:r>
            <a:r>
              <a:rPr lang="ja-JP" altLang="en-US" sz="3600" dirty="0"/>
              <a:t>’</a:t>
            </a:r>
            <a:r>
              <a:rPr lang="en-US" altLang="ja-JP" sz="3600" dirty="0"/>
              <a:t>s Algorithm</a:t>
            </a:r>
            <a:endParaRPr lang="en-US" alt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462E1847-7FBC-4E3E-907B-AD5F78E0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13852" y="598369"/>
            <a:ext cx="7831138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Resource-Allocation Graph Scheme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86FC01CE-3998-490A-BDE6-3A6213797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5932" y="1455245"/>
            <a:ext cx="10436772" cy="4483100"/>
          </a:xfrm>
        </p:spPr>
        <p:txBody>
          <a:bodyPr>
            <a:noAutofit/>
          </a:bodyPr>
          <a:lstStyle/>
          <a:p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Claim edge </a:t>
            </a:r>
            <a:r>
              <a:rPr lang="en-US" altLang="en-US" sz="3200" i="1" dirty="0"/>
              <a:t>P</a:t>
            </a:r>
            <a:r>
              <a:rPr lang="en-US" altLang="en-US" sz="3200" i="1" baseline="-25000" dirty="0"/>
              <a:t>i</a:t>
            </a:r>
            <a:r>
              <a:rPr lang="en-US" altLang="en-US" sz="3200" dirty="0"/>
              <a:t> </a:t>
            </a:r>
            <a:r>
              <a:rPr lang="en-US" altLang="en-US" sz="3200" dirty="0">
                <a:sym typeface="Symbol" panose="05050102010706020507" pitchFamily="18" charset="2"/>
              </a:rPr>
              <a:t> </a:t>
            </a:r>
            <a:r>
              <a:rPr lang="en-US" altLang="en-US" sz="3200" i="1" dirty="0" err="1">
                <a:sym typeface="Symbol" panose="05050102010706020507" pitchFamily="18" charset="2"/>
              </a:rPr>
              <a:t>R</a:t>
            </a:r>
            <a:r>
              <a:rPr lang="en-US" altLang="en-US" sz="3200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3200" dirty="0">
                <a:sym typeface="Symbol" panose="05050102010706020507" pitchFamily="18" charset="2"/>
              </a:rPr>
              <a:t> indicated that process </a:t>
            </a:r>
            <a:r>
              <a:rPr lang="en-US" altLang="en-US" sz="3200" i="1" dirty="0" err="1">
                <a:sym typeface="Symbol" panose="05050102010706020507" pitchFamily="18" charset="2"/>
              </a:rPr>
              <a:t>P</a:t>
            </a:r>
            <a:r>
              <a:rPr lang="en-US" altLang="en-US" sz="3200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3200" dirty="0">
                <a:sym typeface="Symbol" panose="05050102010706020507" pitchFamily="18" charset="2"/>
              </a:rPr>
              <a:t> may request resource </a:t>
            </a:r>
            <a:r>
              <a:rPr lang="en-US" altLang="en-US" sz="3200" i="1" dirty="0" err="1">
                <a:sym typeface="Symbol" panose="05050102010706020507" pitchFamily="18" charset="2"/>
              </a:rPr>
              <a:t>R</a:t>
            </a:r>
            <a:r>
              <a:rPr lang="en-US" altLang="en-US" sz="3200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3200" dirty="0">
                <a:sym typeface="Symbol" panose="05050102010706020507" pitchFamily="18" charset="2"/>
              </a:rPr>
              <a:t>; represented by a dashed line</a:t>
            </a:r>
          </a:p>
          <a:p>
            <a:r>
              <a:rPr lang="en-US" altLang="en-US" sz="3200" dirty="0">
                <a:sym typeface="Symbol" panose="05050102010706020507" pitchFamily="18" charset="2"/>
              </a:rPr>
              <a:t>Claim edge converts to request edge when a process requests a resource</a:t>
            </a:r>
          </a:p>
          <a:p>
            <a:r>
              <a:rPr lang="en-US" altLang="en-US" sz="3200" dirty="0">
                <a:sym typeface="Symbol" panose="05050102010706020507" pitchFamily="18" charset="2"/>
              </a:rPr>
              <a:t>Request edge converted to an assignment edge when the  resource is allocated to the process</a:t>
            </a:r>
          </a:p>
          <a:p>
            <a:r>
              <a:rPr lang="en-US" altLang="en-US" sz="3200" dirty="0">
                <a:sym typeface="Symbol" panose="05050102010706020507" pitchFamily="18" charset="2"/>
              </a:rPr>
              <a:t>When a resource is released by a process, assignment edge reconverts to a claim edge</a:t>
            </a:r>
          </a:p>
          <a:p>
            <a:r>
              <a:rPr lang="en-US" altLang="en-US" sz="3200" dirty="0">
                <a:sym typeface="Symbol" panose="05050102010706020507" pitchFamily="18" charset="2"/>
              </a:rPr>
              <a:t>Resources must be claimed </a:t>
            </a:r>
            <a:r>
              <a:rPr lang="en-US" altLang="en-US" sz="3200" i="1" dirty="0">
                <a:sym typeface="Symbol" panose="05050102010706020507" pitchFamily="18" charset="2"/>
              </a:rPr>
              <a:t>a priori</a:t>
            </a:r>
            <a:r>
              <a:rPr lang="en-US" altLang="en-US" sz="3200" dirty="0">
                <a:sym typeface="Symbol" panose="05050102010706020507" pitchFamily="18" charset="2"/>
              </a:rPr>
              <a:t> in the system</a:t>
            </a:r>
            <a:endParaRPr lang="en-US" altLang="en-US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169641F8-B5ED-4701-ADC4-AF8830265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88080" y="355636"/>
            <a:ext cx="8224837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Resource-Allocation Graph</a:t>
            </a:r>
          </a:p>
        </p:txBody>
      </p:sp>
      <p:pic>
        <p:nvPicPr>
          <p:cNvPr id="41986" name="Picture 1">
            <a:extLst>
              <a:ext uri="{FF2B5EF4-FFF2-40B4-BE49-F238E27FC236}">
                <a16:creationId xmlns:a16="http://schemas.microsoft.com/office/drawing/2014/main" id="{971D754B-5ADF-443C-9EFE-EC7015D91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078" y="1423697"/>
            <a:ext cx="3662363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FB73D6D1-D7A9-4A37-BC41-6815A8C70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1953" y="353656"/>
            <a:ext cx="8243887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Unsafe State In Resource-Allocation Graph</a:t>
            </a:r>
          </a:p>
        </p:txBody>
      </p:sp>
      <p:pic>
        <p:nvPicPr>
          <p:cNvPr id="44034" name="Picture 1">
            <a:extLst>
              <a:ext uri="{FF2B5EF4-FFF2-40B4-BE49-F238E27FC236}">
                <a16:creationId xmlns:a16="http://schemas.microsoft.com/office/drawing/2014/main" id="{F5B9B755-77BC-48DD-8A47-C57BD1123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6" y="1438276"/>
            <a:ext cx="39020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0FB8F846-16AC-4967-ACDC-17AEF923D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8179" y="234792"/>
            <a:ext cx="9015080" cy="57626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Resource-Allocation Graph Algorithm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0A7AE779-FF63-41A9-B5BD-D519561ABD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0524" y="1187451"/>
            <a:ext cx="8965003" cy="4303713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Suppose that process</a:t>
            </a:r>
            <a:r>
              <a:rPr lang="en-US" altLang="en-US" sz="3200" i="1" dirty="0"/>
              <a:t> P</a:t>
            </a:r>
            <a:r>
              <a:rPr lang="en-US" altLang="en-US" sz="3200" i="1" baseline="-25000" dirty="0"/>
              <a:t>i</a:t>
            </a:r>
            <a:r>
              <a:rPr lang="en-US" altLang="en-US" sz="3200" dirty="0"/>
              <a:t> requests a resource </a:t>
            </a:r>
            <a:r>
              <a:rPr lang="en-US" altLang="en-US" sz="3200" i="1" dirty="0" err="1">
                <a:sym typeface="Symbol" panose="05050102010706020507" pitchFamily="18" charset="2"/>
              </a:rPr>
              <a:t>R</a:t>
            </a:r>
            <a:r>
              <a:rPr lang="en-US" altLang="en-US" sz="3200" i="1" baseline="-25000" dirty="0" err="1">
                <a:sym typeface="Symbol" panose="05050102010706020507" pitchFamily="18" charset="2"/>
              </a:rPr>
              <a:t>j</a:t>
            </a:r>
            <a:endParaRPr lang="en-US" altLang="en-US" sz="3200" i="1" baseline="-25000" dirty="0">
              <a:sym typeface="Symbol" panose="05050102010706020507" pitchFamily="18" charset="2"/>
            </a:endParaRPr>
          </a:p>
          <a:p>
            <a:r>
              <a:rPr lang="en-US" altLang="en-US" sz="3200" dirty="0">
                <a:sym typeface="Symbol" panose="05050102010706020507" pitchFamily="18" charset="2"/>
              </a:rPr>
              <a:t>The request can be granted only if converting the request edge to an assignment edge does not result in the formation of a cycle in the resource allocation graph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29A3144D-3E55-44DD-99C2-5A81499214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238549"/>
            <a:ext cx="7772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Banker’s Algorithm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D051B137-35A8-4BCD-B97B-829EA95E26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30166" y="1128714"/>
            <a:ext cx="9159336" cy="4441825"/>
          </a:xfrm>
        </p:spPr>
        <p:txBody>
          <a:bodyPr>
            <a:noAutofit/>
          </a:bodyPr>
          <a:lstStyle/>
          <a:p>
            <a:r>
              <a:rPr lang="en-US" altLang="en-US" sz="3600" dirty="0"/>
              <a:t>Multiple instances of resources</a:t>
            </a:r>
          </a:p>
          <a:p>
            <a:endParaRPr lang="en-US" altLang="en-US" sz="3600" dirty="0"/>
          </a:p>
          <a:p>
            <a:r>
              <a:rPr lang="en-US" altLang="en-US" sz="3600" dirty="0"/>
              <a:t>Each process must a priori claim maximum use</a:t>
            </a:r>
          </a:p>
          <a:p>
            <a:br>
              <a:rPr lang="en-US" altLang="en-US" sz="3600" dirty="0"/>
            </a:br>
            <a:r>
              <a:rPr lang="en-US" altLang="en-US" sz="3600" dirty="0"/>
              <a:t>When a process requests a resource it may have to wait  </a:t>
            </a:r>
          </a:p>
          <a:p>
            <a:br>
              <a:rPr lang="en-US" altLang="en-US" sz="3600" dirty="0"/>
            </a:br>
            <a:r>
              <a:rPr lang="en-US" altLang="en-US" sz="3600" dirty="0"/>
              <a:t>When a process gets all its resources it must return them in a finite amount of time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87FA0DF4-BE04-4A21-8DF8-1258C2593E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88237" y="383009"/>
            <a:ext cx="7586662" cy="431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dirty="0"/>
              <a:t>Data Structures for the Banker</a:t>
            </a:r>
            <a:r>
              <a:rPr lang="ja-JP" altLang="en-US" sz="2800" dirty="0"/>
              <a:t>’</a:t>
            </a:r>
            <a:r>
              <a:rPr lang="en-US" altLang="ja-JP" sz="2800" dirty="0"/>
              <a:t>s Algorithm </a:t>
            </a:r>
            <a:endParaRPr lang="en-US" altLang="en-US" sz="2800" dirty="0"/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9D3FB76A-D010-4081-9D81-A9865380F0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4854" y="1654175"/>
            <a:ext cx="11083159" cy="4793922"/>
          </a:xfrm>
        </p:spPr>
        <p:txBody>
          <a:bodyPr>
            <a:normAutofit/>
          </a:bodyPr>
          <a:lstStyle/>
          <a:p>
            <a:r>
              <a:rPr lang="en-US" altLang="en-US" b="1" dirty="0"/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Vector of length </a:t>
            </a:r>
            <a:r>
              <a:rPr lang="en-US" altLang="en-US" i="1" dirty="0"/>
              <a:t>m</a:t>
            </a:r>
            <a:r>
              <a:rPr lang="en-US" altLang="en-US" dirty="0"/>
              <a:t>. If available [</a:t>
            </a:r>
            <a:r>
              <a:rPr lang="en-US" altLang="en-US" i="1" dirty="0"/>
              <a:t>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there are</a:t>
            </a:r>
            <a:r>
              <a:rPr lang="en-US" altLang="en-US" i="1" dirty="0"/>
              <a:t> k</a:t>
            </a:r>
            <a:r>
              <a:rPr lang="en-US" altLang="en-US" dirty="0"/>
              <a:t> 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 </a:t>
            </a:r>
            <a:r>
              <a:rPr lang="en-US" altLang="en-US" dirty="0"/>
              <a:t>available</a:t>
            </a:r>
          </a:p>
          <a:p>
            <a:endParaRPr lang="en-US" altLang="en-US" sz="8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Max</a:t>
            </a:r>
            <a:r>
              <a:rPr lang="en-US" altLang="en-US" i="1" dirty="0"/>
              <a:t>: n x m</a:t>
            </a:r>
            <a:r>
              <a:rPr lang="en-US" altLang="en-US" dirty="0"/>
              <a:t> matrix.  If </a:t>
            </a:r>
            <a:r>
              <a:rPr lang="en-US" altLang="en-US" i="1" dirty="0"/>
              <a:t>Max 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then process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may request at most</a:t>
            </a:r>
            <a:r>
              <a:rPr lang="en-US" altLang="en-US" i="1" dirty="0"/>
              <a:t> k </a:t>
            </a:r>
            <a:r>
              <a:rPr lang="en-US" altLang="en-US" dirty="0"/>
              <a:t>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endParaRPr lang="en-US" altLang="en-US" sz="800" i="1" baseline="-250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 If Allocation[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 then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is currently allocated </a:t>
            </a:r>
            <a:r>
              <a:rPr lang="en-US" altLang="en-US" i="1" dirty="0"/>
              <a:t>k</a:t>
            </a:r>
            <a:r>
              <a:rPr lang="en-US" altLang="en-US" dirty="0"/>
              <a:t>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endParaRPr lang="en-US" altLang="en-US" sz="800" i="1" baseline="-250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Need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If </a:t>
            </a:r>
            <a:r>
              <a:rPr lang="en-US" altLang="en-US" i="1" dirty="0"/>
              <a:t>Need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</a:t>
            </a:r>
            <a:r>
              <a:rPr lang="en-US" altLang="en-US" i="1" dirty="0"/>
              <a:t> k</a:t>
            </a:r>
            <a:r>
              <a:rPr lang="en-US" altLang="en-US" dirty="0"/>
              <a:t>, then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may need </a:t>
            </a:r>
            <a:r>
              <a:rPr lang="en-US" altLang="en-US" i="1" dirty="0"/>
              <a:t>k</a:t>
            </a:r>
            <a:r>
              <a:rPr lang="en-US" altLang="en-US" dirty="0"/>
              <a:t> more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</a:t>
            </a:r>
            <a:r>
              <a:rPr lang="en-US" altLang="en-US" dirty="0"/>
              <a:t>to complete its task</a:t>
            </a:r>
          </a:p>
          <a:p>
            <a:pPr lvl="2" algn="ctr">
              <a:buFont typeface="Webdings" panose="05030102010509060703" pitchFamily="18" charset="2"/>
              <a:buNone/>
            </a:pPr>
            <a:br>
              <a:rPr lang="en-US" altLang="en-US" dirty="0"/>
            </a:br>
            <a:r>
              <a:rPr lang="en-US" altLang="en-US" sz="4000" i="1" dirty="0">
                <a:solidFill>
                  <a:srgbClr val="0070C0"/>
                </a:solidFill>
              </a:rPr>
              <a:t>Need</a:t>
            </a:r>
            <a:r>
              <a:rPr lang="en-US" altLang="en-US" sz="4000" dirty="0">
                <a:solidFill>
                  <a:srgbClr val="0070C0"/>
                </a:solidFill>
              </a:rPr>
              <a:t> [</a:t>
            </a:r>
            <a:r>
              <a:rPr lang="en-US" altLang="en-US" sz="4000" i="1" dirty="0" err="1">
                <a:solidFill>
                  <a:srgbClr val="0070C0"/>
                </a:solidFill>
              </a:rPr>
              <a:t>i,j</a:t>
            </a:r>
            <a:r>
              <a:rPr lang="en-US" altLang="en-US" sz="4000" i="1" dirty="0">
                <a:solidFill>
                  <a:srgbClr val="0070C0"/>
                </a:solidFill>
              </a:rPr>
              <a:t>]</a:t>
            </a:r>
            <a:r>
              <a:rPr lang="en-US" altLang="en-US" sz="4000" dirty="0">
                <a:solidFill>
                  <a:srgbClr val="0070C0"/>
                </a:solidFill>
              </a:rPr>
              <a:t> = </a:t>
            </a:r>
            <a:r>
              <a:rPr lang="en-US" altLang="en-US" sz="4000" i="1" dirty="0">
                <a:solidFill>
                  <a:srgbClr val="0070C0"/>
                </a:solidFill>
              </a:rPr>
              <a:t>Max</a:t>
            </a:r>
            <a:r>
              <a:rPr lang="en-US" altLang="en-US" sz="4000" dirty="0">
                <a:solidFill>
                  <a:srgbClr val="0070C0"/>
                </a:solidFill>
              </a:rPr>
              <a:t>[</a:t>
            </a:r>
            <a:r>
              <a:rPr lang="en-US" altLang="en-US" sz="4000" i="1" dirty="0" err="1">
                <a:solidFill>
                  <a:srgbClr val="0070C0"/>
                </a:solidFill>
              </a:rPr>
              <a:t>i,j</a:t>
            </a:r>
            <a:r>
              <a:rPr lang="en-US" altLang="en-US" sz="4000" dirty="0">
                <a:solidFill>
                  <a:srgbClr val="0070C0"/>
                </a:solidFill>
              </a:rPr>
              <a:t>] – </a:t>
            </a:r>
            <a:r>
              <a:rPr lang="en-US" altLang="en-US" sz="4000" i="1" dirty="0">
                <a:solidFill>
                  <a:srgbClr val="0070C0"/>
                </a:solidFill>
              </a:rPr>
              <a:t>Allocation</a:t>
            </a:r>
            <a:r>
              <a:rPr lang="en-US" altLang="en-US" sz="4000" dirty="0">
                <a:solidFill>
                  <a:srgbClr val="0070C0"/>
                </a:solidFill>
              </a:rPr>
              <a:t> [</a:t>
            </a:r>
            <a:r>
              <a:rPr lang="en-US" altLang="en-US" sz="4000" i="1" dirty="0" err="1">
                <a:solidFill>
                  <a:srgbClr val="0070C0"/>
                </a:solidFill>
              </a:rPr>
              <a:t>i,j</a:t>
            </a:r>
            <a:r>
              <a:rPr lang="en-US" altLang="en-US" sz="4000" dirty="0">
                <a:solidFill>
                  <a:srgbClr val="0070C0"/>
                </a:solidFill>
              </a:rPr>
              <a:t>]</a:t>
            </a:r>
            <a:endParaRPr lang="en-US" altLang="en-US" dirty="0">
              <a:solidFill>
                <a:srgbClr val="0070C0"/>
              </a:solidFill>
            </a:endParaRPr>
          </a:p>
        </p:txBody>
      </p:sp>
      <p:sp>
        <p:nvSpPr>
          <p:cNvPr id="50179" name="Text Box 4">
            <a:extLst>
              <a:ext uri="{FF2B5EF4-FFF2-40B4-BE49-F238E27FC236}">
                <a16:creationId xmlns:a16="http://schemas.microsoft.com/office/drawing/2014/main" id="{AE86C5C3-E474-4D7C-8E73-3297B5AF2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559" y="1002700"/>
            <a:ext cx="8914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Let </a:t>
            </a:r>
            <a:r>
              <a:rPr kumimoji="0" lang="en-US" altLang="en-US" i="1" dirty="0"/>
              <a:t>n</a:t>
            </a:r>
            <a:r>
              <a:rPr kumimoji="0" lang="en-US" altLang="en-US" dirty="0"/>
              <a:t> = number of processes, and </a:t>
            </a:r>
            <a:r>
              <a:rPr kumimoji="0" lang="en-US" altLang="en-US" i="1" dirty="0"/>
              <a:t>m </a:t>
            </a:r>
            <a:r>
              <a:rPr kumimoji="0" lang="en-US" altLang="en-US" dirty="0"/>
              <a:t>= number of resources types.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2790C097-F637-4E56-9DE9-9732B5BC1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2005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Safety Algorithm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3636911B-2CB1-426E-842A-DA9B080064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87366" y="1157289"/>
            <a:ext cx="8394809" cy="4943475"/>
          </a:xfrm>
        </p:spPr>
        <p:txBody>
          <a:bodyPr>
            <a:norm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altLang="en-US" dirty="0"/>
              <a:t>Let </a:t>
            </a:r>
            <a:r>
              <a:rPr lang="en-US" altLang="en-US" b="1" i="1" dirty="0">
                <a:solidFill>
                  <a:srgbClr val="000000"/>
                </a:solidFill>
              </a:rPr>
              <a:t>Work</a:t>
            </a:r>
            <a:r>
              <a:rPr lang="en-US" altLang="en-US" i="1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i="1" dirty="0">
                <a:solidFill>
                  <a:srgbClr val="000000"/>
                </a:solidFill>
              </a:rPr>
              <a:t>Finish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be vectors of length</a:t>
            </a:r>
            <a:r>
              <a:rPr lang="en-US" altLang="en-US" i="1" dirty="0"/>
              <a:t> m</a:t>
            </a:r>
            <a:r>
              <a:rPr lang="en-US" altLang="en-US" dirty="0"/>
              <a:t> and</a:t>
            </a:r>
            <a:r>
              <a:rPr lang="en-US" altLang="en-US" i="1" dirty="0"/>
              <a:t> n</a:t>
            </a:r>
            <a:r>
              <a:rPr lang="en-US" altLang="en-US" dirty="0"/>
              <a:t>, respectively.  Initialize:</a:t>
            </a:r>
          </a:p>
          <a:p>
            <a:pPr marL="1543050" lvl="3" indent="-342900" algn="l">
              <a:buNone/>
            </a:pPr>
            <a:r>
              <a:rPr lang="en-US" altLang="en-US" b="1" i="1" dirty="0"/>
              <a:t>Work </a:t>
            </a:r>
            <a:r>
              <a:rPr lang="en-US" altLang="en-US" b="1" dirty="0"/>
              <a:t>= </a:t>
            </a:r>
            <a:r>
              <a:rPr lang="en-US" altLang="en-US" b="1" i="1" dirty="0"/>
              <a:t>Available</a:t>
            </a:r>
          </a:p>
          <a:p>
            <a:pPr marL="1543050" lvl="3" indent="-342900" algn="l">
              <a:buNone/>
            </a:pPr>
            <a:r>
              <a:rPr lang="en-US" altLang="en-US" b="1" i="1" dirty="0"/>
              <a:t>Finish 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false </a:t>
            </a:r>
            <a:r>
              <a:rPr lang="en-US" altLang="en-US" b="1" dirty="0"/>
              <a:t>for</a:t>
            </a:r>
            <a:r>
              <a:rPr lang="en-US" altLang="en-US" b="1" i="1" dirty="0"/>
              <a:t> i</a:t>
            </a:r>
            <a:r>
              <a:rPr lang="en-US" altLang="en-US" b="1" dirty="0"/>
              <a:t> = 0, 1, …, </a:t>
            </a:r>
            <a:r>
              <a:rPr lang="en-US" altLang="en-US" b="1" i="1" dirty="0"/>
              <a:t>n- </a:t>
            </a:r>
            <a:r>
              <a:rPr lang="en-US" altLang="en-US" b="1" dirty="0"/>
              <a:t>1</a:t>
            </a:r>
          </a:p>
          <a:p>
            <a:pPr marL="1543050" lvl="3" indent="-342900" algn="l">
              <a:buNone/>
            </a:pPr>
            <a:endParaRPr lang="en-US" altLang="en-US" sz="800" dirty="0"/>
          </a:p>
          <a:p>
            <a:pPr marL="342900" indent="-342900" algn="l">
              <a:buFont typeface="+mj-lt"/>
              <a:buAutoNum type="arabicPeriod"/>
            </a:pPr>
            <a:r>
              <a:rPr lang="en-US" altLang="en-US" dirty="0"/>
              <a:t>Find an </a:t>
            </a:r>
            <a:r>
              <a:rPr lang="en-US" altLang="en-US" b="1" i="1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 </a:t>
            </a:r>
          </a:p>
          <a:p>
            <a:pPr marL="800100" lvl="1" indent="-342900" algn="l">
              <a:buNone/>
            </a:pPr>
            <a:r>
              <a:rPr lang="en-US" altLang="en-US" dirty="0"/>
              <a:t>  (a)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00100" lvl="1" indent="-342900" algn="l">
              <a:buNone/>
            </a:pPr>
            <a:r>
              <a:rPr lang="en-US" altLang="en-US" dirty="0"/>
              <a:t>  (b) </a:t>
            </a:r>
            <a:r>
              <a:rPr lang="en-US" altLang="en-US" b="1" i="1" dirty="0" err="1"/>
              <a:t>Need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Work</a:t>
            </a:r>
          </a:p>
          <a:p>
            <a:pPr marL="800100" lvl="1" indent="-342900" algn="l">
              <a:buNone/>
            </a:pPr>
            <a:r>
              <a:rPr lang="en-US" altLang="en-US" dirty="0">
                <a:sym typeface="Symbol" panose="05050102010706020507" pitchFamily="18" charset="2"/>
              </a:rPr>
              <a:t>   If no such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b="1" i="1" dirty="0">
                <a:sym typeface="Symbol" panose="05050102010706020507" pitchFamily="18" charset="2"/>
              </a:rPr>
              <a:t>i </a:t>
            </a:r>
            <a:r>
              <a:rPr lang="en-US" altLang="en-US" dirty="0">
                <a:sym typeface="Symbol" panose="05050102010706020507" pitchFamily="18" charset="2"/>
              </a:rPr>
              <a:t>exists, go to step 4</a:t>
            </a:r>
          </a:p>
          <a:p>
            <a:pPr marL="800100" lvl="1" indent="-342900" algn="l">
              <a:buNone/>
            </a:pPr>
            <a:endParaRPr lang="en-US" altLang="en-US" sz="800" dirty="0">
              <a:sym typeface="Symbol" panose="05050102010706020507" pitchFamily="18" charset="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en-US" dirty="0"/>
              <a:t>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 </a:t>
            </a:r>
            <a:r>
              <a:rPr lang="en-US" altLang="en-US" b="1" dirty="0"/>
              <a:t>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dirty="0"/>
              <a:t> 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true</a:t>
            </a:r>
            <a:br>
              <a:rPr lang="en-US" altLang="en-US" b="1" dirty="0"/>
            </a:br>
            <a:r>
              <a:rPr lang="en-US" altLang="en-US" b="1" dirty="0"/>
              <a:t>  </a:t>
            </a:r>
            <a:r>
              <a:rPr lang="en-US" altLang="en-US" dirty="0"/>
              <a:t>go to step 2</a:t>
            </a:r>
          </a:p>
          <a:p>
            <a:pPr marL="342900" indent="-342900" algn="l">
              <a:buFont typeface="+mj-lt"/>
              <a:buAutoNum type="arabicPeriod"/>
            </a:pPr>
            <a:endParaRPr lang="en-US" altLang="en-US" sz="700" dirty="0"/>
          </a:p>
          <a:p>
            <a:pPr marL="342900" indent="-342900" algn="l">
              <a:buFont typeface="+mj-lt"/>
              <a:buAutoNum type="arabicPeriod"/>
            </a:pPr>
            <a:r>
              <a:rPr lang="en-US" altLang="en-US" dirty="0"/>
              <a:t>If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true</a:t>
            </a:r>
            <a:r>
              <a:rPr lang="en-US" altLang="en-US" b="1" dirty="0"/>
              <a:t>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r>
              <a:rPr lang="en-US" altLang="en-US" dirty="0"/>
              <a:t>, then the system is in a safe state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AD555E4E-D656-4473-9631-EC334BFD82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23951" y="353078"/>
            <a:ext cx="792480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Resource-Request Algorithm for Process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endParaRPr lang="en-US" altLang="en-US" sz="2800" dirty="0"/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778FADBB-9076-4FBD-93D9-F75ADC967E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4041" y="1114424"/>
            <a:ext cx="10610193" cy="5302142"/>
          </a:xfrm>
        </p:spPr>
        <p:txBody>
          <a:bodyPr>
            <a:noAutofit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sz="2800" b="1" i="1" dirty="0"/>
              <a:t>     </a:t>
            </a:r>
            <a:r>
              <a:rPr lang="en-US" altLang="en-US" sz="2800" b="1" i="1" dirty="0" err="1"/>
              <a:t>Request</a:t>
            </a:r>
            <a:r>
              <a:rPr lang="en-US" altLang="en-US" sz="2800" b="1" i="1" baseline="-25000" dirty="0" err="1"/>
              <a:t>i</a:t>
            </a:r>
            <a:r>
              <a:rPr lang="en-US" altLang="en-US" sz="2800" dirty="0"/>
              <a:t> = request vector for process </a:t>
            </a:r>
            <a:r>
              <a:rPr lang="en-US" altLang="en-US" sz="2800" b="1" i="1" dirty="0"/>
              <a:t>P</a:t>
            </a:r>
            <a:r>
              <a:rPr lang="en-US" altLang="en-US" sz="2800" b="1" i="1" baseline="-25000" dirty="0"/>
              <a:t>i</a:t>
            </a:r>
            <a:r>
              <a:rPr lang="en-US" altLang="en-US" sz="2800" dirty="0"/>
              <a:t>.  If </a:t>
            </a:r>
            <a:r>
              <a:rPr lang="en-US" altLang="en-US" sz="2800" b="1" i="1" dirty="0" err="1"/>
              <a:t>Request</a:t>
            </a:r>
            <a:r>
              <a:rPr lang="en-US" altLang="en-US" sz="2800" b="1" i="1" baseline="-25000" dirty="0" err="1"/>
              <a:t>i</a:t>
            </a:r>
            <a:r>
              <a:rPr lang="en-US" altLang="en-US" sz="2800" b="1" baseline="-25000" dirty="0"/>
              <a:t> </a:t>
            </a:r>
            <a:r>
              <a:rPr lang="en-US" altLang="en-US" sz="2800" b="1" dirty="0"/>
              <a:t>[</a:t>
            </a:r>
            <a:r>
              <a:rPr lang="en-US" altLang="en-US" sz="2800" b="1" i="1" dirty="0"/>
              <a:t>j</a:t>
            </a:r>
            <a:r>
              <a:rPr lang="en-US" altLang="en-US" sz="2800" b="1" dirty="0"/>
              <a:t>] = </a:t>
            </a:r>
            <a:r>
              <a:rPr lang="en-US" altLang="en-US" sz="2800" b="1" i="1" dirty="0"/>
              <a:t>k</a:t>
            </a:r>
            <a:r>
              <a:rPr lang="en-US" altLang="en-US" sz="2800" b="1" dirty="0"/>
              <a:t> </a:t>
            </a:r>
            <a:r>
              <a:rPr lang="en-US" altLang="en-US" sz="2800" dirty="0"/>
              <a:t>then process     </a:t>
            </a:r>
          </a:p>
          <a:p>
            <a:pPr marL="441325" indent="-441325">
              <a:buFont typeface="Monotype Sorts" pitchFamily="-84" charset="2"/>
              <a:buNone/>
            </a:pPr>
            <a:r>
              <a:rPr lang="en-US" altLang="en-US" sz="2800" b="1" i="1" dirty="0"/>
              <a:t>P</a:t>
            </a:r>
            <a:r>
              <a:rPr lang="en-US" altLang="en-US" sz="2800" b="1" i="1" baseline="-25000" dirty="0"/>
              <a:t>i</a:t>
            </a:r>
            <a:r>
              <a:rPr lang="en-US" altLang="en-US" sz="2800" dirty="0"/>
              <a:t> wants </a:t>
            </a:r>
            <a:r>
              <a:rPr lang="en-US" altLang="en-US" sz="2800" b="1" i="1" dirty="0"/>
              <a:t>k</a:t>
            </a:r>
            <a:r>
              <a:rPr lang="en-US" altLang="en-US" sz="2800" dirty="0"/>
              <a:t> instances of resource type </a:t>
            </a:r>
            <a:r>
              <a:rPr lang="en-US" altLang="en-US" sz="2800" b="1" i="1" dirty="0" err="1"/>
              <a:t>R</a:t>
            </a:r>
            <a:r>
              <a:rPr lang="en-US" altLang="en-US" sz="2800" b="1" i="1" baseline="-25000" dirty="0" err="1"/>
              <a:t>j</a:t>
            </a:r>
            <a:endParaRPr lang="en-US" altLang="en-US" sz="2800" b="1" baseline="-250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en-US" sz="2400" dirty="0"/>
              <a:t>If </a:t>
            </a:r>
            <a:r>
              <a:rPr lang="en-US" altLang="en-US" sz="2400" b="1" i="1" dirty="0" err="1"/>
              <a:t>Request</a:t>
            </a:r>
            <a:r>
              <a:rPr lang="en-US" altLang="en-US" sz="2400" b="1" i="1" baseline="-25000" dirty="0" err="1"/>
              <a:t>i</a:t>
            </a:r>
            <a:r>
              <a:rPr lang="en-US" altLang="en-US" sz="2400" b="1" i="1" dirty="0"/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 </a:t>
            </a:r>
            <a:r>
              <a:rPr lang="en-US" altLang="en-US" sz="2400" b="1" i="1" dirty="0" err="1">
                <a:sym typeface="Symbol" panose="05050102010706020507" pitchFamily="18" charset="2"/>
              </a:rPr>
              <a:t>Need</a:t>
            </a:r>
            <a:r>
              <a:rPr lang="en-US" altLang="en-US" sz="24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400" b="1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go to step 2.  Otherwise, raise error condition, since process has exceeded its maximum claim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sz="2400" dirty="0">
                <a:sym typeface="Symbol" panose="05050102010706020507" pitchFamily="18" charset="2"/>
              </a:rPr>
              <a:t>If </a:t>
            </a:r>
            <a:r>
              <a:rPr lang="en-US" altLang="en-US" sz="2400" b="1" i="1" dirty="0" err="1"/>
              <a:t>Request</a:t>
            </a:r>
            <a:r>
              <a:rPr lang="en-US" altLang="en-US" sz="2400" b="1" i="1" baseline="-25000" dirty="0" err="1"/>
              <a:t>i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 </a:t>
            </a:r>
            <a:r>
              <a:rPr lang="en-US" altLang="en-US" sz="2400" b="1" i="1" dirty="0">
                <a:sym typeface="Symbol" panose="05050102010706020507" pitchFamily="18" charset="2"/>
              </a:rPr>
              <a:t>Available</a:t>
            </a:r>
            <a:r>
              <a:rPr lang="en-US" altLang="en-US" sz="2400" dirty="0">
                <a:sym typeface="Symbol" panose="05050102010706020507" pitchFamily="18" charset="2"/>
              </a:rPr>
              <a:t>, go to step 3.  Otherwise </a:t>
            </a:r>
            <a:r>
              <a:rPr lang="en-US" altLang="en-US" sz="2400" b="1" i="1" dirty="0">
                <a:sym typeface="Symbol" panose="05050102010706020507" pitchFamily="18" charset="2"/>
              </a:rPr>
              <a:t>P</a:t>
            </a:r>
            <a:r>
              <a:rPr lang="en-US" altLang="en-US" sz="2400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  must wait, since resources are not available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en-US" sz="2400" dirty="0">
                <a:sym typeface="Symbol" panose="05050102010706020507" pitchFamily="18" charset="2"/>
              </a:rPr>
              <a:t>Pretend to allocate requested resources to </a:t>
            </a:r>
            <a:r>
              <a:rPr lang="en-US" altLang="en-US" sz="2400" b="1" i="1" dirty="0">
                <a:sym typeface="Symbol" panose="05050102010706020507" pitchFamily="18" charset="2"/>
              </a:rPr>
              <a:t>P</a:t>
            </a:r>
            <a:r>
              <a:rPr lang="en-US" altLang="en-US" sz="2400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 by modifying the state as follows:</a:t>
            </a:r>
          </a:p>
          <a:p>
            <a:pPr lvl="3">
              <a:buFontTx/>
              <a:buNone/>
            </a:pPr>
            <a:r>
              <a:rPr lang="en-US" altLang="en-US" sz="1800" dirty="0">
                <a:sym typeface="Symbol" panose="05050102010706020507" pitchFamily="18" charset="2"/>
              </a:rPr>
              <a:t>		</a:t>
            </a:r>
            <a:r>
              <a:rPr lang="en-US" altLang="en-US" sz="1800" b="1" i="1" dirty="0">
                <a:sym typeface="Symbol" panose="05050102010706020507" pitchFamily="18" charset="2"/>
              </a:rPr>
              <a:t>Available</a:t>
            </a:r>
            <a:r>
              <a:rPr lang="en-US" altLang="en-US" sz="1800" b="1" dirty="0">
                <a:sym typeface="Symbol" panose="05050102010706020507" pitchFamily="18" charset="2"/>
              </a:rPr>
              <a:t> = </a:t>
            </a:r>
            <a:r>
              <a:rPr lang="en-US" altLang="en-US" sz="1800" b="1" i="1" dirty="0">
                <a:sym typeface="Symbol" panose="05050102010706020507" pitchFamily="18" charset="2"/>
              </a:rPr>
              <a:t>Available  </a:t>
            </a:r>
            <a:r>
              <a:rPr lang="en-US" altLang="en-US" sz="1800" b="1" dirty="0">
                <a:sym typeface="Symbol" panose="05050102010706020507" pitchFamily="18" charset="2"/>
              </a:rPr>
              <a:t>–</a:t>
            </a:r>
            <a:r>
              <a:rPr lang="en-US" altLang="en-US" sz="1800" b="1" i="1" dirty="0">
                <a:sym typeface="Symbol" panose="05050102010706020507" pitchFamily="18" charset="2"/>
              </a:rPr>
              <a:t> </a:t>
            </a:r>
            <a:r>
              <a:rPr lang="en-US" altLang="en-US" sz="1800" b="1" i="1" dirty="0" err="1">
                <a:sym typeface="Symbol" panose="05050102010706020507" pitchFamily="18" charset="2"/>
              </a:rPr>
              <a:t>Request</a:t>
            </a:r>
            <a:r>
              <a:rPr lang="en-US" altLang="en-US" sz="18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800" b="1" i="1" dirty="0">
                <a:sym typeface="Symbol" panose="05050102010706020507" pitchFamily="18" charset="2"/>
              </a:rPr>
              <a:t>;</a:t>
            </a:r>
          </a:p>
          <a:p>
            <a:pPr lvl="3">
              <a:buFontTx/>
              <a:buNone/>
            </a:pPr>
            <a:r>
              <a:rPr lang="en-US" altLang="en-US" sz="1800" b="1" dirty="0">
                <a:sym typeface="Symbol" panose="05050102010706020507" pitchFamily="18" charset="2"/>
              </a:rPr>
              <a:t>		</a:t>
            </a:r>
            <a:r>
              <a:rPr lang="en-US" altLang="en-US" sz="1800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sz="18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800" b="1" baseline="-25000" dirty="0">
                <a:sym typeface="Symbol" panose="05050102010706020507" pitchFamily="18" charset="2"/>
              </a:rPr>
              <a:t> </a:t>
            </a:r>
            <a:r>
              <a:rPr lang="en-US" altLang="en-US" sz="1800" b="1" dirty="0">
                <a:sym typeface="Symbol" panose="05050102010706020507" pitchFamily="18" charset="2"/>
              </a:rPr>
              <a:t>= </a:t>
            </a:r>
            <a:r>
              <a:rPr lang="en-US" altLang="en-US" sz="1800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sz="18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800" b="1" dirty="0">
                <a:sym typeface="Symbol" panose="05050102010706020507" pitchFamily="18" charset="2"/>
              </a:rPr>
              <a:t> + </a:t>
            </a:r>
            <a:r>
              <a:rPr lang="en-US" altLang="en-US" sz="1800" b="1" i="1" dirty="0" err="1">
                <a:sym typeface="Symbol" panose="05050102010706020507" pitchFamily="18" charset="2"/>
              </a:rPr>
              <a:t>Request</a:t>
            </a:r>
            <a:r>
              <a:rPr lang="en-US" altLang="en-US" sz="18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800" b="1" dirty="0">
                <a:sym typeface="Symbol" panose="05050102010706020507" pitchFamily="18" charset="2"/>
              </a:rPr>
              <a:t>;</a:t>
            </a:r>
          </a:p>
          <a:p>
            <a:pPr lvl="3">
              <a:buFontTx/>
              <a:buNone/>
            </a:pPr>
            <a:r>
              <a:rPr lang="en-US" altLang="en-US" sz="1800" b="1" dirty="0">
                <a:sym typeface="Symbol" panose="05050102010706020507" pitchFamily="18" charset="2"/>
              </a:rPr>
              <a:t>		</a:t>
            </a:r>
            <a:r>
              <a:rPr lang="en-US" altLang="en-US" sz="1800" b="1" i="1" dirty="0" err="1">
                <a:sym typeface="Symbol" panose="05050102010706020507" pitchFamily="18" charset="2"/>
              </a:rPr>
              <a:t>Need</a:t>
            </a:r>
            <a:r>
              <a:rPr lang="en-US" altLang="en-US" sz="18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800" b="1" i="1" dirty="0">
                <a:sym typeface="Symbol" panose="05050102010706020507" pitchFamily="18" charset="2"/>
              </a:rPr>
              <a:t> </a:t>
            </a:r>
            <a:r>
              <a:rPr lang="en-US" altLang="en-US" sz="1800" b="1" dirty="0">
                <a:sym typeface="Symbol" panose="05050102010706020507" pitchFamily="18" charset="2"/>
              </a:rPr>
              <a:t>=</a:t>
            </a:r>
            <a:r>
              <a:rPr lang="en-US" altLang="en-US" sz="1800" b="1" i="1" dirty="0">
                <a:sym typeface="Symbol" panose="05050102010706020507" pitchFamily="18" charset="2"/>
              </a:rPr>
              <a:t> </a:t>
            </a:r>
            <a:r>
              <a:rPr lang="en-US" altLang="en-US" sz="1800" b="1" i="1" dirty="0" err="1">
                <a:sym typeface="Symbol" panose="05050102010706020507" pitchFamily="18" charset="2"/>
              </a:rPr>
              <a:t>Need</a:t>
            </a:r>
            <a:r>
              <a:rPr lang="en-US" altLang="en-US" sz="18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800" b="1" dirty="0">
                <a:sym typeface="Symbol" panose="05050102010706020507" pitchFamily="18" charset="2"/>
              </a:rPr>
              <a:t> – </a:t>
            </a:r>
            <a:r>
              <a:rPr lang="en-US" altLang="en-US" sz="1800" b="1" i="1" dirty="0" err="1">
                <a:sym typeface="Symbol" panose="05050102010706020507" pitchFamily="18" charset="2"/>
              </a:rPr>
              <a:t>Request</a:t>
            </a:r>
            <a:r>
              <a:rPr lang="en-US" altLang="en-US" sz="1800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800" b="1" i="1" dirty="0">
                <a:sym typeface="Symbol" panose="05050102010706020507" pitchFamily="18" charset="2"/>
              </a:rPr>
              <a:t>;</a:t>
            </a:r>
          </a:p>
          <a:p>
            <a:pPr lvl="2"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1800" dirty="0">
                <a:sym typeface="Symbol" panose="05050102010706020507" pitchFamily="18" charset="2"/>
              </a:rPr>
              <a:t>If safe  the resources are allocated to </a:t>
            </a:r>
            <a:r>
              <a:rPr lang="en-US" altLang="en-US" sz="1800" b="1" i="1" dirty="0">
                <a:sym typeface="Symbol" panose="05050102010706020507" pitchFamily="18" charset="2"/>
              </a:rPr>
              <a:t>P</a:t>
            </a:r>
            <a:r>
              <a:rPr lang="en-US" altLang="en-US" sz="1800" b="1" i="1" baseline="-25000" dirty="0">
                <a:sym typeface="Symbol" panose="05050102010706020507" pitchFamily="18" charset="2"/>
              </a:rPr>
              <a:t>i</a:t>
            </a:r>
          </a:p>
          <a:p>
            <a:pPr lvl="2"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altLang="en-US" sz="1800" dirty="0">
                <a:sym typeface="Symbol" panose="05050102010706020507" pitchFamily="18" charset="2"/>
              </a:rPr>
              <a:t>If unsafe  </a:t>
            </a:r>
            <a:r>
              <a:rPr lang="en-US" altLang="en-US" sz="1800" b="1" i="1" dirty="0">
                <a:sym typeface="Symbol" panose="05050102010706020507" pitchFamily="18" charset="2"/>
              </a:rPr>
              <a:t>P</a:t>
            </a:r>
            <a:r>
              <a:rPr lang="en-US" altLang="en-US" sz="1800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1800" dirty="0">
                <a:sym typeface="Symbol" panose="05050102010706020507" pitchFamily="18" charset="2"/>
              </a:rPr>
              <a:t> must wait, and the old resource-allocation state is restored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C18387C4-9D5B-4D54-8084-FE05B91CCC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6350" y="236380"/>
            <a:ext cx="766445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of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F9D491DD-A38E-475F-8906-6128AD1F38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3228" y="1360487"/>
            <a:ext cx="9306472" cy="5071843"/>
          </a:xfrm>
        </p:spPr>
        <p:txBody>
          <a:bodyPr>
            <a:normAutofit lnSpcReduction="10000"/>
          </a:bodyPr>
          <a:lstStyle/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5 processes </a:t>
            </a:r>
            <a:r>
              <a:rPr lang="en-US" altLang="en-US" i="1" dirty="0"/>
              <a:t>P</a:t>
            </a:r>
            <a:r>
              <a:rPr lang="en-US" altLang="en-US" baseline="-25000" dirty="0"/>
              <a:t>0  </a:t>
            </a:r>
            <a:r>
              <a:rPr lang="en-US" altLang="en-US" dirty="0"/>
              <a:t>through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; 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3 resource types: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        </a:t>
            </a:r>
            <a:r>
              <a:rPr lang="en-US" altLang="en-US" i="1" dirty="0"/>
              <a:t>A</a:t>
            </a:r>
            <a:r>
              <a:rPr lang="en-US" altLang="en-US" dirty="0"/>
              <a:t> (10 instances),  </a:t>
            </a:r>
            <a:r>
              <a:rPr lang="en-US" altLang="en-US" i="1" dirty="0"/>
              <a:t>B</a:t>
            </a:r>
            <a:r>
              <a:rPr lang="en-US" altLang="en-US" dirty="0"/>
              <a:t> (5instances), and </a:t>
            </a:r>
            <a:r>
              <a:rPr lang="en-US" altLang="en-US" i="1" dirty="0"/>
              <a:t>C</a:t>
            </a:r>
            <a:r>
              <a:rPr lang="en-US" altLang="en-US" dirty="0"/>
              <a:t> (7 instances)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Snapshot at time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: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</a:t>
            </a:r>
            <a:r>
              <a:rPr lang="en-US" altLang="en-US" i="1" u="sng" dirty="0"/>
              <a:t>Max</a:t>
            </a:r>
            <a:r>
              <a:rPr lang="en-US" altLang="en-US" i="1" dirty="0"/>
              <a:t>		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i="1" dirty="0"/>
              <a:t>			A B C	       A B C 		A B C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0	</a:t>
            </a:r>
            <a:r>
              <a:rPr lang="en-US" altLang="en-US" dirty="0"/>
              <a:t>0 1 0	         7 5 3 	3 3 2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	</a:t>
            </a:r>
            <a:r>
              <a:rPr lang="en-US" altLang="en-US" dirty="0"/>
              <a:t>2 0 0 	        3 2 2  </a:t>
            </a:r>
          </a:p>
          <a:p>
            <a:pPr algn="l"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3 0 2 	        9 0 2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2 1 1 	        2 2 2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	         4 3 3  		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DB8887BD-D3BC-4339-B372-7CC9B71D7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3314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43FB620B-ED3D-4487-B4B3-8D8C199019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03132" y="1136651"/>
            <a:ext cx="8777508" cy="5406039"/>
          </a:xfrm>
        </p:spPr>
        <p:txBody>
          <a:bodyPr>
            <a:normAutofit/>
          </a:bodyPr>
          <a:lstStyle/>
          <a:p>
            <a:pPr algn="l">
              <a:tabLst>
                <a:tab pos="2452688" algn="l"/>
                <a:tab pos="3492500" algn="ctr"/>
              </a:tabLst>
            </a:pPr>
            <a:r>
              <a:rPr lang="en-US" altLang="en-US" dirty="0"/>
              <a:t>The content of the matrix </a:t>
            </a:r>
            <a:r>
              <a:rPr lang="en-US" altLang="en-US" b="1" i="1" dirty="0"/>
              <a:t>Need</a:t>
            </a:r>
            <a:r>
              <a:rPr lang="en-US" altLang="en-US" dirty="0"/>
              <a:t> is defined to be </a:t>
            </a:r>
            <a:r>
              <a:rPr lang="en-US" altLang="en-US" b="1" i="1" dirty="0"/>
              <a:t>Max</a:t>
            </a:r>
            <a:r>
              <a:rPr lang="en-US" altLang="en-US" b="1" dirty="0"/>
              <a:t> – </a:t>
            </a:r>
            <a:r>
              <a:rPr lang="en-US" altLang="en-US" b="1" i="1" dirty="0"/>
              <a:t>Allocation</a:t>
            </a:r>
            <a:endParaRPr lang="en-US" altLang="en-US" b="1" dirty="0"/>
          </a:p>
          <a:p>
            <a:pPr algn="l">
              <a:buNone/>
              <a:tabLst>
                <a:tab pos="2452688" algn="l"/>
                <a:tab pos="3492500" algn="ctr"/>
              </a:tabLst>
            </a:pPr>
            <a:endParaRPr lang="en-US" altLang="en-US" dirty="0"/>
          </a:p>
          <a:p>
            <a:pPr algn="l"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Need</a:t>
            </a:r>
            <a:endParaRPr lang="en-US" altLang="en-US" u="sng" dirty="0"/>
          </a:p>
          <a:p>
            <a:pPr algn="l"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</a:t>
            </a:r>
          </a:p>
          <a:p>
            <a:pPr algn="l"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	</a:t>
            </a:r>
            <a:r>
              <a:rPr lang="en-US" altLang="en-US" dirty="0"/>
              <a:t>7 4 3 </a:t>
            </a:r>
          </a:p>
          <a:p>
            <a:pPr algn="l"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	</a:t>
            </a:r>
            <a:r>
              <a:rPr lang="en-US" altLang="en-US" dirty="0"/>
              <a:t>1 2 2 </a:t>
            </a:r>
          </a:p>
          <a:p>
            <a:pPr algn="l"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6 0 0 </a:t>
            </a:r>
          </a:p>
          <a:p>
            <a:pPr algn="l"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0 1 1</a:t>
            </a:r>
          </a:p>
          <a:p>
            <a:pPr algn="l"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4 3 1 </a:t>
            </a:r>
            <a:br>
              <a:rPr lang="en-US" altLang="en-US" dirty="0"/>
            </a:br>
            <a:endParaRPr lang="en-US" altLang="en-US" dirty="0"/>
          </a:p>
          <a:p>
            <a:pPr algn="l">
              <a:tabLst>
                <a:tab pos="2452688" algn="l"/>
                <a:tab pos="3492500" algn="ctr"/>
              </a:tabLst>
            </a:pPr>
            <a:r>
              <a:rPr lang="en-US" altLang="en-US" dirty="0"/>
              <a:t>The system is in a safe state since the sequence &lt;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&gt; satisfies safety criteria</a:t>
            </a:r>
            <a:endParaRPr lang="en-US" altLang="en-US" baseline="-25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4844" y="0"/>
            <a:ext cx="9720072" cy="1499616"/>
          </a:xfrm>
        </p:spPr>
        <p:txBody>
          <a:bodyPr/>
          <a:lstStyle/>
          <a:p>
            <a:r>
              <a:rPr lang="en-US" altLang="en-US" dirty="0"/>
              <a:t>Example of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7918554"/>
              </p:ext>
            </p:extLst>
          </p:nvPr>
        </p:nvGraphicFramePr>
        <p:xfrm>
          <a:off x="977458" y="1119353"/>
          <a:ext cx="10326418" cy="541974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65284">
                  <a:extLst>
                    <a:ext uri="{9D8B030D-6E8A-4147-A177-3AD203B41FA5}">
                      <a16:colId xmlns:a16="http://schemas.microsoft.com/office/drawing/2014/main" val="3671705104"/>
                    </a:ext>
                  </a:extLst>
                </a:gridCol>
                <a:gridCol w="2505677">
                  <a:extLst>
                    <a:ext uri="{9D8B030D-6E8A-4147-A177-3AD203B41FA5}">
                      <a16:colId xmlns:a16="http://schemas.microsoft.com/office/drawing/2014/main" val="4254480061"/>
                    </a:ext>
                  </a:extLst>
                </a:gridCol>
                <a:gridCol w="1624889">
                  <a:extLst>
                    <a:ext uri="{9D8B030D-6E8A-4147-A177-3AD203B41FA5}">
                      <a16:colId xmlns:a16="http://schemas.microsoft.com/office/drawing/2014/main" val="2959054942"/>
                    </a:ext>
                  </a:extLst>
                </a:gridCol>
                <a:gridCol w="1828802">
                  <a:extLst>
                    <a:ext uri="{9D8B030D-6E8A-4147-A177-3AD203B41FA5}">
                      <a16:colId xmlns:a16="http://schemas.microsoft.com/office/drawing/2014/main" val="1020967208"/>
                    </a:ext>
                  </a:extLst>
                </a:gridCol>
                <a:gridCol w="2301766">
                  <a:extLst>
                    <a:ext uri="{9D8B030D-6E8A-4147-A177-3AD203B41FA5}">
                      <a16:colId xmlns:a16="http://schemas.microsoft.com/office/drawing/2014/main" val="2486377821"/>
                    </a:ext>
                  </a:extLst>
                </a:gridCol>
              </a:tblGrid>
              <a:tr h="1213509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effectLst/>
                        </a:rPr>
                        <a:t>Processes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Allocation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effectLst/>
                        </a:rPr>
                        <a:t>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effectLst/>
                        </a:rPr>
                        <a:t>Need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effectLst/>
                        </a:rPr>
                        <a:t>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55570"/>
                  </a:ext>
                </a:extLst>
              </a:tr>
              <a:tr h="649086"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A B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A B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effectLst/>
                        </a:rPr>
                        <a:t>A B C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effectLst/>
                        </a:rPr>
                        <a:t>A B 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513608"/>
                  </a:ext>
                </a:extLst>
              </a:tr>
              <a:tr h="649086"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P0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1 1 2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effectLst/>
                        </a:rPr>
                        <a:t>5 4 4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effectLst/>
                        </a:rPr>
                        <a:t>3 2 1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9570533"/>
                  </a:ext>
                </a:extLst>
              </a:tr>
              <a:tr h="649086"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2 1 2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4 3 3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094302"/>
                  </a:ext>
                </a:extLst>
              </a:tr>
              <a:tr h="649086"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3 0 1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effectLst/>
                        </a:rPr>
                        <a:t>9 1 3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0903635"/>
                  </a:ext>
                </a:extLst>
              </a:tr>
              <a:tr h="649086"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0 2 0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8 6 4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4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9446460"/>
                  </a:ext>
                </a:extLst>
              </a:tr>
              <a:tr h="649086"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1 1 2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effectLst/>
                        </a:rPr>
                        <a:t>2 2 3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4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420233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836863" y="2833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2285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AD3E796E-9D4C-428C-896A-890447D904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564" y="214313"/>
            <a:ext cx="7869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Example:  </a:t>
            </a:r>
            <a:r>
              <a:rPr lang="en-US" altLang="en-US" i="1"/>
              <a:t>P</a:t>
            </a:r>
            <a:r>
              <a:rPr lang="en-US" altLang="en-US" baseline="-25000"/>
              <a:t>1</a:t>
            </a:r>
            <a:r>
              <a:rPr lang="en-US" altLang="en-US"/>
              <a:t> Request (1,0,2)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5866BF7C-1FA0-4840-882A-7A5E6F0E9A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99090" y="993228"/>
            <a:ext cx="11177752" cy="5533695"/>
          </a:xfrm>
        </p:spPr>
        <p:txBody>
          <a:bodyPr>
            <a:normAutofit fontScale="92500" lnSpcReduction="10000"/>
          </a:bodyPr>
          <a:lstStyle/>
          <a:p>
            <a:pPr algn="l"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b="1" dirty="0"/>
              <a:t>Check that Request </a:t>
            </a:r>
            <a:r>
              <a:rPr lang="en-US" altLang="en-US" b="1" dirty="0">
                <a:sym typeface="Symbol" panose="05050102010706020507" pitchFamily="18" charset="2"/>
              </a:rPr>
              <a:t> Available (that is, (1,0,2)  (3,3,2)  true</a:t>
            </a:r>
            <a:endParaRPr lang="en-US" altLang="en-US" b="1" i="1" dirty="0">
              <a:sym typeface="Symbol" panose="05050102010706020507" pitchFamily="18" charset="2"/>
            </a:endParaRPr>
          </a:p>
          <a:p>
            <a:pPr algn="l"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b="1" i="1" dirty="0"/>
              <a:t>			</a:t>
            </a:r>
            <a:r>
              <a:rPr lang="en-US" altLang="en-US" b="1" i="1" u="sng" dirty="0"/>
              <a:t>Allocation</a:t>
            </a:r>
            <a:r>
              <a:rPr lang="en-US" altLang="en-US" b="1" i="1" dirty="0"/>
              <a:t>	</a:t>
            </a:r>
            <a:r>
              <a:rPr lang="en-US" altLang="en-US" b="1" i="1" u="sng" dirty="0"/>
              <a:t>Need</a:t>
            </a:r>
            <a:r>
              <a:rPr lang="en-US" altLang="en-US" b="1" i="1" dirty="0"/>
              <a:t>	   </a:t>
            </a:r>
            <a:r>
              <a:rPr lang="en-US" altLang="en-US" b="1" i="1" u="sng" dirty="0"/>
              <a:t>Available</a:t>
            </a:r>
            <a:endParaRPr lang="en-US" altLang="en-US" b="1" i="1" dirty="0"/>
          </a:p>
          <a:p>
            <a:pPr algn="l"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b="1" i="1" dirty="0"/>
              <a:t>			A B C	A B C	 A B C </a:t>
            </a:r>
          </a:p>
          <a:p>
            <a:pPr algn="l"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b="1" dirty="0"/>
              <a:t>		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	0 1 0 	7 4 3 	2 3 0</a:t>
            </a:r>
          </a:p>
          <a:p>
            <a:pPr algn="l"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b="1" dirty="0"/>
              <a:t>		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	       3 0 2          0 2 0 	</a:t>
            </a:r>
          </a:p>
          <a:p>
            <a:pPr algn="l"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b="1" dirty="0"/>
              <a:t>		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	3 0 2 	6 0 0 </a:t>
            </a:r>
          </a:p>
          <a:p>
            <a:pPr algn="l"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b="1" dirty="0"/>
              <a:t>		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	2 1 1 	0 1 1</a:t>
            </a:r>
          </a:p>
          <a:p>
            <a:pPr algn="l"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b="1" dirty="0"/>
              <a:t>		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b="1" dirty="0"/>
              <a:t>	0 0 2 	4 3 1 </a:t>
            </a:r>
          </a:p>
          <a:p>
            <a:pPr algn="l"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b="1" dirty="0"/>
          </a:p>
          <a:p>
            <a:pPr algn="l"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b="1" dirty="0"/>
              <a:t>Executing safety algorithm shows that sequence &lt;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&gt; satisfies safety requirement</a:t>
            </a:r>
          </a:p>
          <a:p>
            <a:pPr algn="l"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b="1" dirty="0"/>
          </a:p>
          <a:p>
            <a:pPr algn="l"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b="1" dirty="0"/>
              <a:t>Can request for (3,3,0) by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b="1" dirty="0"/>
              <a:t> be granted?</a:t>
            </a:r>
          </a:p>
          <a:p>
            <a:pPr algn="l"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b="1" dirty="0"/>
          </a:p>
          <a:p>
            <a:pPr algn="l"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b="1" dirty="0"/>
              <a:t>Can request for (0,2,0) by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 be granted?</a:t>
            </a:r>
          </a:p>
          <a:p>
            <a:pPr algn="l"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573354F7-D46C-481C-9D4A-3953C7C99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5413" y="235762"/>
            <a:ext cx="74215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Deadlock Detection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B0C7DA51-11F7-430E-8F04-C804721EE6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87821" y="1233489"/>
            <a:ext cx="8775934" cy="4530725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Allow system to enter deadlock state </a:t>
            </a:r>
            <a:br>
              <a:rPr lang="en-US" altLang="en-US" sz="4000" dirty="0"/>
            </a:br>
            <a:endParaRPr lang="en-US" altLang="en-US" sz="4000" dirty="0"/>
          </a:p>
          <a:p>
            <a:pPr lvl="1"/>
            <a:r>
              <a:rPr lang="en-US" altLang="en-US" sz="3600" dirty="0"/>
              <a:t>Detection algorithm</a:t>
            </a:r>
          </a:p>
          <a:p>
            <a:pPr lvl="1"/>
            <a:r>
              <a:rPr lang="en-US" altLang="en-US" sz="3600" dirty="0"/>
              <a:t>Recovery scheme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2E0AC6EB-98B0-4800-BA12-8164E3633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1686" y="-19986"/>
            <a:ext cx="7772400" cy="84455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Single Instance of Each Resource Type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A96C6DF-1521-4C97-AEB7-B25DA22EF8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8993" y="1173164"/>
            <a:ext cx="8927171" cy="4928091"/>
          </a:xfrm>
        </p:spPr>
        <p:txBody>
          <a:bodyPr>
            <a:noAutofit/>
          </a:bodyPr>
          <a:lstStyle/>
          <a:p>
            <a:r>
              <a:rPr lang="en-US" altLang="en-US" sz="2800" dirty="0"/>
              <a:t>Maintain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wait-for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dirty="0"/>
              <a:t>graph</a:t>
            </a:r>
          </a:p>
          <a:p>
            <a:pPr lvl="1"/>
            <a:r>
              <a:rPr lang="en-US" altLang="en-US" sz="2400" dirty="0"/>
              <a:t>Nodes are processes</a:t>
            </a:r>
          </a:p>
          <a:p>
            <a:pPr lvl="1" algn="l"/>
            <a:r>
              <a:rPr lang="en-US" altLang="en-US" sz="2400" b="1" i="1" dirty="0"/>
              <a:t>P</a:t>
            </a:r>
            <a:r>
              <a:rPr lang="en-US" altLang="en-US" sz="2400" b="1" i="1" baseline="-25000" dirty="0"/>
              <a:t>i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 </a:t>
            </a:r>
            <a:r>
              <a:rPr lang="en-US" altLang="en-US" sz="2400" b="1" i="1" dirty="0" err="1">
                <a:sym typeface="Symbol" panose="05050102010706020507" pitchFamily="18" charset="2"/>
              </a:rPr>
              <a:t>P</a:t>
            </a:r>
            <a:r>
              <a:rPr lang="en-US" altLang="en-US" sz="2400" b="1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2400" b="1" i="1" baseline="-25000" dirty="0">
                <a:sym typeface="Symbol" panose="05050102010706020507" pitchFamily="18" charset="2"/>
              </a:rPr>
              <a:t>   </a:t>
            </a:r>
            <a:r>
              <a:rPr lang="en-US" altLang="en-US" sz="2400" dirty="0">
                <a:sym typeface="Symbol" panose="05050102010706020507" pitchFamily="18" charset="2"/>
              </a:rPr>
              <a:t>if </a:t>
            </a:r>
            <a:r>
              <a:rPr lang="en-US" altLang="en-US" sz="2400" b="1" i="1" dirty="0">
                <a:sym typeface="Symbol" panose="05050102010706020507" pitchFamily="18" charset="2"/>
              </a:rPr>
              <a:t>P</a:t>
            </a:r>
            <a:r>
              <a:rPr lang="en-US" altLang="en-US" sz="2400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is waiting for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b="1" i="1" dirty="0" err="1">
                <a:sym typeface="Symbol" panose="05050102010706020507" pitchFamily="18" charset="2"/>
              </a:rPr>
              <a:t>P</a:t>
            </a:r>
            <a:r>
              <a:rPr lang="en-US" altLang="en-US" sz="2400" b="1" i="1" baseline="-25000" dirty="0" err="1">
                <a:sym typeface="Symbol" panose="05050102010706020507" pitchFamily="18" charset="2"/>
              </a:rPr>
              <a:t>j</a:t>
            </a:r>
            <a:br>
              <a:rPr lang="en-US" altLang="en-US" sz="2400" b="1" i="1" dirty="0">
                <a:sym typeface="Symbol" panose="05050102010706020507" pitchFamily="18" charset="2"/>
              </a:rPr>
            </a:br>
            <a:endParaRPr lang="en-US" altLang="en-US" sz="2400" b="1" i="1" dirty="0">
              <a:sym typeface="Symbol" panose="05050102010706020507" pitchFamily="18" charset="2"/>
            </a:endParaRPr>
          </a:p>
          <a:p>
            <a:r>
              <a:rPr lang="en-US" altLang="en-US" sz="2800" dirty="0"/>
              <a:t>Periodically invoke an algorithm that searches for a cycle in the graph. If there is a cycle, there exists a deadlock</a:t>
            </a:r>
          </a:p>
          <a:p>
            <a:pPr>
              <a:buFont typeface="Monotype Sorts" pitchFamily="-84" charset="2"/>
              <a:buNone/>
            </a:pPr>
            <a:endParaRPr lang="en-US" altLang="en-US" sz="2800" dirty="0"/>
          </a:p>
          <a:p>
            <a:r>
              <a:rPr lang="en-US" altLang="en-US" sz="2800" dirty="0"/>
              <a:t>An algorithm to detect a cycle in a graph requires an order of</a:t>
            </a:r>
            <a:r>
              <a:rPr lang="en-US" altLang="en-US" sz="2800" i="1" dirty="0"/>
              <a:t> </a:t>
            </a:r>
            <a:r>
              <a:rPr lang="en-US" altLang="en-US" sz="2800" b="1" i="1" dirty="0"/>
              <a:t>n</a:t>
            </a:r>
            <a:r>
              <a:rPr lang="en-US" altLang="en-US" sz="2800" b="1" baseline="30000" dirty="0"/>
              <a:t>2</a:t>
            </a:r>
            <a:r>
              <a:rPr lang="en-US" altLang="en-US" sz="2800" b="1" dirty="0"/>
              <a:t> </a:t>
            </a:r>
            <a:r>
              <a:rPr lang="en-US" altLang="en-US" sz="2800" dirty="0"/>
              <a:t>operations, where </a:t>
            </a:r>
            <a:r>
              <a:rPr lang="en-US" altLang="en-US" sz="2800" b="1" i="1" dirty="0"/>
              <a:t>n</a:t>
            </a:r>
            <a:r>
              <a:rPr lang="en-US" altLang="en-US" sz="2800" dirty="0"/>
              <a:t> is the number of vertices in the graph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0484A614-EAE8-49DD-A55B-4F7E12A56E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2165" y="270077"/>
            <a:ext cx="8288629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Resource-Allocation Graph and  Wait-for Graph</a:t>
            </a:r>
          </a:p>
        </p:txBody>
      </p:sp>
      <p:sp>
        <p:nvSpPr>
          <p:cNvPr id="66562" name="Text Box 5">
            <a:extLst>
              <a:ext uri="{FF2B5EF4-FFF2-40B4-BE49-F238E27FC236}">
                <a16:creationId xmlns:a16="http://schemas.microsoft.com/office/drawing/2014/main" id="{FD3E6C09-91AB-4252-8558-115F273E5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1921" y="5924934"/>
            <a:ext cx="292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Resource-Allocation Graph</a:t>
            </a:r>
          </a:p>
        </p:txBody>
      </p:sp>
      <p:sp>
        <p:nvSpPr>
          <p:cNvPr id="66563" name="Text Box 6">
            <a:extLst>
              <a:ext uri="{FF2B5EF4-FFF2-40B4-BE49-F238E27FC236}">
                <a16:creationId xmlns:a16="http://schemas.microsoft.com/office/drawing/2014/main" id="{4DB892FA-9656-4369-B039-CF364DF80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2856" y="5972230"/>
            <a:ext cx="314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Corresponding wait-for graph</a:t>
            </a:r>
          </a:p>
        </p:txBody>
      </p:sp>
      <p:pic>
        <p:nvPicPr>
          <p:cNvPr id="66564" name="Picture 1">
            <a:extLst>
              <a:ext uri="{FF2B5EF4-FFF2-40B4-BE49-F238E27FC236}">
                <a16:creationId xmlns:a16="http://schemas.microsoft.com/office/drawing/2014/main" id="{0B62FAF8-3075-42AC-BA0B-5BDEAC7D4D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7793" y="1079118"/>
            <a:ext cx="7360581" cy="4750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A3ED25FA-FD51-4DC3-9667-49F48E298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0331" y="131947"/>
            <a:ext cx="7772400" cy="6286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Several Instances of a Resource Type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A408F457-CD45-48AA-8181-E44F8AA0A5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8731" y="1187451"/>
            <a:ext cx="11398469" cy="5292177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solidFill>
                  <a:srgbClr val="000000"/>
                </a:solidFill>
              </a:rPr>
              <a:t>Available</a:t>
            </a:r>
            <a:r>
              <a:rPr lang="en-US" altLang="en-US" sz="3600" i="1" dirty="0"/>
              <a:t>:</a:t>
            </a:r>
            <a:r>
              <a:rPr lang="en-US" altLang="en-US" sz="3600" dirty="0"/>
              <a:t>  A vector of length </a:t>
            </a:r>
            <a:r>
              <a:rPr lang="en-US" altLang="en-US" sz="3600" b="1" i="1" dirty="0"/>
              <a:t>m</a:t>
            </a:r>
            <a:r>
              <a:rPr lang="en-US" altLang="en-US" sz="3600" dirty="0"/>
              <a:t> indicates the number of available resources of each type</a:t>
            </a:r>
          </a:p>
          <a:p>
            <a:r>
              <a:rPr lang="en-US" altLang="en-US" sz="3600" b="1" dirty="0">
                <a:solidFill>
                  <a:srgbClr val="000000"/>
                </a:solidFill>
              </a:rPr>
              <a:t>Allocation</a:t>
            </a:r>
            <a:r>
              <a:rPr lang="en-US" altLang="en-US" sz="3600" i="1" dirty="0"/>
              <a:t>:</a:t>
            </a:r>
            <a:r>
              <a:rPr lang="en-US" altLang="en-US" sz="3600" dirty="0"/>
              <a:t>  An </a:t>
            </a:r>
            <a:r>
              <a:rPr lang="en-US" altLang="en-US" sz="3600" b="1" i="1" dirty="0"/>
              <a:t>n </a:t>
            </a:r>
            <a:r>
              <a:rPr lang="en-US" altLang="en-US" sz="3600" b="1" dirty="0"/>
              <a:t>x</a:t>
            </a:r>
            <a:r>
              <a:rPr lang="en-US" altLang="en-US" sz="3600" b="1" i="1" dirty="0"/>
              <a:t> m</a:t>
            </a:r>
            <a:r>
              <a:rPr lang="en-US" altLang="en-US" sz="3600" b="1" dirty="0"/>
              <a:t> </a:t>
            </a:r>
            <a:r>
              <a:rPr lang="en-US" altLang="en-US" sz="3600" dirty="0"/>
              <a:t>matrix defines the number of resources of each type currently allocated to each process</a:t>
            </a:r>
          </a:p>
          <a:p>
            <a:r>
              <a:rPr lang="en-US" altLang="en-US" sz="3600" b="1" dirty="0">
                <a:solidFill>
                  <a:srgbClr val="000000"/>
                </a:solidFill>
              </a:rPr>
              <a:t>Request</a:t>
            </a:r>
            <a:r>
              <a:rPr lang="en-US" altLang="en-US" sz="3600" i="1" dirty="0"/>
              <a:t>:</a:t>
            </a:r>
            <a:r>
              <a:rPr lang="en-US" altLang="en-US" sz="3600" dirty="0"/>
              <a:t>  An </a:t>
            </a:r>
            <a:r>
              <a:rPr lang="en-US" altLang="en-US" sz="3600" b="1" i="1" dirty="0"/>
              <a:t>n </a:t>
            </a:r>
            <a:r>
              <a:rPr lang="en-US" altLang="en-US" sz="3600" b="1" dirty="0"/>
              <a:t>x</a:t>
            </a:r>
            <a:r>
              <a:rPr lang="en-US" altLang="en-US" sz="3600" b="1" i="1" dirty="0"/>
              <a:t> m</a:t>
            </a:r>
            <a:r>
              <a:rPr lang="en-US" altLang="en-US" sz="3600" b="1" dirty="0"/>
              <a:t> </a:t>
            </a:r>
            <a:r>
              <a:rPr lang="en-US" altLang="en-US" sz="3600" dirty="0"/>
              <a:t>matrix indicates the current request  of each process.  If </a:t>
            </a:r>
            <a:r>
              <a:rPr lang="en-US" altLang="en-US" sz="3600" b="1" i="1" dirty="0"/>
              <a:t>Request </a:t>
            </a:r>
            <a:r>
              <a:rPr lang="en-US" altLang="en-US" sz="3600" b="1" dirty="0"/>
              <a:t>[</a:t>
            </a:r>
            <a:r>
              <a:rPr lang="en-US" altLang="en-US" sz="3600" b="1" i="1" dirty="0"/>
              <a:t>i</a:t>
            </a:r>
            <a:r>
              <a:rPr lang="en-US" altLang="en-US" sz="3600" b="1" dirty="0"/>
              <a:t>][</a:t>
            </a:r>
            <a:r>
              <a:rPr lang="en-US" altLang="en-US" sz="3600" b="1" i="1" dirty="0"/>
              <a:t>j</a:t>
            </a:r>
            <a:r>
              <a:rPr lang="en-US" altLang="en-US" sz="3600" b="1" dirty="0"/>
              <a:t>] = </a:t>
            </a:r>
            <a:r>
              <a:rPr lang="en-US" altLang="en-US" sz="3600" b="1" i="1" dirty="0"/>
              <a:t>k</a:t>
            </a:r>
            <a:r>
              <a:rPr lang="en-US" altLang="en-US" sz="3600" dirty="0"/>
              <a:t>, then process</a:t>
            </a:r>
            <a:r>
              <a:rPr lang="en-US" altLang="en-US" sz="3600" i="1" dirty="0"/>
              <a:t> </a:t>
            </a:r>
            <a:r>
              <a:rPr lang="en-US" altLang="en-US" sz="3600" b="1" i="1" dirty="0"/>
              <a:t>P</a:t>
            </a:r>
            <a:r>
              <a:rPr lang="en-US" altLang="en-US" sz="3600" b="1" i="1" baseline="-25000" dirty="0"/>
              <a:t>i</a:t>
            </a:r>
            <a:r>
              <a:rPr lang="en-US" altLang="en-US" sz="3600" dirty="0"/>
              <a:t> is requesting</a:t>
            </a:r>
            <a:r>
              <a:rPr lang="en-US" altLang="en-US" sz="3600" i="1" dirty="0"/>
              <a:t> </a:t>
            </a:r>
            <a:r>
              <a:rPr lang="en-US" altLang="en-US" sz="3600" b="1" i="1" dirty="0"/>
              <a:t>k</a:t>
            </a:r>
            <a:r>
              <a:rPr lang="en-US" altLang="en-US" sz="3600" dirty="0"/>
              <a:t> more instances of resource type </a:t>
            </a:r>
            <a:r>
              <a:rPr lang="en-US" altLang="en-US" sz="3600" b="1" i="1" dirty="0" err="1"/>
              <a:t>R</a:t>
            </a:r>
            <a:r>
              <a:rPr lang="en-US" altLang="en-US" sz="3600" b="1" i="1" baseline="-25000" dirty="0" err="1"/>
              <a:t>j</a:t>
            </a:r>
            <a:r>
              <a:rPr lang="en-US" altLang="en-US" sz="3600"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6A086C2B-A5AE-4F5F-8E2A-379050994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5415" y="236380"/>
            <a:ext cx="78994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Detection Algorithm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4F25B4FD-55C6-400C-B972-1DEDC81853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17986" y="1233489"/>
            <a:ext cx="8254727" cy="5624511"/>
          </a:xfrm>
        </p:spPr>
        <p:txBody>
          <a:bodyPr>
            <a:norm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altLang="en-US" sz="3200" dirty="0"/>
              <a:t>Let </a:t>
            </a:r>
            <a:r>
              <a:rPr lang="en-US" altLang="en-US" sz="3200" b="1" i="1" dirty="0"/>
              <a:t>Work</a:t>
            </a:r>
            <a:r>
              <a:rPr lang="en-US" altLang="en-US" sz="3200" dirty="0"/>
              <a:t> and </a:t>
            </a:r>
            <a:r>
              <a:rPr lang="en-US" altLang="en-US" sz="3200" b="1" i="1" dirty="0"/>
              <a:t>Finish</a:t>
            </a:r>
            <a:r>
              <a:rPr lang="en-US" altLang="en-US" sz="3200" dirty="0"/>
              <a:t> be vectors of length </a:t>
            </a:r>
            <a:r>
              <a:rPr lang="en-US" altLang="en-US" sz="3200" b="1" i="1" dirty="0"/>
              <a:t>m</a:t>
            </a:r>
            <a:r>
              <a:rPr lang="en-US" altLang="en-US" sz="3200" dirty="0"/>
              <a:t> and </a:t>
            </a:r>
            <a:r>
              <a:rPr lang="en-US" altLang="en-US" sz="3200" b="1" i="1" dirty="0"/>
              <a:t>n</a:t>
            </a:r>
            <a:r>
              <a:rPr lang="en-US" altLang="en-US" sz="3200" dirty="0"/>
              <a:t>, respectively Initialize:</a:t>
            </a:r>
          </a:p>
          <a:p>
            <a:pPr marL="850900" lvl="1" indent="-393700" algn="l">
              <a:buFont typeface="+mj-lt"/>
              <a:buAutoNum type="alphaLcParenR"/>
            </a:pPr>
            <a:r>
              <a:rPr lang="en-US" altLang="en-US" sz="2800" i="1" dirty="0"/>
              <a:t> </a:t>
            </a:r>
            <a:r>
              <a:rPr lang="en-US" altLang="en-US" sz="2800" b="1" i="1" dirty="0"/>
              <a:t>Work</a:t>
            </a:r>
            <a:r>
              <a:rPr lang="en-US" altLang="en-US" sz="2800" b="1" dirty="0"/>
              <a:t> = </a:t>
            </a:r>
            <a:r>
              <a:rPr lang="en-US" altLang="en-US" sz="2800" b="1" i="1" dirty="0"/>
              <a:t>Available</a:t>
            </a:r>
            <a:endParaRPr lang="en-US" altLang="en-US" sz="2800" b="1" dirty="0"/>
          </a:p>
          <a:p>
            <a:pPr marL="850900" lvl="1" indent="-393700" algn="l">
              <a:buFont typeface="+mj-lt"/>
              <a:buAutoNum type="alphaLcParenR"/>
            </a:pPr>
            <a:r>
              <a:rPr lang="en-US" altLang="en-US" sz="2800" dirty="0"/>
              <a:t> For </a:t>
            </a:r>
            <a:r>
              <a:rPr lang="en-US" altLang="en-US" sz="2800" b="1" i="1" dirty="0"/>
              <a:t>i</a:t>
            </a:r>
            <a:r>
              <a:rPr lang="en-US" altLang="en-US" sz="2800" b="1" dirty="0"/>
              <a:t> = 1,2, …,</a:t>
            </a:r>
            <a:r>
              <a:rPr lang="en-US" altLang="en-US" sz="2800" b="1" i="1" dirty="0"/>
              <a:t> n</a:t>
            </a:r>
            <a:r>
              <a:rPr lang="en-US" altLang="en-US" sz="2800" dirty="0"/>
              <a:t>, if </a:t>
            </a:r>
            <a:r>
              <a:rPr lang="en-US" altLang="en-US" sz="2800" b="1" i="1" dirty="0" err="1"/>
              <a:t>Allocation</a:t>
            </a:r>
            <a:r>
              <a:rPr lang="en-US" altLang="en-US" sz="2800" b="1" i="1" baseline="-25000" dirty="0" err="1"/>
              <a:t>i</a:t>
            </a:r>
            <a:r>
              <a:rPr lang="en-US" altLang="en-US" sz="2800" b="1" dirty="0"/>
              <a:t> </a:t>
            </a:r>
            <a:r>
              <a:rPr lang="en-US" altLang="en-US" sz="2800" b="1" dirty="0">
                <a:sym typeface="Symbol" panose="05050102010706020507" pitchFamily="18" charset="2"/>
              </a:rPr>
              <a:t> 0</a:t>
            </a:r>
            <a:r>
              <a:rPr lang="en-US" altLang="en-US" sz="2800" dirty="0">
                <a:sym typeface="Symbol" panose="05050102010706020507" pitchFamily="18" charset="2"/>
              </a:rPr>
              <a:t>, then </a:t>
            </a:r>
            <a:br>
              <a:rPr lang="en-US" altLang="en-US" sz="2800" dirty="0">
                <a:sym typeface="Symbol" panose="05050102010706020507" pitchFamily="18" charset="2"/>
              </a:rPr>
            </a:b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b="1" i="1" dirty="0">
                <a:sym typeface="Symbol" panose="05050102010706020507" pitchFamily="18" charset="2"/>
              </a:rPr>
              <a:t>Finish</a:t>
            </a:r>
            <a:r>
              <a:rPr lang="en-US" altLang="en-US" sz="2800" b="1" dirty="0">
                <a:sym typeface="Symbol" panose="05050102010706020507" pitchFamily="18" charset="2"/>
              </a:rPr>
              <a:t>[i] </a:t>
            </a:r>
            <a:r>
              <a:rPr lang="en-US" altLang="en-US" sz="2800" b="1" i="1" dirty="0">
                <a:sym typeface="Symbol" panose="05050102010706020507" pitchFamily="18" charset="2"/>
              </a:rPr>
              <a:t>= false</a:t>
            </a:r>
            <a:r>
              <a:rPr lang="en-US" altLang="en-US" sz="2800" dirty="0">
                <a:sym typeface="Symbol" panose="05050102010706020507" pitchFamily="18" charset="2"/>
              </a:rPr>
              <a:t>; otherwise, </a:t>
            </a:r>
            <a:r>
              <a:rPr lang="en-US" altLang="en-US" sz="2800" b="1" i="1" dirty="0">
                <a:sym typeface="Symbol" panose="05050102010706020507" pitchFamily="18" charset="2"/>
              </a:rPr>
              <a:t>Finish</a:t>
            </a:r>
            <a:r>
              <a:rPr lang="en-US" altLang="en-US" sz="2800" b="1" dirty="0">
                <a:sym typeface="Symbol" panose="05050102010706020507" pitchFamily="18" charset="2"/>
              </a:rPr>
              <a:t>[i] = </a:t>
            </a:r>
            <a:r>
              <a:rPr lang="en-US" altLang="en-US" sz="2800" b="1" i="1" dirty="0">
                <a:sym typeface="Symbol" panose="05050102010706020507" pitchFamily="18" charset="2"/>
              </a:rPr>
              <a:t>true</a:t>
            </a:r>
          </a:p>
          <a:p>
            <a:pPr marL="850900" lvl="1" indent="-393700" algn="l">
              <a:buNone/>
            </a:pPr>
            <a:endParaRPr lang="en-US" altLang="en-US" sz="2800" dirty="0">
              <a:sym typeface="Symbol" panose="05050102010706020507" pitchFamily="18" charset="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en-US" sz="3200" dirty="0"/>
              <a:t>Find an index </a:t>
            </a:r>
            <a:r>
              <a:rPr lang="en-US" altLang="en-US" sz="3200" b="1" i="1" dirty="0"/>
              <a:t>i</a:t>
            </a:r>
            <a:r>
              <a:rPr lang="en-US" altLang="en-US" sz="3200" i="1" dirty="0"/>
              <a:t> </a:t>
            </a:r>
            <a:r>
              <a:rPr lang="en-US" altLang="en-US" sz="3200" dirty="0"/>
              <a:t>such that both:</a:t>
            </a:r>
          </a:p>
          <a:p>
            <a:pPr marL="850900" lvl="1" indent="-393700" algn="l">
              <a:buFont typeface="+mj-lt"/>
              <a:buAutoNum type="alphaLcParenR"/>
            </a:pPr>
            <a:r>
              <a:rPr lang="en-US" altLang="en-US" sz="2800" i="1" dirty="0"/>
              <a:t> </a:t>
            </a:r>
            <a:r>
              <a:rPr lang="en-US" altLang="en-US" sz="2800" b="1" i="1" dirty="0"/>
              <a:t>Finish</a:t>
            </a:r>
            <a:r>
              <a:rPr lang="en-US" altLang="en-US" sz="2800" b="1" dirty="0"/>
              <a:t>[</a:t>
            </a:r>
            <a:r>
              <a:rPr lang="en-US" altLang="en-US" sz="2800" b="1" i="1" dirty="0"/>
              <a:t>i</a:t>
            </a:r>
            <a:r>
              <a:rPr lang="en-US" altLang="en-US" sz="2800" b="1" dirty="0"/>
              <a:t>] == </a:t>
            </a:r>
            <a:r>
              <a:rPr lang="en-US" altLang="en-US" sz="2800" b="1" i="1" dirty="0"/>
              <a:t>false</a:t>
            </a:r>
            <a:endParaRPr lang="en-US" altLang="en-US" sz="2800" b="1" dirty="0"/>
          </a:p>
          <a:p>
            <a:pPr marL="850900" lvl="1" indent="-393700" algn="l">
              <a:buFont typeface="+mj-lt"/>
              <a:buAutoNum type="alphaLcParenR"/>
            </a:pPr>
            <a:r>
              <a:rPr lang="en-US" altLang="en-US" sz="2800" i="1" dirty="0"/>
              <a:t> </a:t>
            </a:r>
            <a:r>
              <a:rPr lang="en-US" altLang="en-US" sz="2800" b="1" i="1" dirty="0" err="1"/>
              <a:t>Request</a:t>
            </a:r>
            <a:r>
              <a:rPr lang="en-US" altLang="en-US" sz="2800" b="1" i="1" baseline="-25000" dirty="0" err="1"/>
              <a:t>i</a:t>
            </a:r>
            <a:r>
              <a:rPr lang="en-US" altLang="en-US" sz="2800" b="1" dirty="0"/>
              <a:t> </a:t>
            </a:r>
            <a:r>
              <a:rPr lang="en-US" altLang="en-US" sz="2800" b="1" dirty="0">
                <a:sym typeface="Symbol" panose="05050102010706020507" pitchFamily="18" charset="2"/>
              </a:rPr>
              <a:t> </a:t>
            </a:r>
            <a:r>
              <a:rPr lang="en-US" altLang="en-US" sz="2800" b="1" i="1" dirty="0">
                <a:sym typeface="Symbol" panose="05050102010706020507" pitchFamily="18" charset="2"/>
              </a:rPr>
              <a:t>Work</a:t>
            </a:r>
            <a:br>
              <a:rPr lang="en-US" altLang="en-US" sz="2800" b="1" i="1" dirty="0">
                <a:sym typeface="Symbol" panose="05050102010706020507" pitchFamily="18" charset="2"/>
              </a:rPr>
            </a:br>
            <a:endParaRPr lang="en-US" altLang="en-US" sz="2800" b="1" dirty="0">
              <a:sym typeface="Symbol" panose="05050102010706020507" pitchFamily="18" charset="2"/>
            </a:endParaRPr>
          </a:p>
          <a:p>
            <a:pPr marL="850900" lvl="1" indent="-393700" algn="l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If no such </a:t>
            </a:r>
            <a:r>
              <a:rPr lang="en-US" altLang="en-US" sz="2800" b="1" i="1" dirty="0">
                <a:sym typeface="Symbol" panose="05050102010706020507" pitchFamily="18" charset="2"/>
              </a:rPr>
              <a:t>i</a:t>
            </a:r>
            <a:r>
              <a:rPr lang="en-US" altLang="en-US" sz="2800" b="1" dirty="0"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exists, go to step 4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AC8DFB5C-1F8D-4190-83A2-9517D93814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2714" y="214313"/>
            <a:ext cx="75580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Detection Algorithm (Cont.)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1590227E-597D-4241-9B48-CEE17B87BD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91407" y="1171576"/>
            <a:ext cx="7498693" cy="4094107"/>
          </a:xfrm>
        </p:spPr>
        <p:txBody>
          <a:bodyPr>
            <a:normAutofit/>
          </a:bodyPr>
          <a:lstStyle/>
          <a:p>
            <a:pPr marL="342900" indent="-342900" algn="l">
              <a:buAutoNum type="arabicPeriod" startAt="3"/>
            </a:pPr>
            <a:r>
              <a:rPr lang="en-US" altLang="en-US" i="1" dirty="0"/>
              <a:t>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</a:t>
            </a:r>
            <a:r>
              <a:rPr lang="en-US" altLang="en-US" b="1" dirty="0"/>
              <a:t> 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dirty="0"/>
              <a:t>     </a:t>
            </a: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true</a:t>
            </a:r>
            <a:br>
              <a:rPr lang="en-US" altLang="en-US" b="1" dirty="0"/>
            </a:br>
            <a:r>
              <a:rPr lang="en-US" altLang="en-US" b="1" dirty="0"/>
              <a:t>     </a:t>
            </a:r>
            <a:r>
              <a:rPr lang="en-US" altLang="en-US" dirty="0"/>
              <a:t>go to step 2</a:t>
            </a:r>
            <a:br>
              <a:rPr lang="en-US" altLang="en-US" dirty="0"/>
            </a:br>
            <a:r>
              <a:rPr lang="en-US" altLang="en-US" dirty="0"/>
              <a:t> </a:t>
            </a:r>
          </a:p>
          <a:p>
            <a:pPr marL="342900" indent="-342900" algn="l">
              <a:buAutoNum type="arabicPeriod" startAt="3"/>
            </a:pPr>
            <a:r>
              <a:rPr lang="en-US" altLang="en-US" dirty="0"/>
              <a:t>If </a:t>
            </a:r>
            <a:r>
              <a:rPr lang="en-US" altLang="en-US" b="1" i="1" dirty="0"/>
              <a:t>Finish[i] == false</a:t>
            </a:r>
            <a:r>
              <a:rPr lang="en-US" altLang="en-US" dirty="0"/>
              <a:t>, for some </a:t>
            </a:r>
            <a:r>
              <a:rPr lang="en-US" altLang="en-US" b="1" i="1" dirty="0"/>
              <a:t>i</a:t>
            </a:r>
            <a:r>
              <a:rPr lang="en-US" altLang="en-US" dirty="0"/>
              <a:t>, 1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  </a:t>
            </a:r>
            <a:r>
              <a:rPr lang="en-US" altLang="en-US" b="1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, then the system is in   deadlock state. Moreover, if </a:t>
            </a:r>
            <a:r>
              <a:rPr lang="en-US" altLang="en-US" b="1" i="1" dirty="0">
                <a:sym typeface="Symbol" panose="05050102010706020507" pitchFamily="18" charset="2"/>
              </a:rPr>
              <a:t>Finish</a:t>
            </a:r>
            <a:r>
              <a:rPr lang="en-US" altLang="en-US" b="1" dirty="0">
                <a:sym typeface="Symbol" panose="05050102010706020507" pitchFamily="18" charset="2"/>
              </a:rPr>
              <a:t>[</a:t>
            </a:r>
            <a:r>
              <a:rPr lang="en-US" altLang="en-US" b="1" i="1" dirty="0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] == </a:t>
            </a:r>
            <a:r>
              <a:rPr lang="en-US" altLang="en-US" b="1" i="1" dirty="0">
                <a:sym typeface="Symbol" panose="05050102010706020507" pitchFamily="18" charset="2"/>
              </a:rPr>
              <a:t>false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is deadlocked</a:t>
            </a:r>
          </a:p>
          <a:p>
            <a:pPr algn="l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endParaRPr lang="en-US" altLang="en-US" dirty="0"/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96085A5E-EEBE-4448-A0CB-F924E9CD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7205" y="4549502"/>
            <a:ext cx="7694612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FF0066"/>
                </a:solidFill>
                <a:sym typeface="Symbol" panose="05050102010706020507" pitchFamily="18" charset="2"/>
              </a:rPr>
              <a:t>Algorithm requires an order of O(</a:t>
            </a:r>
            <a:r>
              <a:rPr kumimoji="0" lang="en-US" altLang="en-US" b="1" i="1" dirty="0">
                <a:solidFill>
                  <a:srgbClr val="FF0066"/>
                </a:solidFill>
                <a:sym typeface="Symbol" panose="05050102010706020507" pitchFamily="18" charset="2"/>
              </a:rPr>
              <a:t>m </a:t>
            </a:r>
            <a:r>
              <a:rPr kumimoji="0" lang="en-US" altLang="en-US" b="1" dirty="0">
                <a:solidFill>
                  <a:srgbClr val="FF0066"/>
                </a:solidFill>
                <a:sym typeface="Symbol" panose="05050102010706020507" pitchFamily="18" charset="2"/>
              </a:rPr>
              <a:t>x</a:t>
            </a:r>
            <a:r>
              <a:rPr kumimoji="0" lang="en-US" altLang="en-US" b="1" i="1" dirty="0">
                <a:solidFill>
                  <a:srgbClr val="FF0066"/>
                </a:solidFill>
                <a:sym typeface="Symbol" panose="05050102010706020507" pitchFamily="18" charset="2"/>
              </a:rPr>
              <a:t> n</a:t>
            </a:r>
            <a:r>
              <a:rPr kumimoji="0" lang="en-US" altLang="en-US" b="1" baseline="30000" dirty="0">
                <a:solidFill>
                  <a:srgbClr val="FF0066"/>
                </a:solidFill>
                <a:sym typeface="Symbol" panose="05050102010706020507" pitchFamily="18" charset="2"/>
              </a:rPr>
              <a:t>2</a:t>
            </a:r>
            <a:r>
              <a:rPr kumimoji="0" lang="en-US" altLang="en-US" b="1" dirty="0">
                <a:solidFill>
                  <a:srgbClr val="FF0066"/>
                </a:solidFill>
                <a:sym typeface="Symbol" panose="05050102010706020507" pitchFamily="18" charset="2"/>
              </a:rPr>
              <a:t>) operations to detect whether the system is in deadlocked state</a:t>
            </a:r>
            <a:endParaRPr kumimoji="0" lang="en-US" altLang="en-US" dirty="0">
              <a:solidFill>
                <a:srgbClr val="FF0066"/>
              </a:solidFill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en-US" dirty="0">
              <a:solidFill>
                <a:srgbClr val="FF0066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20245696-9CE8-4FC7-BC3D-C43A86034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6350" y="214313"/>
            <a:ext cx="7664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of Detection Algorithm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CBEDF2A5-8F09-4357-9519-FCAE0F3F3B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55835" y="1108076"/>
            <a:ext cx="9107380" cy="5749924"/>
          </a:xfrm>
        </p:spPr>
        <p:txBody>
          <a:bodyPr>
            <a:normAutofit lnSpcReduction="10000"/>
          </a:bodyPr>
          <a:lstStyle/>
          <a:p>
            <a:pPr algn="l"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Five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 through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dirty="0"/>
              <a:t>;</a:t>
            </a:r>
            <a:r>
              <a:rPr lang="en-US" altLang="en-US" baseline="-25000" dirty="0"/>
              <a:t> </a:t>
            </a:r>
            <a:r>
              <a:rPr lang="en-US" altLang="en-US" dirty="0"/>
              <a:t>three resource types </a:t>
            </a:r>
            <a:br>
              <a:rPr lang="en-US" altLang="en-US" dirty="0"/>
            </a:br>
            <a:r>
              <a:rPr lang="en-US" altLang="en-US" dirty="0"/>
              <a:t>A (7 instances), </a:t>
            </a:r>
            <a:r>
              <a:rPr lang="en-US" altLang="en-US" i="1" dirty="0"/>
              <a:t>B </a:t>
            </a:r>
            <a:r>
              <a:rPr lang="en-US" altLang="en-US" dirty="0"/>
              <a:t>(2 instances), and </a:t>
            </a:r>
            <a:r>
              <a:rPr lang="en-US" altLang="en-US" i="1" dirty="0"/>
              <a:t>C</a:t>
            </a:r>
            <a:r>
              <a:rPr lang="en-US" altLang="en-US" dirty="0"/>
              <a:t> (6 instances)</a:t>
            </a:r>
          </a:p>
          <a:p>
            <a:pPr algn="l"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 algn="l"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Snapshot at time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:</a:t>
            </a:r>
          </a:p>
          <a:p>
            <a:pPr algn="l"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Request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</a:p>
          <a:p>
            <a:pPr algn="l"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 	A B C 	A B C</a:t>
            </a:r>
          </a:p>
          <a:p>
            <a:pPr algn="l"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	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 0 1 0    	0 0 0 	0 0 0</a:t>
            </a:r>
          </a:p>
          <a:p>
            <a:pPr algn="l"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	P</a:t>
            </a:r>
            <a:r>
              <a:rPr lang="en-US" altLang="en-US" baseline="-25000" dirty="0"/>
              <a:t>1</a:t>
            </a:r>
            <a:r>
              <a:rPr lang="en-US" altLang="en-US" dirty="0"/>
              <a:t>	2 0 0 	2 0 2</a:t>
            </a:r>
          </a:p>
          <a:p>
            <a:pPr algn="l"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	P</a:t>
            </a:r>
            <a:r>
              <a:rPr lang="en-US" altLang="en-US" baseline="-25000" dirty="0"/>
              <a:t>2</a:t>
            </a:r>
            <a:r>
              <a:rPr lang="en-US" altLang="en-US" dirty="0"/>
              <a:t>	    3 0 3        0 0 0 </a:t>
            </a:r>
          </a:p>
          <a:p>
            <a:pPr algn="l"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  	P</a:t>
            </a:r>
            <a:r>
              <a:rPr lang="en-US" altLang="en-US" baseline="-25000" dirty="0"/>
              <a:t>3</a:t>
            </a:r>
            <a:r>
              <a:rPr lang="en-US" altLang="en-US" dirty="0"/>
              <a:t>	2 1 1 	1 0 0 </a:t>
            </a:r>
          </a:p>
          <a:p>
            <a:pPr algn="l"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	</a:t>
            </a:r>
            <a:r>
              <a:rPr lang="en-US" altLang="en-US" i="1" dirty="0"/>
              <a:t>P</a:t>
            </a:r>
            <a:r>
              <a:rPr lang="en-US" altLang="en-US" baseline="-25000" dirty="0"/>
              <a:t>4	</a:t>
            </a:r>
            <a:r>
              <a:rPr lang="en-US" altLang="en-US" dirty="0"/>
              <a:t>0 0 2 	0 0 2</a:t>
            </a:r>
          </a:p>
          <a:p>
            <a:pPr algn="l"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 algn="l"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Sequence &lt;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0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2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3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4</a:t>
            </a:r>
            <a:r>
              <a:rPr lang="en-US" altLang="en-US" dirty="0"/>
              <a:t>&gt; will result in </a:t>
            </a:r>
            <a:r>
              <a:rPr lang="en-US" altLang="en-US" b="1" i="1" dirty="0"/>
              <a:t>Finish[i] = true </a:t>
            </a:r>
            <a:r>
              <a:rPr lang="en-US" altLang="en-US" dirty="0"/>
              <a:t>for all </a:t>
            </a:r>
            <a:r>
              <a:rPr lang="en-US" altLang="en-US" b="1" i="1" dirty="0"/>
              <a:t>i</a:t>
            </a:r>
            <a:endParaRPr lang="en-US" altLang="en-US" b="1" dirty="0"/>
          </a:p>
          <a:p>
            <a:pPr algn="l"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DA86E4C4-151E-4B29-AF3A-94D82C4FF0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143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198FFF5E-8931-4A8B-8BF7-20846C289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4041" y="1233489"/>
            <a:ext cx="9308335" cy="5419559"/>
          </a:xfrm>
        </p:spPr>
        <p:txBody>
          <a:bodyPr>
            <a:normAutofit/>
          </a:bodyPr>
          <a:lstStyle/>
          <a:p>
            <a:pPr>
              <a:tabLst>
                <a:tab pos="2800350" algn="l"/>
                <a:tab pos="3708400" algn="ctr"/>
              </a:tabLst>
            </a:pP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 requests an additional instance of type</a:t>
            </a:r>
            <a:r>
              <a:rPr lang="en-US" altLang="en-US" i="1" dirty="0"/>
              <a:t> </a:t>
            </a:r>
            <a:r>
              <a:rPr lang="en-US" altLang="en-US" b="1" i="1" dirty="0"/>
              <a:t>C</a:t>
            </a:r>
            <a:endParaRPr lang="en-US" altLang="en-US" b="1" dirty="0"/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Request</a:t>
            </a:r>
            <a:endParaRPr lang="en-US" altLang="en-US" i="1" dirty="0"/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i="1" dirty="0"/>
              <a:t>			A B C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0 0 0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	2 0 2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0 0 1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1 0 0 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endParaRPr lang="en-US" altLang="en-US" sz="800" dirty="0"/>
          </a:p>
          <a:p>
            <a:pPr>
              <a:tabLst>
                <a:tab pos="2800350" algn="l"/>
                <a:tab pos="3708400" algn="ctr"/>
              </a:tabLst>
            </a:pPr>
            <a:r>
              <a:rPr lang="en-US" altLang="en-US" dirty="0"/>
              <a:t>State of system?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Can reclaim resources held by process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, but insufficient resources to fulfill other processes; requests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Deadlock exists, consisting of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baseline="-25000" dirty="0"/>
              <a:t>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dirty="0"/>
              <a:t>, and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endParaRPr lang="en-US" altLang="en-US" b="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36488-56C5-4C8A-9544-2BCD70533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(Cont.)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B96858-0855-4131-B958-C1F577484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953"/>
          <a:stretch/>
        </p:blipFill>
        <p:spPr>
          <a:xfrm>
            <a:off x="2682163" y="1572126"/>
            <a:ext cx="7021807" cy="350858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66E3F2-E587-4C17-93BA-874B7D77A0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7"/>
          <a:stretch/>
        </p:blipFill>
        <p:spPr>
          <a:xfrm>
            <a:off x="5566610" y="1538788"/>
            <a:ext cx="1189094" cy="37871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FAAB00-1CDA-4B12-87F5-5EB3FCAB74AC}"/>
              </a:ext>
            </a:extLst>
          </p:cNvPr>
          <p:cNvSpPr txBox="1"/>
          <p:nvPr/>
        </p:nvSpPr>
        <p:spPr>
          <a:xfrm>
            <a:off x="2414337" y="5299048"/>
            <a:ext cx="78205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800350" algn="l"/>
                <a:tab pos="3708400" algn="ctr"/>
              </a:tabLst>
            </a:pPr>
            <a:r>
              <a:rPr lang="en-US" altLang="en-US" b="1" dirty="0"/>
              <a:t>State of system?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Can reclaim resources held by process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, but insufficient resources to fulfill other processes; requests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 dirty="0"/>
              <a:t>Deadlock exists, consisting of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baseline="-25000" dirty="0"/>
              <a:t>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dirty="0"/>
              <a:t>, and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3764549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0D4BC432-7638-454C-8A48-5A8BCB25F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24138" y="230188"/>
            <a:ext cx="7586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Detection-Algorithm Usage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158D4C12-F6CC-4793-92BE-5D929F7ED7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93950" y="1122364"/>
            <a:ext cx="7742205" cy="4530725"/>
          </a:xfrm>
        </p:spPr>
        <p:txBody>
          <a:bodyPr>
            <a:normAutofit/>
          </a:bodyPr>
          <a:lstStyle/>
          <a:p>
            <a:r>
              <a:rPr lang="en-US" altLang="en-US" dirty="0"/>
              <a:t>When, and how often, to invoke depends on:</a:t>
            </a:r>
          </a:p>
          <a:p>
            <a:pPr lvl="1"/>
            <a:r>
              <a:rPr lang="en-US" altLang="en-US" dirty="0"/>
              <a:t>How often a deadlock is likely to occur?</a:t>
            </a:r>
          </a:p>
          <a:p>
            <a:pPr lvl="1"/>
            <a:r>
              <a:rPr lang="en-US" altLang="en-US" dirty="0"/>
              <a:t>How many processes will need to be rolled back?</a:t>
            </a:r>
          </a:p>
          <a:p>
            <a:pPr lvl="2" algn="l"/>
            <a:r>
              <a:rPr lang="en-US" altLang="en-US" dirty="0"/>
              <a:t>one for each disjoint cycle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If detection algorithm is invoked arbitrarily, there may be many cycles in the resource graph and so we would not be able to tell which of the many deadlocked processes </a:t>
            </a:r>
            <a:r>
              <a:rPr lang="ja-JP" altLang="en-US" dirty="0"/>
              <a:t>“</a:t>
            </a:r>
            <a:r>
              <a:rPr lang="en-US" altLang="ja-JP" dirty="0"/>
              <a:t>caused</a:t>
            </a:r>
            <a:r>
              <a:rPr lang="ja-JP" altLang="en-US" dirty="0"/>
              <a:t>”</a:t>
            </a:r>
            <a:r>
              <a:rPr lang="en-US" altLang="ja-JP" dirty="0"/>
              <a:t> the deadlock.</a:t>
            </a:r>
            <a:endParaRPr lang="en-US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1AC46895-F09F-4AA8-B270-CB5567B1C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40732" y="359230"/>
            <a:ext cx="8588375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Recovery from Deadlock:  Process Termination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38916639-ABF6-4FC4-8E81-7F4537AFC9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03131" y="1108076"/>
            <a:ext cx="8779094" cy="5592269"/>
          </a:xfrm>
        </p:spPr>
        <p:txBody>
          <a:bodyPr>
            <a:noAutofit/>
          </a:bodyPr>
          <a:lstStyle/>
          <a:p>
            <a:r>
              <a:rPr lang="en-US" altLang="en-US" sz="2800" dirty="0"/>
              <a:t>Abort all deadlocked processes</a:t>
            </a:r>
          </a:p>
          <a:p>
            <a:br>
              <a:rPr lang="en-US" altLang="en-US" sz="2800" dirty="0"/>
            </a:br>
            <a:r>
              <a:rPr lang="en-US" altLang="en-US" sz="2800" dirty="0"/>
              <a:t>Abort one process at a time until the deadlock cycle is eliminated</a:t>
            </a:r>
          </a:p>
          <a:p>
            <a:endParaRPr lang="en-US" altLang="en-US" sz="2800" dirty="0"/>
          </a:p>
          <a:p>
            <a:r>
              <a:rPr lang="en-US" altLang="en-US" sz="2800" dirty="0"/>
              <a:t>In which order should we choose to abort?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400" dirty="0"/>
              <a:t>Priority of the process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400" dirty="0"/>
              <a:t>How long process has computed, and how much longer to completion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400" dirty="0"/>
              <a:t>Resources the process has used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400" dirty="0"/>
              <a:t>Resources process needs to complete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400" dirty="0"/>
              <a:t>How many processes will need to be terminated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400" dirty="0"/>
              <a:t>Is process interactive or batch?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019776DB-F4CF-4A0D-88E0-0C4A9C46D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86572" y="348894"/>
            <a:ext cx="8020050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Recovery from Deadlock:  Resource Preemption</a:t>
            </a:r>
          </a:p>
        </p:txBody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1EC2BE65-1915-4205-9A59-81178CB325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10784" y="1434717"/>
            <a:ext cx="9299409" cy="4483100"/>
          </a:xfrm>
        </p:spPr>
        <p:txBody>
          <a:bodyPr>
            <a:normAutofit/>
          </a:bodyPr>
          <a:lstStyle/>
          <a:p>
            <a:r>
              <a:rPr lang="en-US" altLang="en-US" sz="3200" b="1" dirty="0"/>
              <a:t>Selecting a victim </a:t>
            </a:r>
            <a:r>
              <a:rPr lang="en-US" altLang="en-US" sz="3200" dirty="0"/>
              <a:t>– minimize cost</a:t>
            </a:r>
            <a:br>
              <a:rPr lang="en-US" altLang="en-US" sz="3200" dirty="0"/>
            </a:br>
            <a:endParaRPr lang="en-US" altLang="en-US" sz="3200" dirty="0"/>
          </a:p>
          <a:p>
            <a:r>
              <a:rPr lang="en-US" altLang="en-US" sz="3200" b="1" dirty="0"/>
              <a:t>Rollback</a:t>
            </a:r>
            <a:r>
              <a:rPr lang="en-US" altLang="en-US" sz="3200" dirty="0"/>
              <a:t> – return to some safe state, restart process for that state</a:t>
            </a:r>
            <a:br>
              <a:rPr lang="en-US" altLang="en-US" sz="3200" dirty="0"/>
            </a:br>
            <a:endParaRPr lang="en-US" altLang="en-US" sz="3200" dirty="0"/>
          </a:p>
          <a:p>
            <a:r>
              <a:rPr lang="en-US" altLang="en-US" sz="3200" b="1" dirty="0"/>
              <a:t>Starvation</a:t>
            </a:r>
            <a:r>
              <a:rPr lang="en-US" altLang="en-US" sz="3200" dirty="0"/>
              <a:t> –  same process may always be picked as victim, include number of rollback in cost factor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S UMT fin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S UMT final" id="{CBCE36D3-05F5-44F6-A4CC-389087D412BE}" vid="{0986A359-476F-454E-A987-D9FB90AED5D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 UMT final</Template>
  <TotalTime>11804</TotalTime>
  <Words>2909</Words>
  <Application>Microsoft Office PowerPoint</Application>
  <PresentationFormat>Widescreen</PresentationFormat>
  <Paragraphs>350</Paragraphs>
  <Slides>47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9" baseType="lpstr">
      <vt:lpstr>Arial</vt:lpstr>
      <vt:lpstr>Helvetica</vt:lpstr>
      <vt:lpstr>Monotype Sorts</vt:lpstr>
      <vt:lpstr>PalatinoLTStd-Roman</vt:lpstr>
      <vt:lpstr>Times New Roman</vt:lpstr>
      <vt:lpstr>Tw Cen MT</vt:lpstr>
      <vt:lpstr>Tw Cen MT (Body)</vt:lpstr>
      <vt:lpstr>Tw Cen MT Condensed</vt:lpstr>
      <vt:lpstr>Verdana</vt:lpstr>
      <vt:lpstr>Webdings</vt:lpstr>
      <vt:lpstr>Wingdings 3</vt:lpstr>
      <vt:lpstr>OS UMT final</vt:lpstr>
      <vt:lpstr>Chapter 8:  Deadlocks</vt:lpstr>
      <vt:lpstr>DEFINITION OF DEADLOCK  </vt:lpstr>
      <vt:lpstr>DEADLOCK example </vt:lpstr>
      <vt:lpstr>System Model</vt:lpstr>
      <vt:lpstr>Deadlock Characterization</vt:lpstr>
      <vt:lpstr>Deadlock Characterization</vt:lpstr>
      <vt:lpstr>Resource-Allocation Graph</vt:lpstr>
      <vt:lpstr>Resource-Allocation Graph (Cont.)</vt:lpstr>
      <vt:lpstr>Example of a Resource Allocation Graph</vt:lpstr>
      <vt:lpstr>Resource Allocation Graph With A Deadlock</vt:lpstr>
      <vt:lpstr>Graph With A Cycle But No Deadlock</vt:lpstr>
      <vt:lpstr>Basic Facts</vt:lpstr>
      <vt:lpstr>Methods for Handling Deadlocks</vt:lpstr>
      <vt:lpstr>Which of the following graph contain Deadlock?</vt:lpstr>
      <vt:lpstr>Methods for Handling Deadlocks</vt:lpstr>
      <vt:lpstr>Deadlock Prevention</vt:lpstr>
      <vt:lpstr>Deadlock Prevention (Cont.)</vt:lpstr>
      <vt:lpstr>Deadlock Avoidance</vt:lpstr>
      <vt:lpstr>Safe State</vt:lpstr>
      <vt:lpstr>Safe State</vt:lpstr>
      <vt:lpstr>Basic Facts</vt:lpstr>
      <vt:lpstr>Safe, Unsafe, Deadlock State </vt:lpstr>
      <vt:lpstr>Avoidance Algorithms</vt:lpstr>
      <vt:lpstr>Resource-Allocation Graph Scheme</vt:lpstr>
      <vt:lpstr>Resource-Allocation Graph</vt:lpstr>
      <vt:lpstr>Unsafe State In Resource-Allocation Graph</vt:lpstr>
      <vt:lpstr>Resource-Allocation Graph Algorithm</vt:lpstr>
      <vt:lpstr>Banker’s Algorithm</vt:lpstr>
      <vt:lpstr>Data Structures for the Banker’s Algorithm </vt:lpstr>
      <vt:lpstr>Safety Algorithm</vt:lpstr>
      <vt:lpstr>Resource-Request Algorithm for Process Pi</vt:lpstr>
      <vt:lpstr>Example of Banker’s Algorithm</vt:lpstr>
      <vt:lpstr>Example (Cont.)</vt:lpstr>
      <vt:lpstr>Example of Banker’s Algorithm</vt:lpstr>
      <vt:lpstr>Example:  P1 Request (1,0,2)</vt:lpstr>
      <vt:lpstr>Deadlock Detection</vt:lpstr>
      <vt:lpstr>Single Instance of Each Resource Type</vt:lpstr>
      <vt:lpstr>Resource-Allocation Graph and  Wait-for Graph</vt:lpstr>
      <vt:lpstr>Several Instances of a Resource Type</vt:lpstr>
      <vt:lpstr>Detection Algorithm</vt:lpstr>
      <vt:lpstr>Detection Algorithm (Cont.)</vt:lpstr>
      <vt:lpstr>Example of Detection Algorithm</vt:lpstr>
      <vt:lpstr>Example (Cont.)</vt:lpstr>
      <vt:lpstr>Example (Cont.)</vt:lpstr>
      <vt:lpstr>Detection-Algorithm Usage</vt:lpstr>
      <vt:lpstr>Recovery from Deadlock:  Process Termination</vt:lpstr>
      <vt:lpstr>Recovery from Deadlock:  Resource Preemption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Ayesha Asmat</cp:lastModifiedBy>
  <cp:revision>242</cp:revision>
  <cp:lastPrinted>2013-09-10T17:57:57Z</cp:lastPrinted>
  <dcterms:created xsi:type="dcterms:W3CDTF">2011-01-13T23:43:38Z</dcterms:created>
  <dcterms:modified xsi:type="dcterms:W3CDTF">2026-05-13T08:54:19Z</dcterms:modified>
</cp:coreProperties>
</file>