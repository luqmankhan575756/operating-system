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1" r:id="rId1"/>
  </p:sldMasterIdLst>
  <p:notesMasterIdLst>
    <p:notesMasterId r:id="rId26"/>
  </p:notesMasterIdLst>
  <p:handoutMasterIdLst>
    <p:handoutMasterId r:id="rId27"/>
  </p:handoutMasterIdLst>
  <p:sldIdLst>
    <p:sldId id="326" r:id="rId2"/>
    <p:sldId id="300" r:id="rId3"/>
    <p:sldId id="301" r:id="rId4"/>
    <p:sldId id="304" r:id="rId5"/>
    <p:sldId id="335" r:id="rId6"/>
    <p:sldId id="302" r:id="rId7"/>
    <p:sldId id="305" r:id="rId8"/>
    <p:sldId id="336" r:id="rId9"/>
    <p:sldId id="282" r:id="rId10"/>
    <p:sldId id="283" r:id="rId11"/>
    <p:sldId id="337" r:id="rId12"/>
    <p:sldId id="338" r:id="rId13"/>
    <p:sldId id="374" r:id="rId14"/>
    <p:sldId id="378" r:id="rId15"/>
    <p:sldId id="325" r:id="rId16"/>
    <p:sldId id="316" r:id="rId17"/>
    <p:sldId id="317" r:id="rId18"/>
    <p:sldId id="343" r:id="rId19"/>
    <p:sldId id="344" r:id="rId20"/>
    <p:sldId id="345" r:id="rId21"/>
    <p:sldId id="346" r:id="rId22"/>
    <p:sldId id="322" r:id="rId23"/>
    <p:sldId id="323" r:id="rId24"/>
    <p:sldId id="324" r:id="rId25"/>
  </p:sldIdLst>
  <p:sldSz cx="9144000" cy="6858000" type="screen4x3"/>
  <p:notesSz cx="6940550" cy="90805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9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9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9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9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9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9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9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9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9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80" autoAdjust="0"/>
    <p:restoredTop sz="92687" autoAdjust="0"/>
  </p:normalViewPr>
  <p:slideViewPr>
    <p:cSldViewPr>
      <p:cViewPr varScale="1">
        <p:scale>
          <a:sx n="59" d="100"/>
          <a:sy n="59" d="100"/>
        </p:scale>
        <p:origin x="1800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8313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50000"/>
              </a:spcBef>
              <a:defRPr sz="1200"/>
            </a:lvl1pPr>
          </a:lstStyle>
          <a:p>
            <a:pPr>
              <a:defRPr/>
            </a:pPr>
            <a:r>
              <a:rPr lang="en-US" altLang="en-US"/>
              <a:t>September 30, 2002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32238" y="0"/>
            <a:ext cx="3008312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200"/>
            </a:lvl1pPr>
          </a:lstStyle>
          <a:p>
            <a:pPr>
              <a:defRPr/>
            </a:pPr>
            <a:r>
              <a:rPr lang="en-US" altLang="en-US"/>
              <a:t>March 26, 2001</a:t>
            </a:r>
          </a:p>
        </p:txBody>
      </p:sp>
      <p:sp>
        <p:nvSpPr>
          <p:cNvPr id="276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26475"/>
            <a:ext cx="3008313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50000"/>
              </a:spcBef>
              <a:defRPr sz="1200"/>
            </a:lvl1pPr>
          </a:lstStyle>
          <a:p>
            <a:pPr>
              <a:defRPr/>
            </a:pPr>
            <a:r>
              <a:rPr lang="en-US" altLang="en-US"/>
              <a:t>CSE 451 Introduction to Operating Systems</a:t>
            </a:r>
          </a:p>
        </p:txBody>
      </p:sp>
      <p:sp>
        <p:nvSpPr>
          <p:cNvPr id="276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32238" y="8626475"/>
            <a:ext cx="3008312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200"/>
            </a:lvl1pPr>
          </a:lstStyle>
          <a:p>
            <a:pPr>
              <a:defRPr/>
            </a:pPr>
            <a:fld id="{B8E6EEF1-81C5-45F8-A680-6D135D4C617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64602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8313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200"/>
            </a:lvl1pPr>
          </a:lstStyle>
          <a:p>
            <a:pPr>
              <a:defRPr/>
            </a:pPr>
            <a:r>
              <a:rPr lang="en-US" altLang="en-US"/>
              <a:t>September 30, 2002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32238" y="0"/>
            <a:ext cx="3008312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/>
            </a:lvl1pPr>
          </a:lstStyle>
          <a:p>
            <a:pPr>
              <a:defRPr/>
            </a:pPr>
            <a:r>
              <a:rPr lang="en-US" altLang="en-US"/>
              <a:t>March 26, 2001</a:t>
            </a:r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00150" y="681038"/>
            <a:ext cx="4540250" cy="34051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5513" y="4313238"/>
            <a:ext cx="5089525" cy="408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26475"/>
            <a:ext cx="3008313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200"/>
            </a:lvl1pPr>
          </a:lstStyle>
          <a:p>
            <a:pPr>
              <a:defRPr/>
            </a:pPr>
            <a:r>
              <a:rPr lang="en-US" altLang="en-US"/>
              <a:t>CSE 451 Introduction to Operating Systems</a:t>
            </a:r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32238" y="8626475"/>
            <a:ext cx="3008312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/>
            </a:lvl1pPr>
          </a:lstStyle>
          <a:p>
            <a:pPr>
              <a:defRPr/>
            </a:pPr>
            <a:fld id="{5811A0E1-5293-4DBF-9705-D61B262817B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4406141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>
            <a:extLst>
              <a:ext uri="{FF2B5EF4-FFF2-40B4-BE49-F238E27FC236}">
                <a16:creationId xmlns:a16="http://schemas.microsoft.com/office/drawing/2014/main" id="{5776ACBD-4645-43B7-892F-697D57D495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0CF72FA-BC85-4452-9FD4-6F163D5E4845}" type="slidenum">
              <a:rPr lang="en-US" altLang="en-US" smtClean="0">
                <a:latin typeface="Times New Roman" panose="02020603050405020304" pitchFamily="18" charset="0"/>
              </a:rPr>
              <a:pPr/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48A88ED8-0C05-4DF8-A678-F55DA039B3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00150" y="704850"/>
            <a:ext cx="4687888" cy="3514725"/>
          </a:xfrm>
          <a:ln/>
        </p:spPr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374978C2-165A-418A-AF53-B86870696A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12398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September 30, 2002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CSE 451 Introduction to Operating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11A0E1-5293-4DBF-9705-D61B262817BA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142078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B3B691F4-8A83-4EB6-9CC2-A3360F1AD4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2" name="Rectangle 3">
            <a:extLst>
              <a:ext uri="{FF2B5EF4-FFF2-40B4-BE49-F238E27FC236}">
                <a16:creationId xmlns:a16="http://schemas.microsoft.com/office/drawing/2014/main" id="{EF4246C7-27CE-4111-80E3-59FD3BCD55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7">
            <a:extLst>
              <a:ext uri="{FF2B5EF4-FFF2-40B4-BE49-F238E27FC236}">
                <a16:creationId xmlns:a16="http://schemas.microsoft.com/office/drawing/2014/main" id="{A989082A-5E14-437A-8593-A083C9E0BC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319C771-0D6A-4807-BCDD-77C1F2EE8271}" type="slidenum">
              <a:rPr lang="en-US" altLang="en-US" smtClean="0">
                <a:latin typeface="Helvetica" panose="020B0604020202020204" pitchFamily="34" charset="0"/>
              </a:rPr>
              <a:pPr/>
              <a:t>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2AC42077-757B-4A4C-8A05-7B590F2EC1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AC753078-9E5A-48E2-813D-E5D6523990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B998348D-9A8E-4A1B-A5CC-88DB5AB929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8" name="Rectangle 3">
            <a:extLst>
              <a:ext uri="{FF2B5EF4-FFF2-40B4-BE49-F238E27FC236}">
                <a16:creationId xmlns:a16="http://schemas.microsoft.com/office/drawing/2014/main" id="{677410E8-14CB-430D-9C9B-CA14C8C01E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2CB3E8E7-C086-4355-9CE8-18739774E7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D7150505-875B-411A-8576-2DD58804D9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B2858C04-233B-4F84-8B85-EA895CEAF2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4" name="Rectangle 3">
            <a:extLst>
              <a:ext uri="{FF2B5EF4-FFF2-40B4-BE49-F238E27FC236}">
                <a16:creationId xmlns:a16="http://schemas.microsoft.com/office/drawing/2014/main" id="{7E4843CC-89D3-47B0-BBCC-C97C1F2F47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896747"/>
            <a:fld id="{77DC38DA-93BA-4A5C-8266-8FFED8D37C26}" type="slidenum">
              <a:rPr lang="en-US" altLang="en-US" smtClean="0">
                <a:latin typeface="Helvetica" pitchFamily="-84" charset="0"/>
              </a:rPr>
              <a:pPr defTabSz="896747"/>
              <a:t>16</a:t>
            </a:fld>
            <a:endParaRPr lang="en-US" altLang="en-US" dirty="0">
              <a:latin typeface="Helvetica" pitchFamily="-84" charset="0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896747"/>
            <a:fld id="{6C0A71CE-A03B-428B-94C6-18B1E9CD4609}" type="slidenum">
              <a:rPr lang="en-US" altLang="en-US" smtClean="0">
                <a:latin typeface="Helvetica" pitchFamily="-84" charset="0"/>
              </a:rPr>
              <a:pPr defTabSz="896747"/>
              <a:t>17</a:t>
            </a:fld>
            <a:endParaRPr lang="en-US" altLang="en-US" dirty="0">
              <a:latin typeface="Helvetica" pitchFamily="-84" charset="0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>
            <a:extLst>
              <a:ext uri="{FF2B5EF4-FFF2-40B4-BE49-F238E27FC236}">
                <a16:creationId xmlns:a16="http://schemas.microsoft.com/office/drawing/2014/main" id="{EB8C0B8A-AD96-4A57-B567-49E824FFE3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B6B8074-FFAA-46E8-A8E7-A2DF12801B2C}" type="slidenum">
              <a:rPr lang="en-US" altLang="en-US" smtClean="0">
                <a:latin typeface="Helvetica" panose="020B0604020202020204" pitchFamily="34" charset="0"/>
              </a:rPr>
              <a:pPr/>
              <a:t>18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6F09C86C-58BC-4607-981A-D231C591FC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0398BD5B-BC5C-4CDB-9D48-4CA967CB7D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>
            <a:extLst>
              <a:ext uri="{FF2B5EF4-FFF2-40B4-BE49-F238E27FC236}">
                <a16:creationId xmlns:a16="http://schemas.microsoft.com/office/drawing/2014/main" id="{2C789749-18B6-4527-94FF-59E54FAC3E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7C39C-CCD1-4085-91E8-2B527B8A2188}" type="slidenum">
              <a:rPr lang="en-US" altLang="en-US" smtClean="0">
                <a:latin typeface="Helvetica" panose="020B0604020202020204" pitchFamily="34" charset="0"/>
              </a:rPr>
              <a:pPr/>
              <a:t>19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30A9510C-2BDE-4137-877F-7D3AEFD825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2C693E25-AC6E-41AC-A5E3-4037EB9E40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>
            <a:extLst>
              <a:ext uri="{FF2B5EF4-FFF2-40B4-BE49-F238E27FC236}">
                <a16:creationId xmlns:a16="http://schemas.microsoft.com/office/drawing/2014/main" id="{466CBFBC-E533-4BF2-B5D5-3A45F5C190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A8AF47D-CB37-4C77-9E61-6FE982C48A6C}" type="slidenum">
              <a:rPr lang="en-US" altLang="en-US" smtClean="0">
                <a:latin typeface="Helvetica" panose="020B0604020202020204" pitchFamily="34" charset="0"/>
              </a:rPr>
              <a:pPr/>
              <a:t>20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38914" name="Rectangle 2">
            <a:extLst>
              <a:ext uri="{FF2B5EF4-FFF2-40B4-BE49-F238E27FC236}">
                <a16:creationId xmlns:a16="http://schemas.microsoft.com/office/drawing/2014/main" id="{77584299-1856-48BE-B736-7EC68096B1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17E5BFC8-6F28-4BDE-8F1C-CE906E2BFF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7">
            <a:extLst>
              <a:ext uri="{FF2B5EF4-FFF2-40B4-BE49-F238E27FC236}">
                <a16:creationId xmlns:a16="http://schemas.microsoft.com/office/drawing/2014/main" id="{13071C3A-881C-48B3-B309-1D92C9DD80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6B73719-6FB6-4E20-AE32-14616D4F0E63}" type="slidenum">
              <a:rPr lang="en-US" altLang="en-US" smtClean="0">
                <a:latin typeface="Helvetica" panose="020B0604020202020204" pitchFamily="34" charset="0"/>
              </a:rPr>
              <a:pPr/>
              <a:t>21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40962" name="Rectangle 2">
            <a:extLst>
              <a:ext uri="{FF2B5EF4-FFF2-40B4-BE49-F238E27FC236}">
                <a16:creationId xmlns:a16="http://schemas.microsoft.com/office/drawing/2014/main" id="{1D8F37CA-C0AA-4EA5-95A9-4F33D4E5D4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CFEE2A4B-553A-4DCA-8D0B-3BB07C4342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896747"/>
            <a:fld id="{84338CDB-F478-40EE-8CEE-4E78BD06B21C}" type="slidenum">
              <a:rPr lang="en-US" altLang="en-US" smtClean="0">
                <a:latin typeface="Helvetica" pitchFamily="-84" charset="0"/>
              </a:rPr>
              <a:pPr defTabSz="896747"/>
              <a:t>23</a:t>
            </a:fld>
            <a:endParaRPr lang="en-US" altLang="en-US" dirty="0">
              <a:latin typeface="Helvetica" pitchFamily="-84" charset="0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B1BB923-3AF3-4C5A-8C03-B84C07270C07}" type="datetime1">
              <a:rPr lang="en-US" altLang="en-US" smtClean="0"/>
              <a:t>5/4/2026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C59ADA-32B2-4539-ACA6-B1C0AF95BC25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9CD7E30-C85B-470D-9F56-DC8DEBB30002}" type="datetime1">
              <a:rPr lang="en-US" altLang="en-US" smtClean="0"/>
              <a:t>5/4/2026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FED5DF-F914-4921-9A8E-CF0F7F79629E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1922AC3-1727-4DA1-976F-C1227FF783BE}" type="datetime1">
              <a:rPr lang="en-US" altLang="en-US" smtClean="0"/>
              <a:t>5/4/2026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6ED246-BC46-4BC9-A84D-FAE9F628E71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73CF0E2-4C02-4A93-AD46-52F059639210}" type="datetime1">
              <a:rPr lang="en-US" altLang="en-US" smtClean="0"/>
              <a:t>5/4/2026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769B37-EB88-4B2C-B23F-3A8BC9B1E6C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EB2AE97-9224-4AC6-80C6-DE85BF505CA2}" type="datetime1">
              <a:rPr lang="en-US" altLang="en-US" smtClean="0"/>
              <a:t>5/4/2026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1BD62E-717F-4CE9-97F6-F74DBE10DA4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6BB82BF-7130-4505-87E8-2A475CE338C9}" type="datetime1">
              <a:rPr lang="en-US" altLang="en-US" smtClean="0"/>
              <a:t>5/4/2026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88D066-E613-458B-86D2-DAEC61A09BF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946766A-2016-4DA0-8499-95EB57E88896}" type="datetime1">
              <a:rPr lang="en-US" altLang="en-US" smtClean="0"/>
              <a:t>5/4/2026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0AEA3F-300A-4974-955C-61CF3A23A025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3887D88-9268-46A4-AB30-56382B1CB5D8}" type="datetime1">
              <a:rPr lang="en-US" altLang="en-US" smtClean="0"/>
              <a:t>5/4/2026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450921-8799-42F9-8A2D-4FCF86C3D99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FE17AD6-F508-4D14-B3B4-352BEC4AB396}" type="datetime1">
              <a:rPr lang="en-US" altLang="en-US" smtClean="0"/>
              <a:t>5/4/2026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931D94-1271-475D-B532-3B96038E048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CECD1E9-6B16-43A3-9859-54CF659C0C58}" type="datetime1">
              <a:rPr lang="en-US" altLang="en-US" smtClean="0"/>
              <a:t>5/4/2026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AE3D8C-9BF5-4325-B4BF-A85BC83C779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CE825C2-0701-409E-BD38-7D6D5A7EE10C}" type="datetime1">
              <a:rPr lang="en-US" altLang="en-US" smtClean="0"/>
              <a:t>5/4/2026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836AA1B-B473-446D-9B1D-E0CCB529D4B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99D50F-A77E-41D7-A370-AB4C683D2DAC}" type="datetime1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6BA35B-3B27-4F32-8077-5144489485A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737925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152635" y="1928646"/>
            <a:ext cx="5732059" cy="2127250"/>
          </a:xfrm>
        </p:spPr>
        <p:txBody>
          <a:bodyPr/>
          <a:lstStyle>
            <a:lvl1pPr>
              <a:defRPr sz="24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 descr="Image result for umt logo">
            <a:extLst>
              <a:ext uri="{FF2B5EF4-FFF2-40B4-BE49-F238E27FC236}">
                <a16:creationId xmlns:a16="http://schemas.microsoft.com/office/drawing/2014/main" id="{3FFFB8F1-AE55-4891-9DA1-CBAFA455F5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9254" y="1928646"/>
            <a:ext cx="2107118" cy="2127250"/>
          </a:xfrm>
          <a:prstGeom prst="rect">
            <a:avLst/>
          </a:prstGeom>
          <a:noFill/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64282BF-FBAF-4E94-835C-01FA473C0CF9}"/>
              </a:ext>
            </a:extLst>
          </p:cNvPr>
          <p:cNvCxnSpPr/>
          <p:nvPr/>
        </p:nvCxnSpPr>
        <p:spPr>
          <a:xfrm flipV="1">
            <a:off x="3157972" y="2514600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2137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72DC10-1711-4876-B31A-05C90B507395}" type="datetime1">
              <a:rPr lang="en-US" altLang="en-US" smtClean="0"/>
              <a:t>5/4/2026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E8762F0-E939-400C-9DA2-FC5CF57E803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>
            <a:extLst>
              <a:ext uri="{FF2B5EF4-FFF2-40B4-BE49-F238E27FC236}">
                <a16:creationId xmlns:a16="http://schemas.microsoft.com/office/drawing/2014/main" id="{218F8D62-A6F5-4F18-9BB3-A18FA6B4E22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86000" y="1981200"/>
            <a:ext cx="6362700" cy="1900238"/>
          </a:xfrm>
        </p:spPr>
        <p:txBody>
          <a:bodyPr>
            <a:normAutofit/>
          </a:bodyPr>
          <a:lstStyle/>
          <a:p>
            <a:r>
              <a:rPr lang="en-US" altLang="en-US" sz="3600" dirty="0"/>
              <a:t>Chapter 4:  </a:t>
            </a:r>
            <a:r>
              <a:rPr lang="en-US" sz="3600" dirty="0"/>
              <a:t>Threads &amp; Concurrency</a:t>
            </a:r>
            <a:endParaRPr lang="en-US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599184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944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4800" dirty="0">
                <a:latin typeface="+mn-lt"/>
              </a:rPr>
              <a:t>Issues with Processes</a:t>
            </a:r>
          </a:p>
        </p:txBody>
      </p:sp>
      <p:sp>
        <p:nvSpPr>
          <p:cNvPr id="7171" name="Rectangle 5"/>
          <p:cNvSpPr>
            <a:spLocks noChangeArrowheads="1"/>
          </p:cNvSpPr>
          <p:nvPr/>
        </p:nvSpPr>
        <p:spPr bwMode="auto">
          <a:xfrm>
            <a:off x="685800" y="1676400"/>
            <a:ext cx="84582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en-GB" altLang="en-US" sz="3600" dirty="0">
                <a:latin typeface="+mn-lt"/>
              </a:rPr>
              <a:t>The fork() system call is expensive</a:t>
            </a:r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en-GB" altLang="en-US" sz="3600" dirty="0">
                <a:latin typeface="+mn-lt"/>
              </a:rPr>
              <a:t>IPC is required to pass information between a parent and its child processes.</a:t>
            </a:r>
            <a:endParaRPr lang="en-US" altLang="en-US" sz="3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43031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Thread Concept</a:t>
            </a:r>
            <a:endParaRPr lang="en-US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229600" cy="5410200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altLang="en-US" dirty="0"/>
              <a:t>A thread is a “lightweight” process which executes within the address space of a process. </a:t>
            </a:r>
          </a:p>
          <a:p>
            <a:pPr algn="just"/>
            <a:r>
              <a:rPr lang="en-US" altLang="en-US" dirty="0"/>
              <a:t>Most modern applications are multithreaded</a:t>
            </a:r>
          </a:p>
          <a:p>
            <a:pPr algn="just"/>
            <a:r>
              <a:rPr lang="en-US" altLang="en-US" dirty="0"/>
              <a:t>Threads run within application</a:t>
            </a:r>
          </a:p>
          <a:p>
            <a:pPr algn="just"/>
            <a:r>
              <a:rPr lang="en-US" altLang="en-US" dirty="0"/>
              <a:t>Multiple tasks with the application can be implemented by separate threads</a:t>
            </a:r>
          </a:p>
          <a:p>
            <a:pPr lvl="1" algn="just"/>
            <a:r>
              <a:rPr lang="en-US" altLang="en-US" dirty="0"/>
              <a:t>Update display</a:t>
            </a:r>
          </a:p>
          <a:p>
            <a:pPr lvl="1" algn="just"/>
            <a:r>
              <a:rPr lang="en-US" altLang="en-US" dirty="0"/>
              <a:t>Fetch data</a:t>
            </a:r>
          </a:p>
          <a:p>
            <a:pPr lvl="1" algn="just"/>
            <a:r>
              <a:rPr lang="en-US" altLang="en-US" dirty="0"/>
              <a:t>Spell checking</a:t>
            </a:r>
          </a:p>
          <a:p>
            <a:pPr lvl="1" algn="just"/>
            <a:r>
              <a:rPr lang="en-US" altLang="en-US" dirty="0"/>
              <a:t>Answer a network request</a:t>
            </a:r>
          </a:p>
          <a:p>
            <a:pPr algn="just"/>
            <a:r>
              <a:rPr lang="en-US" altLang="en-US" dirty="0"/>
              <a:t>A thread can be scheduled to run on a CPU as an independent unit and terminate.</a:t>
            </a:r>
          </a:p>
          <a:p>
            <a:pPr algn="just"/>
            <a:r>
              <a:rPr lang="en-US" altLang="en-US" dirty="0"/>
              <a:t>Multiple threads can run simultaneously.</a:t>
            </a:r>
          </a:p>
        </p:txBody>
      </p:sp>
    </p:spTree>
    <p:extLst>
      <p:ext uri="{BB962C8B-B14F-4D97-AF65-F5344CB8AC3E}">
        <p14:creationId xmlns:p14="http://schemas.microsoft.com/office/powerpoint/2010/main" val="4038806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Single and Multithreaded Processes</a:t>
            </a:r>
            <a:endParaRPr lang="en-US" dirty="0"/>
          </a:p>
        </p:txBody>
      </p:sp>
      <p:pic>
        <p:nvPicPr>
          <p:cNvPr id="11268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7" t="11810" r="2359" b="11565"/>
          <a:stretch>
            <a:fillRect/>
          </a:stretch>
        </p:blipFill>
        <p:spPr>
          <a:xfrm>
            <a:off x="990600" y="1447800"/>
            <a:ext cx="8153400" cy="4861446"/>
          </a:xfrm>
        </p:spPr>
      </p:pic>
    </p:spTree>
    <p:extLst>
      <p:ext uri="{BB962C8B-B14F-4D97-AF65-F5344CB8AC3E}">
        <p14:creationId xmlns:p14="http://schemas.microsoft.com/office/powerpoint/2010/main" val="3803215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">
            <a:extLst>
              <a:ext uri="{FF2B5EF4-FFF2-40B4-BE49-F238E27FC236}">
                <a16:creationId xmlns:a16="http://schemas.microsoft.com/office/drawing/2014/main" id="{FE08425D-ED51-450A-B441-45E2EB4CE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825" y="168870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Multithreaded Server Architecture</a:t>
            </a:r>
          </a:p>
        </p:txBody>
      </p:sp>
      <p:pic>
        <p:nvPicPr>
          <p:cNvPr id="14338" name="Picture 1">
            <a:extLst>
              <a:ext uri="{FF2B5EF4-FFF2-40B4-BE49-F238E27FC236}">
                <a16:creationId xmlns:a16="http://schemas.microsoft.com/office/drawing/2014/main" id="{CF5D0D58-5C7A-45B8-AD7F-B5E9EF9199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200" y="2006600"/>
            <a:ext cx="7966075" cy="284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Thread Concept</a:t>
            </a:r>
            <a:endParaRPr 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Threads have their own</a:t>
            </a:r>
          </a:p>
          <a:p>
            <a:pPr lvl="1"/>
            <a:r>
              <a:rPr lang="en-US" altLang="en-US"/>
              <a:t>Thread ID</a:t>
            </a:r>
          </a:p>
          <a:p>
            <a:pPr lvl="1"/>
            <a:r>
              <a:rPr lang="en-US" altLang="en-US"/>
              <a:t>CPU context (PC, Register set, etc.)</a:t>
            </a:r>
          </a:p>
          <a:p>
            <a:pPr lvl="1"/>
            <a:r>
              <a:rPr lang="en-US" altLang="en-US"/>
              <a:t>Stack</a:t>
            </a:r>
          </a:p>
          <a:p>
            <a:pPr lvl="1"/>
            <a:r>
              <a:rPr lang="en-US" altLang="en-US"/>
              <a:t>Priority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19634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Threads are Similar to Processes</a:t>
            </a:r>
            <a:endParaRPr lang="en-US" dirty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A thread can be in states similar to a process (new, ready, running, blocked, terminated)</a:t>
            </a:r>
          </a:p>
          <a:p>
            <a:endParaRPr lang="en-US" altLang="en-US"/>
          </a:p>
          <a:p>
            <a:r>
              <a:rPr lang="en-US" altLang="en-US"/>
              <a:t>A thread can create another thread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35097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CB64F3E7-BE56-4BF5-89DF-866E7EA88B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2013" y="481242"/>
            <a:ext cx="6951662" cy="31273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Benefits</a:t>
            </a:r>
          </a:p>
        </p:txBody>
      </p:sp>
      <p:sp>
        <p:nvSpPr>
          <p:cNvPr id="16386" name="Rectangle 3">
            <a:extLst>
              <a:ext uri="{FF2B5EF4-FFF2-40B4-BE49-F238E27FC236}">
                <a16:creationId xmlns:a16="http://schemas.microsoft.com/office/drawing/2014/main" id="{AEFC87E0-114C-4BFC-8B34-FD5EF6B87D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108950" cy="5624512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altLang="en-US" b="1" dirty="0"/>
              <a:t>Responsiveness – </a:t>
            </a:r>
            <a:r>
              <a:rPr lang="en-US" altLang="en-US" dirty="0"/>
              <a:t>may allow continued execution if part of process is blocked, especially important for user interfaces</a:t>
            </a:r>
          </a:p>
          <a:p>
            <a:pPr algn="just"/>
            <a:r>
              <a:rPr lang="en-US" altLang="en-US" b="1" dirty="0"/>
              <a:t>Resource Sharing – </a:t>
            </a:r>
            <a:r>
              <a:rPr lang="en-US" altLang="en-US" dirty="0"/>
              <a:t>threads share resources of process, easier than shared memory or message passing</a:t>
            </a:r>
          </a:p>
          <a:p>
            <a:pPr algn="just"/>
            <a:r>
              <a:rPr lang="en-US" altLang="en-US" b="1" dirty="0"/>
              <a:t>Economy – </a:t>
            </a:r>
            <a:r>
              <a:rPr lang="en-US" altLang="en-US" dirty="0"/>
              <a:t>cheaper than process creation, thread switching lower overhead than context switching</a:t>
            </a:r>
          </a:p>
          <a:p>
            <a:pPr algn="just"/>
            <a:r>
              <a:rPr lang="en-US" altLang="en-US" b="1" dirty="0"/>
              <a:t>Scalability – </a:t>
            </a:r>
            <a:r>
              <a:rPr lang="en-US" altLang="en-US" dirty="0"/>
              <a:t>process can take advantage of multicore architectures.</a:t>
            </a:r>
          </a:p>
          <a:p>
            <a:pPr algn="just"/>
            <a:endParaRPr lang="en-US" altLang="en-US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Rot="1" noChangeArrowheads="1"/>
          </p:cNvSpPr>
          <p:nvPr/>
        </p:nvSpPr>
        <p:spPr bwMode="auto">
          <a:xfrm>
            <a:off x="152400" y="381000"/>
            <a:ext cx="88392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TW" sz="4400" dirty="0">
                <a:latin typeface="+mn-lt"/>
              </a:rPr>
              <a:t>Single-Threaded Process</a:t>
            </a:r>
            <a:endParaRPr lang="en-US" altLang="en-US" sz="4400" dirty="0">
              <a:latin typeface="+mn-lt"/>
            </a:endParaRPr>
          </a:p>
        </p:txBody>
      </p:sp>
      <p:sp>
        <p:nvSpPr>
          <p:cNvPr id="6147" name="Line 4"/>
          <p:cNvSpPr>
            <a:spLocks noChangeShapeType="1"/>
          </p:cNvSpPr>
          <p:nvPr/>
        </p:nvSpPr>
        <p:spPr bwMode="auto">
          <a:xfrm flipH="1">
            <a:off x="5486400" y="1752600"/>
            <a:ext cx="152400" cy="1524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 b="1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6148" name="Line 5"/>
          <p:cNvSpPr>
            <a:spLocks noChangeShapeType="1"/>
          </p:cNvSpPr>
          <p:nvPr/>
        </p:nvSpPr>
        <p:spPr bwMode="auto">
          <a:xfrm>
            <a:off x="5486400" y="1905000"/>
            <a:ext cx="152400" cy="1524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 b="1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6149" name="Line 6"/>
          <p:cNvSpPr>
            <a:spLocks noChangeShapeType="1"/>
          </p:cNvSpPr>
          <p:nvPr/>
        </p:nvSpPr>
        <p:spPr bwMode="auto">
          <a:xfrm flipH="1">
            <a:off x="5486400" y="2057400"/>
            <a:ext cx="152400" cy="1524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 b="1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6150" name="Line 7"/>
          <p:cNvSpPr>
            <a:spLocks noChangeShapeType="1"/>
          </p:cNvSpPr>
          <p:nvPr/>
        </p:nvSpPr>
        <p:spPr bwMode="auto">
          <a:xfrm>
            <a:off x="5486400" y="2209800"/>
            <a:ext cx="152400" cy="1524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 b="1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6151" name="Line 8"/>
          <p:cNvSpPr>
            <a:spLocks noChangeShapeType="1"/>
          </p:cNvSpPr>
          <p:nvPr/>
        </p:nvSpPr>
        <p:spPr bwMode="auto">
          <a:xfrm flipH="1">
            <a:off x="5486400" y="2362200"/>
            <a:ext cx="152400" cy="1524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 b="1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6152" name="Line 9"/>
          <p:cNvSpPr>
            <a:spLocks noChangeShapeType="1"/>
          </p:cNvSpPr>
          <p:nvPr/>
        </p:nvSpPr>
        <p:spPr bwMode="auto">
          <a:xfrm>
            <a:off x="5486400" y="2514600"/>
            <a:ext cx="152400" cy="1524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 b="1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6153" name="Line 10"/>
          <p:cNvSpPr>
            <a:spLocks noChangeShapeType="1"/>
          </p:cNvSpPr>
          <p:nvPr/>
        </p:nvSpPr>
        <p:spPr bwMode="auto">
          <a:xfrm flipH="1">
            <a:off x="5486400" y="2667000"/>
            <a:ext cx="152400" cy="1524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 b="1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6154" name="Line 11"/>
          <p:cNvSpPr>
            <a:spLocks noChangeShapeType="1"/>
          </p:cNvSpPr>
          <p:nvPr/>
        </p:nvSpPr>
        <p:spPr bwMode="auto">
          <a:xfrm>
            <a:off x="5486400" y="2819400"/>
            <a:ext cx="152400" cy="1524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 b="1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6155" name="Line 12"/>
          <p:cNvSpPr>
            <a:spLocks noChangeShapeType="1"/>
          </p:cNvSpPr>
          <p:nvPr/>
        </p:nvSpPr>
        <p:spPr bwMode="auto">
          <a:xfrm flipH="1">
            <a:off x="5486400" y="2971800"/>
            <a:ext cx="152400" cy="1524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 b="1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6156" name="Line 13"/>
          <p:cNvSpPr>
            <a:spLocks noChangeShapeType="1"/>
          </p:cNvSpPr>
          <p:nvPr/>
        </p:nvSpPr>
        <p:spPr bwMode="auto">
          <a:xfrm flipH="1">
            <a:off x="5486400" y="3276600"/>
            <a:ext cx="76200" cy="1524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 b="1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6157" name="Line 14"/>
          <p:cNvSpPr>
            <a:spLocks noChangeShapeType="1"/>
          </p:cNvSpPr>
          <p:nvPr/>
        </p:nvSpPr>
        <p:spPr bwMode="auto">
          <a:xfrm>
            <a:off x="5486400" y="3429000"/>
            <a:ext cx="152400" cy="1524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 b="1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6158" name="Line 15"/>
          <p:cNvSpPr>
            <a:spLocks noChangeShapeType="1"/>
          </p:cNvSpPr>
          <p:nvPr/>
        </p:nvSpPr>
        <p:spPr bwMode="auto">
          <a:xfrm flipH="1">
            <a:off x="5486400" y="3581400"/>
            <a:ext cx="152400" cy="1524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 b="1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6159" name="Line 16"/>
          <p:cNvSpPr>
            <a:spLocks noChangeShapeType="1"/>
          </p:cNvSpPr>
          <p:nvPr/>
        </p:nvSpPr>
        <p:spPr bwMode="auto">
          <a:xfrm>
            <a:off x="5486400" y="3733800"/>
            <a:ext cx="152400" cy="1524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 b="1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6160" name="Line 17"/>
          <p:cNvSpPr>
            <a:spLocks noChangeShapeType="1"/>
          </p:cNvSpPr>
          <p:nvPr/>
        </p:nvSpPr>
        <p:spPr bwMode="auto">
          <a:xfrm flipH="1">
            <a:off x="5486400" y="3886200"/>
            <a:ext cx="152400" cy="1524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 b="1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6161" name="Line 18"/>
          <p:cNvSpPr>
            <a:spLocks noChangeShapeType="1"/>
          </p:cNvSpPr>
          <p:nvPr/>
        </p:nvSpPr>
        <p:spPr bwMode="auto">
          <a:xfrm>
            <a:off x="5486400" y="4038600"/>
            <a:ext cx="152400" cy="1524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 b="1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6162" name="Line 19"/>
          <p:cNvSpPr>
            <a:spLocks noChangeShapeType="1"/>
          </p:cNvSpPr>
          <p:nvPr/>
        </p:nvSpPr>
        <p:spPr bwMode="auto">
          <a:xfrm flipH="1">
            <a:off x="5486400" y="4191000"/>
            <a:ext cx="152400" cy="1524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 b="1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6163" name="Line 20"/>
          <p:cNvSpPr>
            <a:spLocks noChangeShapeType="1"/>
          </p:cNvSpPr>
          <p:nvPr/>
        </p:nvSpPr>
        <p:spPr bwMode="auto">
          <a:xfrm>
            <a:off x="5486400" y="4343400"/>
            <a:ext cx="152400" cy="1524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 b="1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6164" name="Line 31"/>
          <p:cNvSpPr>
            <a:spLocks noChangeShapeType="1"/>
          </p:cNvSpPr>
          <p:nvPr/>
        </p:nvSpPr>
        <p:spPr bwMode="auto">
          <a:xfrm flipH="1">
            <a:off x="7315200" y="3886200"/>
            <a:ext cx="0" cy="1524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 b="1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6165" name="Line 32"/>
          <p:cNvSpPr>
            <a:spLocks noChangeShapeType="1"/>
          </p:cNvSpPr>
          <p:nvPr/>
        </p:nvSpPr>
        <p:spPr bwMode="auto">
          <a:xfrm>
            <a:off x="7315200" y="4038600"/>
            <a:ext cx="152400" cy="1524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 b="1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6166" name="Line 33"/>
          <p:cNvSpPr>
            <a:spLocks noChangeShapeType="1"/>
          </p:cNvSpPr>
          <p:nvPr/>
        </p:nvSpPr>
        <p:spPr bwMode="auto">
          <a:xfrm flipH="1">
            <a:off x="7315200" y="4191000"/>
            <a:ext cx="152400" cy="1524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 b="1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6167" name="Line 34"/>
          <p:cNvSpPr>
            <a:spLocks noChangeShapeType="1"/>
          </p:cNvSpPr>
          <p:nvPr/>
        </p:nvSpPr>
        <p:spPr bwMode="auto">
          <a:xfrm>
            <a:off x="7315200" y="4343400"/>
            <a:ext cx="152400" cy="1524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 b="1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6168" name="Line 35"/>
          <p:cNvSpPr>
            <a:spLocks noChangeShapeType="1"/>
          </p:cNvSpPr>
          <p:nvPr/>
        </p:nvSpPr>
        <p:spPr bwMode="auto">
          <a:xfrm flipH="1">
            <a:off x="7315200" y="4495800"/>
            <a:ext cx="152400" cy="1524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 b="1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6169" name="Line 36"/>
          <p:cNvSpPr>
            <a:spLocks noChangeShapeType="1"/>
          </p:cNvSpPr>
          <p:nvPr/>
        </p:nvSpPr>
        <p:spPr bwMode="auto">
          <a:xfrm>
            <a:off x="7315200" y="4648200"/>
            <a:ext cx="152400" cy="1524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 b="1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6170" name="Line 37"/>
          <p:cNvSpPr>
            <a:spLocks noChangeShapeType="1"/>
          </p:cNvSpPr>
          <p:nvPr/>
        </p:nvSpPr>
        <p:spPr bwMode="auto">
          <a:xfrm flipH="1">
            <a:off x="7315200" y="4800600"/>
            <a:ext cx="152400" cy="1524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 b="1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6171" name="Line 38"/>
          <p:cNvSpPr>
            <a:spLocks noChangeShapeType="1"/>
          </p:cNvSpPr>
          <p:nvPr/>
        </p:nvSpPr>
        <p:spPr bwMode="auto">
          <a:xfrm>
            <a:off x="7315200" y="4953000"/>
            <a:ext cx="152400" cy="1524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 b="1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6172" name="Line 39"/>
          <p:cNvSpPr>
            <a:spLocks noChangeShapeType="1"/>
          </p:cNvSpPr>
          <p:nvPr/>
        </p:nvSpPr>
        <p:spPr bwMode="auto">
          <a:xfrm flipH="1">
            <a:off x="7315200" y="5105400"/>
            <a:ext cx="152400" cy="1524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 b="1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6173" name="Line 42"/>
          <p:cNvSpPr>
            <a:spLocks noChangeShapeType="1"/>
          </p:cNvSpPr>
          <p:nvPr/>
        </p:nvSpPr>
        <p:spPr bwMode="auto">
          <a:xfrm flipH="1">
            <a:off x="7315200" y="2514600"/>
            <a:ext cx="76200" cy="1524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 b="1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6174" name="Line 43"/>
          <p:cNvSpPr>
            <a:spLocks noChangeShapeType="1"/>
          </p:cNvSpPr>
          <p:nvPr/>
        </p:nvSpPr>
        <p:spPr bwMode="auto">
          <a:xfrm>
            <a:off x="7315200" y="2667000"/>
            <a:ext cx="152400" cy="1524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 b="1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6175" name="Line 44"/>
          <p:cNvSpPr>
            <a:spLocks noChangeShapeType="1"/>
          </p:cNvSpPr>
          <p:nvPr/>
        </p:nvSpPr>
        <p:spPr bwMode="auto">
          <a:xfrm flipH="1">
            <a:off x="7315200" y="2819400"/>
            <a:ext cx="152400" cy="1524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 b="1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6176" name="Line 45"/>
          <p:cNvSpPr>
            <a:spLocks noChangeShapeType="1"/>
          </p:cNvSpPr>
          <p:nvPr/>
        </p:nvSpPr>
        <p:spPr bwMode="auto">
          <a:xfrm>
            <a:off x="7315200" y="2971800"/>
            <a:ext cx="152400" cy="1524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 b="1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6177" name="Line 46"/>
          <p:cNvSpPr>
            <a:spLocks noChangeShapeType="1"/>
          </p:cNvSpPr>
          <p:nvPr/>
        </p:nvSpPr>
        <p:spPr bwMode="auto">
          <a:xfrm flipH="1">
            <a:off x="7315200" y="3124200"/>
            <a:ext cx="152400" cy="1524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 b="1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6178" name="Line 47"/>
          <p:cNvSpPr>
            <a:spLocks noChangeShapeType="1"/>
          </p:cNvSpPr>
          <p:nvPr/>
        </p:nvSpPr>
        <p:spPr bwMode="auto">
          <a:xfrm>
            <a:off x="7315200" y="3276600"/>
            <a:ext cx="152400" cy="1524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 b="1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6179" name="Line 48"/>
          <p:cNvSpPr>
            <a:spLocks noChangeShapeType="1"/>
          </p:cNvSpPr>
          <p:nvPr/>
        </p:nvSpPr>
        <p:spPr bwMode="auto">
          <a:xfrm flipH="1">
            <a:off x="7315200" y="3429000"/>
            <a:ext cx="152400" cy="1524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 b="1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6180" name="Line 52"/>
          <p:cNvSpPr>
            <a:spLocks noChangeShapeType="1"/>
          </p:cNvSpPr>
          <p:nvPr/>
        </p:nvSpPr>
        <p:spPr bwMode="auto">
          <a:xfrm>
            <a:off x="5562600" y="4633913"/>
            <a:ext cx="76200" cy="2286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 b="1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6181" name="Line 53"/>
          <p:cNvSpPr>
            <a:spLocks noChangeShapeType="1"/>
          </p:cNvSpPr>
          <p:nvPr/>
        </p:nvSpPr>
        <p:spPr bwMode="auto">
          <a:xfrm flipH="1">
            <a:off x="5486400" y="4862513"/>
            <a:ext cx="152400" cy="1524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 b="1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6182" name="Line 54"/>
          <p:cNvSpPr>
            <a:spLocks noChangeShapeType="1"/>
          </p:cNvSpPr>
          <p:nvPr/>
        </p:nvSpPr>
        <p:spPr bwMode="auto">
          <a:xfrm>
            <a:off x="5486400" y="5014913"/>
            <a:ext cx="152400" cy="1524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 b="1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6183" name="Line 55"/>
          <p:cNvSpPr>
            <a:spLocks noChangeShapeType="1"/>
          </p:cNvSpPr>
          <p:nvPr/>
        </p:nvSpPr>
        <p:spPr bwMode="auto">
          <a:xfrm flipH="1">
            <a:off x="5486400" y="5167313"/>
            <a:ext cx="152400" cy="1524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 b="1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6184" name="Line 56"/>
          <p:cNvSpPr>
            <a:spLocks noChangeShapeType="1"/>
          </p:cNvSpPr>
          <p:nvPr/>
        </p:nvSpPr>
        <p:spPr bwMode="auto">
          <a:xfrm>
            <a:off x="5486400" y="5319713"/>
            <a:ext cx="152400" cy="1524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 b="1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6185" name="Line 57"/>
          <p:cNvSpPr>
            <a:spLocks noChangeShapeType="1"/>
          </p:cNvSpPr>
          <p:nvPr/>
        </p:nvSpPr>
        <p:spPr bwMode="auto">
          <a:xfrm flipH="1">
            <a:off x="5486400" y="5472113"/>
            <a:ext cx="152400" cy="1524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 b="1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6186" name="Text Box 58"/>
          <p:cNvSpPr txBox="1">
            <a:spLocks noChangeArrowheads="1"/>
          </p:cNvSpPr>
          <p:nvPr/>
        </p:nvSpPr>
        <p:spPr bwMode="auto">
          <a:xfrm>
            <a:off x="838200" y="1143000"/>
            <a:ext cx="2895600" cy="55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65000"/>
              </a:lnSpc>
              <a:spcBef>
                <a:spcPct val="30000"/>
              </a:spcBef>
            </a:pPr>
            <a:r>
              <a:rPr lang="en-US" altLang="en-US" sz="2800" b="1" dirty="0">
                <a:latin typeface="Courier New" panose="02070309020205020404" pitchFamily="49" charset="0"/>
              </a:rPr>
              <a:t>main()</a:t>
            </a:r>
          </a:p>
          <a:p>
            <a:pPr eaLnBrk="1" hangingPunct="1">
              <a:lnSpc>
                <a:spcPct val="65000"/>
              </a:lnSpc>
              <a:spcBef>
                <a:spcPct val="30000"/>
              </a:spcBef>
            </a:pPr>
            <a:r>
              <a:rPr lang="en-US" altLang="en-US" sz="2800" b="1" dirty="0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lnSpc>
                <a:spcPct val="65000"/>
              </a:lnSpc>
              <a:spcBef>
                <a:spcPct val="30000"/>
              </a:spcBef>
            </a:pPr>
            <a:r>
              <a:rPr lang="en-US" altLang="en-US" sz="2800" b="1" dirty="0">
                <a:latin typeface="Courier New" panose="02070309020205020404" pitchFamily="49" charset="0"/>
              </a:rPr>
              <a:t>    …</a:t>
            </a:r>
          </a:p>
          <a:p>
            <a:pPr eaLnBrk="1" hangingPunct="1">
              <a:lnSpc>
                <a:spcPct val="65000"/>
              </a:lnSpc>
              <a:spcBef>
                <a:spcPct val="30000"/>
              </a:spcBef>
            </a:pPr>
            <a:r>
              <a:rPr lang="en-US" altLang="en-US" sz="2800" b="1" dirty="0">
                <a:latin typeface="Courier New" panose="02070309020205020404" pitchFamily="49" charset="0"/>
              </a:rPr>
              <a:t>    f1(…);</a:t>
            </a:r>
          </a:p>
          <a:p>
            <a:pPr eaLnBrk="1" hangingPunct="1">
              <a:lnSpc>
                <a:spcPct val="65000"/>
              </a:lnSpc>
              <a:spcBef>
                <a:spcPct val="30000"/>
              </a:spcBef>
            </a:pPr>
            <a:r>
              <a:rPr lang="en-US" altLang="en-US" sz="2800" b="1" dirty="0">
                <a:latin typeface="Courier New" panose="02070309020205020404" pitchFamily="49" charset="0"/>
              </a:rPr>
              <a:t>    …</a:t>
            </a:r>
          </a:p>
          <a:p>
            <a:pPr eaLnBrk="1" hangingPunct="1">
              <a:lnSpc>
                <a:spcPct val="65000"/>
              </a:lnSpc>
              <a:spcBef>
                <a:spcPct val="30000"/>
              </a:spcBef>
            </a:pPr>
            <a:r>
              <a:rPr lang="en-US" altLang="en-US" sz="2800" b="1" dirty="0">
                <a:latin typeface="Courier New" panose="02070309020205020404" pitchFamily="49" charset="0"/>
              </a:rPr>
              <a:t>    f2(…);</a:t>
            </a:r>
          </a:p>
          <a:p>
            <a:pPr eaLnBrk="1" hangingPunct="1">
              <a:lnSpc>
                <a:spcPct val="65000"/>
              </a:lnSpc>
              <a:spcBef>
                <a:spcPct val="30000"/>
              </a:spcBef>
            </a:pPr>
            <a:r>
              <a:rPr lang="en-US" altLang="en-US" sz="2800" b="1" dirty="0">
                <a:latin typeface="Courier New" panose="02070309020205020404" pitchFamily="49" charset="0"/>
              </a:rPr>
              <a:t>    …</a:t>
            </a:r>
          </a:p>
          <a:p>
            <a:pPr eaLnBrk="1" hangingPunct="1">
              <a:lnSpc>
                <a:spcPct val="65000"/>
              </a:lnSpc>
              <a:spcBef>
                <a:spcPct val="30000"/>
              </a:spcBef>
            </a:pPr>
            <a:r>
              <a:rPr lang="en-US" altLang="en-US" sz="2800" b="1" dirty="0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65000"/>
              </a:lnSpc>
              <a:spcBef>
                <a:spcPct val="100000"/>
              </a:spcBef>
            </a:pPr>
            <a:r>
              <a:rPr lang="en-US" altLang="en-US" sz="2800" b="1" dirty="0">
                <a:latin typeface="Courier New" panose="02070309020205020404" pitchFamily="49" charset="0"/>
              </a:rPr>
              <a:t>f1(…)</a:t>
            </a:r>
          </a:p>
          <a:p>
            <a:pPr eaLnBrk="1" hangingPunct="1">
              <a:lnSpc>
                <a:spcPct val="65000"/>
              </a:lnSpc>
              <a:spcBef>
                <a:spcPct val="30000"/>
              </a:spcBef>
            </a:pPr>
            <a:r>
              <a:rPr lang="en-US" altLang="en-US" sz="2800" b="1" dirty="0">
                <a:latin typeface="Courier New" panose="02070309020205020404" pitchFamily="49" charset="0"/>
              </a:rPr>
              <a:t>{ … }</a:t>
            </a:r>
          </a:p>
          <a:p>
            <a:pPr eaLnBrk="1" hangingPunct="1">
              <a:lnSpc>
                <a:spcPct val="65000"/>
              </a:lnSpc>
              <a:spcBef>
                <a:spcPct val="100000"/>
              </a:spcBef>
            </a:pPr>
            <a:r>
              <a:rPr lang="en-US" altLang="en-US" sz="2800" b="1" dirty="0">
                <a:latin typeface="Courier New" panose="02070309020205020404" pitchFamily="49" charset="0"/>
              </a:rPr>
              <a:t>f2(…)</a:t>
            </a:r>
          </a:p>
          <a:p>
            <a:pPr eaLnBrk="1" hangingPunct="1">
              <a:lnSpc>
                <a:spcPct val="65000"/>
              </a:lnSpc>
              <a:spcBef>
                <a:spcPct val="30000"/>
              </a:spcBef>
            </a:pPr>
            <a:r>
              <a:rPr lang="en-US" altLang="en-US" sz="2800" b="1" dirty="0">
                <a:latin typeface="Courier New" panose="02070309020205020404" pitchFamily="49" charset="0"/>
              </a:rPr>
              <a:t>{ … }</a:t>
            </a:r>
          </a:p>
        </p:txBody>
      </p:sp>
      <p:sp>
        <p:nvSpPr>
          <p:cNvPr id="6187" name="Text Box 59"/>
          <p:cNvSpPr txBox="1">
            <a:spLocks noChangeArrowheads="1"/>
          </p:cNvSpPr>
          <p:nvPr/>
        </p:nvSpPr>
        <p:spPr bwMode="auto">
          <a:xfrm>
            <a:off x="5029200" y="1295400"/>
            <a:ext cx="129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400"/>
              <a:t>Thread</a:t>
            </a:r>
          </a:p>
        </p:txBody>
      </p:sp>
      <p:sp>
        <p:nvSpPr>
          <p:cNvPr id="6188" name="Text Box 60"/>
          <p:cNvSpPr txBox="1">
            <a:spLocks noChangeArrowheads="1"/>
          </p:cNvSpPr>
          <p:nvPr/>
        </p:nvSpPr>
        <p:spPr bwMode="auto">
          <a:xfrm>
            <a:off x="4724400" y="5638800"/>
            <a:ext cx="17526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400"/>
              <a:t>Process Terminated</a:t>
            </a:r>
          </a:p>
        </p:txBody>
      </p:sp>
      <p:sp>
        <p:nvSpPr>
          <p:cNvPr id="6189" name="Line 62"/>
          <p:cNvSpPr>
            <a:spLocks noChangeShapeType="1"/>
          </p:cNvSpPr>
          <p:nvPr/>
        </p:nvSpPr>
        <p:spPr bwMode="auto">
          <a:xfrm flipV="1">
            <a:off x="5486400" y="2514600"/>
            <a:ext cx="1905000" cy="60960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 b="1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6190" name="Text Box 63"/>
          <p:cNvSpPr txBox="1">
            <a:spLocks noChangeArrowheads="1"/>
          </p:cNvSpPr>
          <p:nvPr/>
        </p:nvSpPr>
        <p:spPr bwMode="auto">
          <a:xfrm>
            <a:off x="7848600" y="4267200"/>
            <a:ext cx="457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dirty="0"/>
              <a:t>f2</a:t>
            </a:r>
          </a:p>
        </p:txBody>
      </p:sp>
      <p:sp>
        <p:nvSpPr>
          <p:cNvPr id="6191" name="Text Box 64"/>
          <p:cNvSpPr txBox="1">
            <a:spLocks noChangeArrowheads="1"/>
          </p:cNvSpPr>
          <p:nvPr/>
        </p:nvSpPr>
        <p:spPr bwMode="auto">
          <a:xfrm>
            <a:off x="7772400" y="2819400"/>
            <a:ext cx="457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/>
              <a:t>f1</a:t>
            </a:r>
          </a:p>
        </p:txBody>
      </p:sp>
      <p:sp>
        <p:nvSpPr>
          <p:cNvPr id="6192" name="Line 65"/>
          <p:cNvSpPr>
            <a:spLocks noChangeShapeType="1"/>
          </p:cNvSpPr>
          <p:nvPr/>
        </p:nvSpPr>
        <p:spPr bwMode="auto">
          <a:xfrm flipH="1" flipV="1">
            <a:off x="5562600" y="3276600"/>
            <a:ext cx="1752600" cy="30480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 b="1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6193" name="Line 66"/>
          <p:cNvSpPr>
            <a:spLocks noChangeShapeType="1"/>
          </p:cNvSpPr>
          <p:nvPr/>
        </p:nvSpPr>
        <p:spPr bwMode="auto">
          <a:xfrm flipV="1">
            <a:off x="5638800" y="3886200"/>
            <a:ext cx="1676400" cy="60960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 b="1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6194" name="Line 67"/>
          <p:cNvSpPr>
            <a:spLocks noChangeShapeType="1"/>
          </p:cNvSpPr>
          <p:nvPr/>
        </p:nvSpPr>
        <p:spPr bwMode="auto">
          <a:xfrm flipH="1" flipV="1">
            <a:off x="5562600" y="4648200"/>
            <a:ext cx="1752600" cy="60960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 b="1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23145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Rot="1" noChangeArrowheads="1"/>
          </p:cNvSpPr>
          <p:nvPr/>
        </p:nvSpPr>
        <p:spPr bwMode="auto"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TW" sz="4800" dirty="0">
                <a:latin typeface="+mn-lt"/>
              </a:rPr>
              <a:t>Multi-Threaded Process</a:t>
            </a:r>
            <a:endParaRPr lang="en-US" altLang="en-US" sz="4800" dirty="0">
              <a:latin typeface="+mn-lt"/>
            </a:endParaRPr>
          </a:p>
        </p:txBody>
      </p:sp>
      <p:sp>
        <p:nvSpPr>
          <p:cNvPr id="7171" name="Line 3"/>
          <p:cNvSpPr>
            <a:spLocks noChangeShapeType="1"/>
          </p:cNvSpPr>
          <p:nvPr/>
        </p:nvSpPr>
        <p:spPr bwMode="auto">
          <a:xfrm flipH="1">
            <a:off x="5486400" y="2743200"/>
            <a:ext cx="152400" cy="152400"/>
          </a:xfrm>
          <a:prstGeom prst="line">
            <a:avLst/>
          </a:prstGeom>
          <a:noFill/>
          <a:ln w="5715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2" name="Line 4"/>
          <p:cNvSpPr>
            <a:spLocks noChangeShapeType="1"/>
          </p:cNvSpPr>
          <p:nvPr/>
        </p:nvSpPr>
        <p:spPr bwMode="auto">
          <a:xfrm>
            <a:off x="5486400" y="2895600"/>
            <a:ext cx="152400" cy="152400"/>
          </a:xfrm>
          <a:prstGeom prst="line">
            <a:avLst/>
          </a:prstGeom>
          <a:noFill/>
          <a:ln w="5715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3" name="Line 5"/>
          <p:cNvSpPr>
            <a:spLocks noChangeShapeType="1"/>
          </p:cNvSpPr>
          <p:nvPr/>
        </p:nvSpPr>
        <p:spPr bwMode="auto">
          <a:xfrm flipH="1">
            <a:off x="5486400" y="3048000"/>
            <a:ext cx="152400" cy="152400"/>
          </a:xfrm>
          <a:prstGeom prst="line">
            <a:avLst/>
          </a:prstGeom>
          <a:noFill/>
          <a:ln w="5715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4" name="Line 6"/>
          <p:cNvSpPr>
            <a:spLocks noChangeShapeType="1"/>
          </p:cNvSpPr>
          <p:nvPr/>
        </p:nvSpPr>
        <p:spPr bwMode="auto">
          <a:xfrm>
            <a:off x="5486400" y="3200400"/>
            <a:ext cx="152400" cy="152400"/>
          </a:xfrm>
          <a:prstGeom prst="line">
            <a:avLst/>
          </a:prstGeom>
          <a:noFill/>
          <a:ln w="5715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5" name="Line 7"/>
          <p:cNvSpPr>
            <a:spLocks noChangeShapeType="1"/>
          </p:cNvSpPr>
          <p:nvPr/>
        </p:nvSpPr>
        <p:spPr bwMode="auto">
          <a:xfrm flipH="1">
            <a:off x="5486400" y="3352800"/>
            <a:ext cx="152400" cy="152400"/>
          </a:xfrm>
          <a:prstGeom prst="line">
            <a:avLst/>
          </a:prstGeom>
          <a:noFill/>
          <a:ln w="5715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6" name="Line 8"/>
          <p:cNvSpPr>
            <a:spLocks noChangeShapeType="1"/>
          </p:cNvSpPr>
          <p:nvPr/>
        </p:nvSpPr>
        <p:spPr bwMode="auto">
          <a:xfrm>
            <a:off x="5486400" y="3505200"/>
            <a:ext cx="152400" cy="152400"/>
          </a:xfrm>
          <a:prstGeom prst="line">
            <a:avLst/>
          </a:prstGeom>
          <a:noFill/>
          <a:ln w="5715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7" name="Line 9"/>
          <p:cNvSpPr>
            <a:spLocks noChangeShapeType="1"/>
          </p:cNvSpPr>
          <p:nvPr/>
        </p:nvSpPr>
        <p:spPr bwMode="auto">
          <a:xfrm flipH="1">
            <a:off x="5486400" y="3657600"/>
            <a:ext cx="152400" cy="152400"/>
          </a:xfrm>
          <a:prstGeom prst="line">
            <a:avLst/>
          </a:prstGeom>
          <a:noFill/>
          <a:ln w="5715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8" name="Line 10"/>
          <p:cNvSpPr>
            <a:spLocks noChangeShapeType="1"/>
          </p:cNvSpPr>
          <p:nvPr/>
        </p:nvSpPr>
        <p:spPr bwMode="auto">
          <a:xfrm>
            <a:off x="5486400" y="3810000"/>
            <a:ext cx="152400" cy="152400"/>
          </a:xfrm>
          <a:prstGeom prst="line">
            <a:avLst/>
          </a:prstGeom>
          <a:noFill/>
          <a:ln w="5715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9" name="Line 11"/>
          <p:cNvSpPr>
            <a:spLocks noChangeShapeType="1"/>
          </p:cNvSpPr>
          <p:nvPr/>
        </p:nvSpPr>
        <p:spPr bwMode="auto">
          <a:xfrm flipH="1">
            <a:off x="5486400" y="3962400"/>
            <a:ext cx="152400" cy="152400"/>
          </a:xfrm>
          <a:prstGeom prst="line">
            <a:avLst/>
          </a:prstGeom>
          <a:noFill/>
          <a:ln w="5715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0" name="Line 13"/>
          <p:cNvSpPr>
            <a:spLocks noChangeShapeType="1"/>
          </p:cNvSpPr>
          <p:nvPr/>
        </p:nvSpPr>
        <p:spPr bwMode="auto">
          <a:xfrm>
            <a:off x="5486400" y="4114800"/>
            <a:ext cx="152400" cy="152400"/>
          </a:xfrm>
          <a:prstGeom prst="line">
            <a:avLst/>
          </a:prstGeom>
          <a:noFill/>
          <a:ln w="5715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1" name="Line 14"/>
          <p:cNvSpPr>
            <a:spLocks noChangeShapeType="1"/>
          </p:cNvSpPr>
          <p:nvPr/>
        </p:nvSpPr>
        <p:spPr bwMode="auto">
          <a:xfrm flipH="1">
            <a:off x="5486400" y="4267200"/>
            <a:ext cx="152400" cy="152400"/>
          </a:xfrm>
          <a:prstGeom prst="line">
            <a:avLst/>
          </a:prstGeom>
          <a:noFill/>
          <a:ln w="5715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2" name="Line 15"/>
          <p:cNvSpPr>
            <a:spLocks noChangeShapeType="1"/>
          </p:cNvSpPr>
          <p:nvPr/>
        </p:nvSpPr>
        <p:spPr bwMode="auto">
          <a:xfrm>
            <a:off x="5486400" y="4419600"/>
            <a:ext cx="152400" cy="152400"/>
          </a:xfrm>
          <a:prstGeom prst="line">
            <a:avLst/>
          </a:prstGeom>
          <a:noFill/>
          <a:ln w="5715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3" name="Line 16"/>
          <p:cNvSpPr>
            <a:spLocks noChangeShapeType="1"/>
          </p:cNvSpPr>
          <p:nvPr/>
        </p:nvSpPr>
        <p:spPr bwMode="auto">
          <a:xfrm flipH="1">
            <a:off x="5486400" y="4572000"/>
            <a:ext cx="152400" cy="152400"/>
          </a:xfrm>
          <a:prstGeom prst="line">
            <a:avLst/>
          </a:prstGeom>
          <a:noFill/>
          <a:ln w="5715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4" name="Line 17"/>
          <p:cNvSpPr>
            <a:spLocks noChangeShapeType="1"/>
          </p:cNvSpPr>
          <p:nvPr/>
        </p:nvSpPr>
        <p:spPr bwMode="auto">
          <a:xfrm>
            <a:off x="5486400" y="4724400"/>
            <a:ext cx="152400" cy="152400"/>
          </a:xfrm>
          <a:prstGeom prst="line">
            <a:avLst/>
          </a:prstGeom>
          <a:noFill/>
          <a:ln w="5715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5" name="Line 18"/>
          <p:cNvSpPr>
            <a:spLocks noChangeShapeType="1"/>
          </p:cNvSpPr>
          <p:nvPr/>
        </p:nvSpPr>
        <p:spPr bwMode="auto">
          <a:xfrm flipH="1">
            <a:off x="5486400" y="4876800"/>
            <a:ext cx="152400" cy="152400"/>
          </a:xfrm>
          <a:prstGeom prst="line">
            <a:avLst/>
          </a:prstGeom>
          <a:noFill/>
          <a:ln w="5715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6" name="Line 19"/>
          <p:cNvSpPr>
            <a:spLocks noChangeShapeType="1"/>
          </p:cNvSpPr>
          <p:nvPr/>
        </p:nvSpPr>
        <p:spPr bwMode="auto">
          <a:xfrm>
            <a:off x="5486400" y="5029200"/>
            <a:ext cx="152400" cy="152400"/>
          </a:xfrm>
          <a:prstGeom prst="line">
            <a:avLst/>
          </a:prstGeom>
          <a:noFill/>
          <a:ln w="5715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7" name="Line 20"/>
          <p:cNvSpPr>
            <a:spLocks noChangeShapeType="1"/>
          </p:cNvSpPr>
          <p:nvPr/>
        </p:nvSpPr>
        <p:spPr bwMode="auto">
          <a:xfrm flipH="1">
            <a:off x="7543800" y="3048000"/>
            <a:ext cx="152400" cy="1524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7188" name="Line 21"/>
          <p:cNvSpPr>
            <a:spLocks noChangeShapeType="1"/>
          </p:cNvSpPr>
          <p:nvPr/>
        </p:nvSpPr>
        <p:spPr bwMode="auto">
          <a:xfrm>
            <a:off x="7543800" y="3200400"/>
            <a:ext cx="152400" cy="1524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7189" name="Line 22"/>
          <p:cNvSpPr>
            <a:spLocks noChangeShapeType="1"/>
          </p:cNvSpPr>
          <p:nvPr/>
        </p:nvSpPr>
        <p:spPr bwMode="auto">
          <a:xfrm flipH="1">
            <a:off x="7543800" y="3352800"/>
            <a:ext cx="152400" cy="1524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7190" name="Line 23"/>
          <p:cNvSpPr>
            <a:spLocks noChangeShapeType="1"/>
          </p:cNvSpPr>
          <p:nvPr/>
        </p:nvSpPr>
        <p:spPr bwMode="auto">
          <a:xfrm>
            <a:off x="7543800" y="3505200"/>
            <a:ext cx="152400" cy="1524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7191" name="Line 24"/>
          <p:cNvSpPr>
            <a:spLocks noChangeShapeType="1"/>
          </p:cNvSpPr>
          <p:nvPr/>
        </p:nvSpPr>
        <p:spPr bwMode="auto">
          <a:xfrm flipH="1">
            <a:off x="7543800" y="3657600"/>
            <a:ext cx="152400" cy="1524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7192" name="Line 25"/>
          <p:cNvSpPr>
            <a:spLocks noChangeShapeType="1"/>
          </p:cNvSpPr>
          <p:nvPr/>
        </p:nvSpPr>
        <p:spPr bwMode="auto">
          <a:xfrm>
            <a:off x="7543800" y="3810000"/>
            <a:ext cx="152400" cy="1524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7193" name="Line 26"/>
          <p:cNvSpPr>
            <a:spLocks noChangeShapeType="1"/>
          </p:cNvSpPr>
          <p:nvPr/>
        </p:nvSpPr>
        <p:spPr bwMode="auto">
          <a:xfrm flipH="1">
            <a:off x="7543800" y="3962400"/>
            <a:ext cx="152400" cy="1524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7194" name="Line 27"/>
          <p:cNvSpPr>
            <a:spLocks noChangeShapeType="1"/>
          </p:cNvSpPr>
          <p:nvPr/>
        </p:nvSpPr>
        <p:spPr bwMode="auto">
          <a:xfrm>
            <a:off x="7543800" y="4114800"/>
            <a:ext cx="152400" cy="1524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7195" name="Line 28"/>
          <p:cNvSpPr>
            <a:spLocks noChangeShapeType="1"/>
          </p:cNvSpPr>
          <p:nvPr/>
        </p:nvSpPr>
        <p:spPr bwMode="auto">
          <a:xfrm flipH="1">
            <a:off x="7543800" y="4267200"/>
            <a:ext cx="152400" cy="1524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7196" name="Line 29"/>
          <p:cNvSpPr>
            <a:spLocks noChangeShapeType="1"/>
          </p:cNvSpPr>
          <p:nvPr/>
        </p:nvSpPr>
        <p:spPr bwMode="auto">
          <a:xfrm flipH="1">
            <a:off x="6934200" y="3048000"/>
            <a:ext cx="152400" cy="1524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97" name="Line 30"/>
          <p:cNvSpPr>
            <a:spLocks noChangeShapeType="1"/>
          </p:cNvSpPr>
          <p:nvPr/>
        </p:nvSpPr>
        <p:spPr bwMode="auto">
          <a:xfrm>
            <a:off x="6934200" y="3200400"/>
            <a:ext cx="152400" cy="1524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98" name="Line 31"/>
          <p:cNvSpPr>
            <a:spLocks noChangeShapeType="1"/>
          </p:cNvSpPr>
          <p:nvPr/>
        </p:nvSpPr>
        <p:spPr bwMode="auto">
          <a:xfrm flipH="1">
            <a:off x="6934200" y="3352800"/>
            <a:ext cx="152400" cy="1524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99" name="Line 32"/>
          <p:cNvSpPr>
            <a:spLocks noChangeShapeType="1"/>
          </p:cNvSpPr>
          <p:nvPr/>
        </p:nvSpPr>
        <p:spPr bwMode="auto">
          <a:xfrm>
            <a:off x="6934200" y="3505200"/>
            <a:ext cx="152400" cy="1524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00" name="Line 33"/>
          <p:cNvSpPr>
            <a:spLocks noChangeShapeType="1"/>
          </p:cNvSpPr>
          <p:nvPr/>
        </p:nvSpPr>
        <p:spPr bwMode="auto">
          <a:xfrm flipH="1">
            <a:off x="6934200" y="3657600"/>
            <a:ext cx="152400" cy="1524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01" name="Line 34"/>
          <p:cNvSpPr>
            <a:spLocks noChangeShapeType="1"/>
          </p:cNvSpPr>
          <p:nvPr/>
        </p:nvSpPr>
        <p:spPr bwMode="auto">
          <a:xfrm>
            <a:off x="6934200" y="3810000"/>
            <a:ext cx="152400" cy="1524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02" name="Line 35"/>
          <p:cNvSpPr>
            <a:spLocks noChangeShapeType="1"/>
          </p:cNvSpPr>
          <p:nvPr/>
        </p:nvSpPr>
        <p:spPr bwMode="auto">
          <a:xfrm flipH="1">
            <a:off x="6934200" y="3962400"/>
            <a:ext cx="152400" cy="1524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03" name="Line 37"/>
          <p:cNvSpPr>
            <a:spLocks noChangeShapeType="1"/>
          </p:cNvSpPr>
          <p:nvPr/>
        </p:nvSpPr>
        <p:spPr bwMode="auto">
          <a:xfrm flipH="1">
            <a:off x="5486400" y="5181600"/>
            <a:ext cx="152400" cy="152400"/>
          </a:xfrm>
          <a:prstGeom prst="line">
            <a:avLst/>
          </a:prstGeom>
          <a:noFill/>
          <a:ln w="5715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04" name="Line 38"/>
          <p:cNvSpPr>
            <a:spLocks noChangeShapeType="1"/>
          </p:cNvSpPr>
          <p:nvPr/>
        </p:nvSpPr>
        <p:spPr bwMode="auto">
          <a:xfrm>
            <a:off x="5486400" y="5334000"/>
            <a:ext cx="152400" cy="152400"/>
          </a:xfrm>
          <a:prstGeom prst="line">
            <a:avLst/>
          </a:prstGeom>
          <a:noFill/>
          <a:ln w="5715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05" name="Line 39"/>
          <p:cNvSpPr>
            <a:spLocks noChangeShapeType="1"/>
          </p:cNvSpPr>
          <p:nvPr/>
        </p:nvSpPr>
        <p:spPr bwMode="auto">
          <a:xfrm flipH="1">
            <a:off x="5486400" y="5486400"/>
            <a:ext cx="152400" cy="152400"/>
          </a:xfrm>
          <a:prstGeom prst="line">
            <a:avLst/>
          </a:prstGeom>
          <a:noFill/>
          <a:ln w="5715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06" name="Line 40"/>
          <p:cNvSpPr>
            <a:spLocks noChangeShapeType="1"/>
          </p:cNvSpPr>
          <p:nvPr/>
        </p:nvSpPr>
        <p:spPr bwMode="auto">
          <a:xfrm>
            <a:off x="5486400" y="5638800"/>
            <a:ext cx="152400" cy="152400"/>
          </a:xfrm>
          <a:prstGeom prst="line">
            <a:avLst/>
          </a:prstGeom>
          <a:noFill/>
          <a:ln w="5715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07" name="Line 41"/>
          <p:cNvSpPr>
            <a:spLocks noChangeShapeType="1"/>
          </p:cNvSpPr>
          <p:nvPr/>
        </p:nvSpPr>
        <p:spPr bwMode="auto">
          <a:xfrm flipH="1">
            <a:off x="5486400" y="5791200"/>
            <a:ext cx="152400" cy="152400"/>
          </a:xfrm>
          <a:prstGeom prst="line">
            <a:avLst/>
          </a:prstGeom>
          <a:noFill/>
          <a:ln w="5715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08" name="Text Box 42"/>
          <p:cNvSpPr txBox="1">
            <a:spLocks noChangeArrowheads="1"/>
          </p:cNvSpPr>
          <p:nvPr/>
        </p:nvSpPr>
        <p:spPr bwMode="auto">
          <a:xfrm>
            <a:off x="304800" y="1143000"/>
            <a:ext cx="4191000" cy="55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65000"/>
              </a:lnSpc>
              <a:spcBef>
                <a:spcPct val="30000"/>
              </a:spcBef>
            </a:pPr>
            <a:r>
              <a:rPr lang="en-US" altLang="en-US" sz="2800" b="1" dirty="0">
                <a:solidFill>
                  <a:srgbClr val="00FF00"/>
                </a:solidFill>
                <a:latin typeface="Courier New" panose="02070309020205020404" pitchFamily="49" charset="0"/>
              </a:rPr>
              <a:t>main</a:t>
            </a:r>
            <a:r>
              <a:rPr lang="en-US" altLang="en-US" sz="2800" b="1" dirty="0">
                <a:solidFill>
                  <a:schemeClr val="bg1"/>
                </a:solidFill>
                <a:latin typeface="Courier New" panose="02070309020205020404" pitchFamily="49" charset="0"/>
              </a:rPr>
              <a:t>()</a:t>
            </a:r>
          </a:p>
          <a:p>
            <a:pPr eaLnBrk="1" hangingPunct="1">
              <a:lnSpc>
                <a:spcPct val="65000"/>
              </a:lnSpc>
              <a:spcBef>
                <a:spcPct val="30000"/>
              </a:spcBef>
            </a:pPr>
            <a:r>
              <a:rPr lang="en-US" altLang="en-US" sz="2800" b="1" dirty="0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lnSpc>
                <a:spcPct val="65000"/>
              </a:lnSpc>
              <a:spcBef>
                <a:spcPct val="30000"/>
              </a:spcBef>
            </a:pPr>
            <a:r>
              <a:rPr lang="en-US" altLang="en-US" sz="2800" b="1" dirty="0">
                <a:latin typeface="Courier New" panose="02070309020205020404" pitchFamily="49" charset="0"/>
              </a:rPr>
              <a:t>    …</a:t>
            </a:r>
          </a:p>
          <a:p>
            <a:pPr eaLnBrk="1" hangingPunct="1">
              <a:lnSpc>
                <a:spcPct val="65000"/>
              </a:lnSpc>
              <a:spcBef>
                <a:spcPct val="30000"/>
              </a:spcBef>
            </a:pPr>
            <a:r>
              <a:rPr lang="en-US" altLang="en-US" sz="2800" b="1" dirty="0">
                <a:solidFill>
                  <a:schemeClr val="bg1"/>
                </a:solidFill>
                <a:latin typeface="Courier New" panose="02070309020205020404" pitchFamily="49" charset="0"/>
              </a:rPr>
              <a:t>    </a:t>
            </a:r>
            <a:r>
              <a:rPr lang="en-US" altLang="en-US" sz="2800" b="1" dirty="0">
                <a:latin typeface="Courier New" panose="02070309020205020404" pitchFamily="49" charset="0"/>
              </a:rPr>
              <a:t>thread(t1,f1);</a:t>
            </a:r>
          </a:p>
          <a:p>
            <a:pPr eaLnBrk="1" hangingPunct="1">
              <a:lnSpc>
                <a:spcPct val="65000"/>
              </a:lnSpc>
              <a:spcBef>
                <a:spcPct val="30000"/>
              </a:spcBef>
            </a:pPr>
            <a:r>
              <a:rPr lang="en-US" altLang="en-US" sz="2800" b="1" dirty="0">
                <a:latin typeface="Courier New" panose="02070309020205020404" pitchFamily="49" charset="0"/>
              </a:rPr>
              <a:t>    …</a:t>
            </a:r>
          </a:p>
          <a:p>
            <a:pPr eaLnBrk="1" hangingPunct="1">
              <a:lnSpc>
                <a:spcPct val="65000"/>
              </a:lnSpc>
              <a:spcBef>
                <a:spcPct val="30000"/>
              </a:spcBef>
            </a:pPr>
            <a:r>
              <a:rPr lang="en-US" altLang="en-US" sz="2800" b="1" dirty="0">
                <a:solidFill>
                  <a:schemeClr val="bg1"/>
                </a:solidFill>
                <a:latin typeface="Courier New" panose="02070309020205020404" pitchFamily="49" charset="0"/>
              </a:rPr>
              <a:t>    </a:t>
            </a:r>
            <a:r>
              <a:rPr lang="en-US" altLang="en-US" sz="2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thread</a:t>
            </a:r>
            <a:r>
              <a:rPr lang="en-US" altLang="en-US" sz="2800" b="1" dirty="0">
                <a:latin typeface="Courier New" panose="02070309020205020404" pitchFamily="49" charset="0"/>
              </a:rPr>
              <a:t>(t2,f2);</a:t>
            </a:r>
          </a:p>
          <a:p>
            <a:pPr eaLnBrk="1" hangingPunct="1">
              <a:lnSpc>
                <a:spcPct val="65000"/>
              </a:lnSpc>
              <a:spcBef>
                <a:spcPct val="30000"/>
              </a:spcBef>
            </a:pPr>
            <a:r>
              <a:rPr lang="en-US" altLang="en-US" sz="2800" b="1" dirty="0">
                <a:solidFill>
                  <a:schemeClr val="bg1"/>
                </a:solidFill>
                <a:latin typeface="Courier New" panose="02070309020205020404" pitchFamily="49" charset="0"/>
              </a:rPr>
              <a:t>    </a:t>
            </a:r>
            <a:r>
              <a:rPr lang="en-US" altLang="en-US" sz="2800" b="1" dirty="0">
                <a:latin typeface="Courier New" panose="02070309020205020404" pitchFamily="49" charset="0"/>
              </a:rPr>
              <a:t>…</a:t>
            </a:r>
          </a:p>
          <a:p>
            <a:pPr eaLnBrk="1" hangingPunct="1">
              <a:lnSpc>
                <a:spcPct val="65000"/>
              </a:lnSpc>
              <a:spcBef>
                <a:spcPct val="30000"/>
              </a:spcBef>
            </a:pPr>
            <a:r>
              <a:rPr lang="en-US" altLang="en-US" sz="2800" b="1" dirty="0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65000"/>
              </a:lnSpc>
              <a:spcBef>
                <a:spcPct val="100000"/>
              </a:spcBef>
            </a:pPr>
            <a:r>
              <a:rPr lang="en-US" altLang="en-US" sz="2800" b="1" dirty="0">
                <a:latin typeface="Courier New" panose="02070309020205020404" pitchFamily="49" charset="0"/>
              </a:rPr>
              <a:t>f1(…)</a:t>
            </a:r>
          </a:p>
          <a:p>
            <a:pPr eaLnBrk="1" hangingPunct="1">
              <a:lnSpc>
                <a:spcPct val="65000"/>
              </a:lnSpc>
              <a:spcBef>
                <a:spcPct val="30000"/>
              </a:spcBef>
            </a:pPr>
            <a:r>
              <a:rPr lang="en-US" altLang="en-US" sz="2800" b="1" dirty="0">
                <a:latin typeface="Courier New" panose="02070309020205020404" pitchFamily="49" charset="0"/>
              </a:rPr>
              <a:t>{ … }</a:t>
            </a:r>
          </a:p>
          <a:p>
            <a:pPr eaLnBrk="1" hangingPunct="1">
              <a:lnSpc>
                <a:spcPct val="65000"/>
              </a:lnSpc>
              <a:spcBef>
                <a:spcPct val="100000"/>
              </a:spcBef>
            </a:pPr>
            <a:r>
              <a:rPr lang="en-US" altLang="en-US" sz="2800" b="1" dirty="0">
                <a:latin typeface="Courier New" panose="02070309020205020404" pitchFamily="49" charset="0"/>
              </a:rPr>
              <a:t>f2(…)</a:t>
            </a:r>
          </a:p>
          <a:p>
            <a:pPr eaLnBrk="1" hangingPunct="1">
              <a:lnSpc>
                <a:spcPct val="65000"/>
              </a:lnSpc>
              <a:spcBef>
                <a:spcPct val="30000"/>
              </a:spcBef>
            </a:pPr>
            <a:r>
              <a:rPr lang="en-US" altLang="en-US" sz="2800" b="1" dirty="0">
                <a:latin typeface="Courier New" panose="02070309020205020404" pitchFamily="49" charset="0"/>
              </a:rPr>
              <a:t>{ … }</a:t>
            </a:r>
          </a:p>
        </p:txBody>
      </p:sp>
      <p:sp>
        <p:nvSpPr>
          <p:cNvPr id="7209" name="Text Box 43"/>
          <p:cNvSpPr txBox="1">
            <a:spLocks noChangeArrowheads="1"/>
          </p:cNvSpPr>
          <p:nvPr/>
        </p:nvSpPr>
        <p:spPr bwMode="auto">
          <a:xfrm>
            <a:off x="5181600" y="22860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400" dirty="0"/>
              <a:t>main</a:t>
            </a:r>
          </a:p>
        </p:txBody>
      </p:sp>
      <p:sp>
        <p:nvSpPr>
          <p:cNvPr id="7210" name="Text Box 46"/>
          <p:cNvSpPr txBox="1">
            <a:spLocks noChangeArrowheads="1"/>
          </p:cNvSpPr>
          <p:nvPr/>
        </p:nvSpPr>
        <p:spPr bwMode="auto">
          <a:xfrm>
            <a:off x="7391400" y="2362200"/>
            <a:ext cx="533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 dirty="0"/>
              <a:t>t2</a:t>
            </a:r>
          </a:p>
        </p:txBody>
      </p:sp>
      <p:sp>
        <p:nvSpPr>
          <p:cNvPr id="7211" name="Text Box 47"/>
          <p:cNvSpPr txBox="1">
            <a:spLocks noChangeArrowheads="1"/>
          </p:cNvSpPr>
          <p:nvPr/>
        </p:nvSpPr>
        <p:spPr bwMode="auto">
          <a:xfrm>
            <a:off x="6781800" y="2362200"/>
            <a:ext cx="533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 dirty="0"/>
              <a:t>t1</a:t>
            </a:r>
          </a:p>
        </p:txBody>
      </p:sp>
      <p:sp>
        <p:nvSpPr>
          <p:cNvPr id="7212" name="Line 57"/>
          <p:cNvSpPr>
            <a:spLocks noChangeShapeType="1"/>
          </p:cNvSpPr>
          <p:nvPr/>
        </p:nvSpPr>
        <p:spPr bwMode="auto">
          <a:xfrm>
            <a:off x="7543800" y="4419600"/>
            <a:ext cx="152400" cy="1524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7213" name="Line 58"/>
          <p:cNvSpPr>
            <a:spLocks noChangeShapeType="1"/>
          </p:cNvSpPr>
          <p:nvPr/>
        </p:nvSpPr>
        <p:spPr bwMode="auto">
          <a:xfrm flipH="1">
            <a:off x="7543800" y="4572000"/>
            <a:ext cx="152400" cy="1524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7214" name="Line 60"/>
          <p:cNvSpPr>
            <a:spLocks noChangeShapeType="1"/>
          </p:cNvSpPr>
          <p:nvPr/>
        </p:nvSpPr>
        <p:spPr bwMode="auto">
          <a:xfrm>
            <a:off x="4876800" y="2209800"/>
            <a:ext cx="0" cy="3962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15" name="Line 61"/>
          <p:cNvSpPr>
            <a:spLocks noChangeShapeType="1"/>
          </p:cNvSpPr>
          <p:nvPr/>
        </p:nvSpPr>
        <p:spPr bwMode="auto">
          <a:xfrm>
            <a:off x="4876800" y="2209800"/>
            <a:ext cx="3810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16" name="Line 62"/>
          <p:cNvSpPr>
            <a:spLocks noChangeShapeType="1"/>
          </p:cNvSpPr>
          <p:nvPr/>
        </p:nvSpPr>
        <p:spPr bwMode="auto">
          <a:xfrm>
            <a:off x="8686800" y="2209800"/>
            <a:ext cx="0" cy="3962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17" name="Line 63"/>
          <p:cNvSpPr>
            <a:spLocks noChangeShapeType="1"/>
          </p:cNvSpPr>
          <p:nvPr/>
        </p:nvSpPr>
        <p:spPr bwMode="auto">
          <a:xfrm>
            <a:off x="4876800" y="6172200"/>
            <a:ext cx="3810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18" name="Text Box 64"/>
          <p:cNvSpPr txBox="1">
            <a:spLocks noChangeArrowheads="1"/>
          </p:cNvSpPr>
          <p:nvPr/>
        </p:nvSpPr>
        <p:spPr bwMode="auto">
          <a:xfrm>
            <a:off x="4800600" y="1600200"/>
            <a:ext cx="3886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400" dirty="0"/>
              <a:t>Process Address Space</a:t>
            </a:r>
          </a:p>
        </p:txBody>
      </p:sp>
      <p:sp>
        <p:nvSpPr>
          <p:cNvPr id="7219" name="Line 65"/>
          <p:cNvSpPr>
            <a:spLocks noChangeShapeType="1"/>
          </p:cNvSpPr>
          <p:nvPr/>
        </p:nvSpPr>
        <p:spPr bwMode="auto">
          <a:xfrm flipH="1">
            <a:off x="5638800" y="4572000"/>
            <a:ext cx="457200" cy="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7220" name="Text Box 66"/>
          <p:cNvSpPr txBox="1">
            <a:spLocks noChangeArrowheads="1"/>
          </p:cNvSpPr>
          <p:nvPr/>
        </p:nvSpPr>
        <p:spPr bwMode="auto">
          <a:xfrm>
            <a:off x="6096000" y="4419600"/>
            <a:ext cx="685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 dirty="0">
                <a:solidFill>
                  <a:srgbClr val="00FF00"/>
                </a:solidFill>
              </a:rPr>
              <a:t>PC</a:t>
            </a:r>
          </a:p>
        </p:txBody>
      </p:sp>
      <p:sp>
        <p:nvSpPr>
          <p:cNvPr id="7221" name="Text Box 67"/>
          <p:cNvSpPr txBox="1">
            <a:spLocks noChangeArrowheads="1"/>
          </p:cNvSpPr>
          <p:nvPr/>
        </p:nvSpPr>
        <p:spPr bwMode="auto">
          <a:xfrm>
            <a:off x="8153400" y="3200400"/>
            <a:ext cx="533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 dirty="0">
                <a:solidFill>
                  <a:schemeClr val="accent2"/>
                </a:solidFill>
              </a:rPr>
              <a:t>PC</a:t>
            </a:r>
          </a:p>
        </p:txBody>
      </p:sp>
      <p:sp>
        <p:nvSpPr>
          <p:cNvPr id="7222" name="Text Box 68"/>
          <p:cNvSpPr txBox="1">
            <a:spLocks noChangeArrowheads="1"/>
          </p:cNvSpPr>
          <p:nvPr/>
        </p:nvSpPr>
        <p:spPr bwMode="auto">
          <a:xfrm>
            <a:off x="6096000" y="3657600"/>
            <a:ext cx="533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/>
              <a:t>PC</a:t>
            </a:r>
          </a:p>
        </p:txBody>
      </p:sp>
      <p:sp>
        <p:nvSpPr>
          <p:cNvPr id="7223" name="Line 69"/>
          <p:cNvSpPr>
            <a:spLocks noChangeShapeType="1"/>
          </p:cNvSpPr>
          <p:nvPr/>
        </p:nvSpPr>
        <p:spPr bwMode="auto">
          <a:xfrm>
            <a:off x="6553200" y="3810000"/>
            <a:ext cx="381000" cy="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7224" name="Line 71"/>
          <p:cNvSpPr>
            <a:spLocks noChangeShapeType="1"/>
          </p:cNvSpPr>
          <p:nvPr/>
        </p:nvSpPr>
        <p:spPr bwMode="auto">
          <a:xfrm flipH="1">
            <a:off x="7696200" y="3352800"/>
            <a:ext cx="457200" cy="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315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>
            <a:extLst>
              <a:ext uri="{FF2B5EF4-FFF2-40B4-BE49-F238E27FC236}">
                <a16:creationId xmlns:a16="http://schemas.microsoft.com/office/drawing/2014/main" id="{5DAE641A-82E5-4706-A422-7614EF045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825" y="222868"/>
            <a:ext cx="7673975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Multicore Programming</a:t>
            </a:r>
          </a:p>
        </p:txBody>
      </p:sp>
      <p:sp>
        <p:nvSpPr>
          <p:cNvPr id="18434" name="Content Placeholder 2">
            <a:extLst>
              <a:ext uri="{FF2B5EF4-FFF2-40B4-BE49-F238E27FC236}">
                <a16:creationId xmlns:a16="http://schemas.microsoft.com/office/drawing/2014/main" id="{A7143B20-81F4-4C44-95F8-D8F686F2F4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002" y="1208088"/>
            <a:ext cx="8107398" cy="5421312"/>
          </a:xfrm>
        </p:spPr>
        <p:txBody>
          <a:bodyPr>
            <a:normAutofit fontScale="92500" lnSpcReduction="20000"/>
          </a:bodyPr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Multicore</a:t>
            </a:r>
            <a:r>
              <a:rPr lang="en-US" altLang="en-US" dirty="0"/>
              <a:t> or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multiprocessor</a:t>
            </a:r>
            <a:r>
              <a:rPr lang="en-US" altLang="en-US" dirty="0"/>
              <a:t> systems puts pressure on programmers, challenges include:</a:t>
            </a:r>
          </a:p>
          <a:p>
            <a:pPr lvl="1"/>
            <a:r>
              <a:rPr lang="en-US" altLang="en-US" b="1" dirty="0"/>
              <a:t>Dividing activities</a:t>
            </a:r>
          </a:p>
          <a:p>
            <a:pPr lvl="1"/>
            <a:r>
              <a:rPr lang="en-US" altLang="en-US" b="1" dirty="0"/>
              <a:t>Balance</a:t>
            </a:r>
          </a:p>
          <a:p>
            <a:pPr lvl="1"/>
            <a:r>
              <a:rPr lang="en-US" altLang="en-US" b="1" dirty="0"/>
              <a:t>Data splitting</a:t>
            </a:r>
          </a:p>
          <a:p>
            <a:pPr lvl="1"/>
            <a:r>
              <a:rPr lang="en-US" altLang="en-US" b="1" dirty="0"/>
              <a:t>Data dependency</a:t>
            </a:r>
          </a:p>
          <a:p>
            <a:pPr lvl="1"/>
            <a:r>
              <a:rPr lang="en-US" altLang="en-US" b="1" dirty="0"/>
              <a:t>Testing and debugging</a:t>
            </a:r>
          </a:p>
          <a:p>
            <a:r>
              <a:rPr lang="en-US" altLang="en-US" b="1" i="1" dirty="0"/>
              <a:t>Parallelism</a:t>
            </a:r>
            <a:r>
              <a:rPr lang="en-US" altLang="en-US" dirty="0"/>
              <a:t> implies a system can perform more than one task simultaneously</a:t>
            </a:r>
          </a:p>
          <a:p>
            <a:r>
              <a:rPr lang="en-US" altLang="en-US" b="1" i="1" dirty="0"/>
              <a:t>Concurrency</a:t>
            </a:r>
            <a:r>
              <a:rPr lang="en-US" altLang="en-US" dirty="0"/>
              <a:t> supports more than one task making progress</a:t>
            </a:r>
          </a:p>
          <a:p>
            <a:pPr lvl="1"/>
            <a:r>
              <a:rPr lang="en-US" altLang="en-US" dirty="0"/>
              <a:t>Single processor / core, scheduler providing concurrency</a:t>
            </a:r>
          </a:p>
          <a:p>
            <a:pPr lvl="1">
              <a:buFont typeface="Monotype Sorts" pitchFamily="-84" charset="2"/>
              <a:buNone/>
            </a:pPr>
            <a:endParaRPr lang="en-US" altLang="en-US" dirty="0"/>
          </a:p>
          <a:p>
            <a:pPr lvl="1"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1">
            <a:extLst>
              <a:ext uri="{FF2B5EF4-FFF2-40B4-BE49-F238E27FC236}">
                <a16:creationId xmlns:a16="http://schemas.microsoft.com/office/drawing/2014/main" id="{99AFB161-ED93-4730-90CF-60C15CF17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75" y="222215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Concurrency vs. Parallelism</a:t>
            </a:r>
          </a:p>
        </p:txBody>
      </p:sp>
      <p:sp>
        <p:nvSpPr>
          <p:cNvPr id="20482" name="Rectangle 3">
            <a:extLst>
              <a:ext uri="{FF2B5EF4-FFF2-40B4-BE49-F238E27FC236}">
                <a16:creationId xmlns:a16="http://schemas.microsoft.com/office/drawing/2014/main" id="{D036A6A0-4CE5-4725-A8D1-F915FCFB1B90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802433" y="1163638"/>
            <a:ext cx="7912359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 marL="488950" indent="-48895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indent="0">
              <a:buSzPct val="110000"/>
              <a:buNone/>
            </a:pPr>
            <a:r>
              <a:rPr lang="en-US" altLang="en-US" sz="1800" b="1" dirty="0"/>
              <a:t>Concurrent execution on single-core system:</a:t>
            </a:r>
          </a:p>
          <a:p>
            <a:endParaRPr lang="en-US" altLang="en-US" b="1" dirty="0"/>
          </a:p>
          <a:p>
            <a:endParaRPr lang="en-US" altLang="en-US" b="1" dirty="0"/>
          </a:p>
          <a:p>
            <a:endParaRPr lang="en-US" altLang="en-US" b="1" dirty="0"/>
          </a:p>
          <a:p>
            <a:pPr>
              <a:buFontTx/>
              <a:buNone/>
            </a:pPr>
            <a:endParaRPr lang="en-US" altLang="en-US" b="1" dirty="0"/>
          </a:p>
          <a:p>
            <a:pPr>
              <a:buSzPct val="110000"/>
              <a:buFont typeface="Wingdings" panose="05000000000000000000" pitchFamily="2" charset="2"/>
              <a:buChar char="§"/>
            </a:pPr>
            <a:r>
              <a:rPr lang="en-US" altLang="en-US" b="1" dirty="0"/>
              <a:t>Parallelism on a multi-core system:</a:t>
            </a:r>
          </a:p>
          <a:p>
            <a:endParaRPr lang="en-US" altLang="en-US" b="1" dirty="0"/>
          </a:p>
        </p:txBody>
      </p:sp>
      <p:pic>
        <p:nvPicPr>
          <p:cNvPr id="20483" name="Picture 1">
            <a:extLst>
              <a:ext uri="{FF2B5EF4-FFF2-40B4-BE49-F238E27FC236}">
                <a16:creationId xmlns:a16="http://schemas.microsoft.com/office/drawing/2014/main" id="{823F49F0-4145-4731-B6A8-7F150BB638B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413" y="1830388"/>
            <a:ext cx="7799387" cy="868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4" name="Picture 2">
            <a:extLst>
              <a:ext uri="{FF2B5EF4-FFF2-40B4-BE49-F238E27FC236}">
                <a16:creationId xmlns:a16="http://schemas.microsoft.com/office/drawing/2014/main" id="{B2355580-5738-4BF5-8926-EC91E28B045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5675" y="3647589"/>
            <a:ext cx="4692650" cy="1627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EDCBD57-7420-ACEB-6927-C4270C5598BE}"/>
              </a:ext>
            </a:extLst>
          </p:cNvPr>
          <p:cNvSpPr txBox="1"/>
          <p:nvPr/>
        </p:nvSpPr>
        <p:spPr>
          <a:xfrm>
            <a:off x="-36786" y="2971800"/>
            <a:ext cx="56388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buSzPct val="110000"/>
            </a:pPr>
            <a:r>
              <a:rPr kumimoji="1" lang="en-US" altLang="en-US" sz="1800" b="1" dirty="0">
                <a:latin typeface="Helvetica" panose="020B0604020202020204" pitchFamily="34" charset="0"/>
                <a:ea typeface="MS PGothic" panose="020B0600070205080204" pitchFamily="34" charset="-128"/>
              </a:rPr>
              <a:t>Parallel execution on multicore system: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le 1">
            <a:extLst>
              <a:ext uri="{FF2B5EF4-FFF2-40B4-BE49-F238E27FC236}">
                <a16:creationId xmlns:a16="http://schemas.microsoft.com/office/drawing/2014/main" id="{CAD927E8-64DE-4671-A690-608A4563E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825" y="213537"/>
            <a:ext cx="7673975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Multicore Programming</a:t>
            </a:r>
          </a:p>
        </p:txBody>
      </p:sp>
      <p:sp>
        <p:nvSpPr>
          <p:cNvPr id="22530" name="Content Placeholder 2">
            <a:extLst>
              <a:ext uri="{FF2B5EF4-FFF2-40B4-BE49-F238E27FC236}">
                <a16:creationId xmlns:a16="http://schemas.microsoft.com/office/drawing/2014/main" id="{9FB1F3DE-869C-4D7F-9A3F-53A8F1DC93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450" y="1233488"/>
            <a:ext cx="7727950" cy="4530725"/>
          </a:xfrm>
        </p:spPr>
        <p:txBody>
          <a:bodyPr/>
          <a:lstStyle/>
          <a:p>
            <a:pPr algn="just"/>
            <a:r>
              <a:rPr lang="en-US" altLang="en-US" dirty="0"/>
              <a:t>Types of parallelism </a:t>
            </a:r>
          </a:p>
          <a:p>
            <a:pPr lvl="1" algn="just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Data parallelism </a:t>
            </a:r>
            <a:r>
              <a:rPr lang="en-US" altLang="en-US" dirty="0"/>
              <a:t>– distributes subsets of the same data across multiple cores, same operation on each</a:t>
            </a:r>
            <a:endParaRPr lang="en-US" altLang="en-US" b="1" dirty="0">
              <a:solidFill>
                <a:srgbClr val="3366FF"/>
              </a:solidFill>
            </a:endParaRPr>
          </a:p>
          <a:p>
            <a:pPr lvl="1" algn="just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Task parallelism </a:t>
            </a:r>
            <a:r>
              <a:rPr lang="en-US" altLang="en-US" dirty="0"/>
              <a:t>– distributing threads across cores, each thread performing unique operation</a:t>
            </a:r>
          </a:p>
          <a:p>
            <a:pPr lvl="1" algn="just"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>
            <a:extLst>
              <a:ext uri="{FF2B5EF4-FFF2-40B4-BE49-F238E27FC236}">
                <a16:creationId xmlns:a16="http://schemas.microsoft.com/office/drawing/2014/main" id="{F297ACC2-6415-49B5-B30C-3C6679A21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Data and Task Parallelism</a:t>
            </a:r>
          </a:p>
        </p:txBody>
      </p:sp>
      <p:pic>
        <p:nvPicPr>
          <p:cNvPr id="24578" name="Picture 1">
            <a:extLst>
              <a:ext uri="{FF2B5EF4-FFF2-40B4-BE49-F238E27FC236}">
                <a16:creationId xmlns:a16="http://schemas.microsoft.com/office/drawing/2014/main" id="{7C4056CB-23F8-4E11-9D19-A3540316F52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8300" y="1473200"/>
            <a:ext cx="5851525" cy="390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634A4-8D7E-491E-B444-B4393C2B0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Amdahl’s Law</a:t>
            </a:r>
            <a:endParaRPr lang="en-PK" dirty="0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85BC15-4877-4F5C-9B53-B97D0455479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788"/>
          <a:stretch/>
        </p:blipFill>
        <p:spPr>
          <a:xfrm>
            <a:off x="132713" y="1600200"/>
            <a:ext cx="8878574" cy="4221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3305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User Threads and Kernel Threads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altLang="en-US" dirty="0"/>
              <a:t>User threads - management done by user-level threads library</a:t>
            </a:r>
          </a:p>
          <a:p>
            <a:r>
              <a:rPr lang="en-US" altLang="en-US" dirty="0"/>
              <a:t>Three primary thread libraries:</a:t>
            </a:r>
          </a:p>
          <a:p>
            <a:pPr lvl="1"/>
            <a:r>
              <a:rPr lang="en-US" altLang="en-US" dirty="0"/>
              <a:t> POSIX </a:t>
            </a:r>
            <a:r>
              <a:rPr lang="en-US" altLang="en-US" dirty="0" err="1"/>
              <a:t>Pthreads</a:t>
            </a:r>
            <a:endParaRPr lang="en-US" altLang="en-US" dirty="0"/>
          </a:p>
          <a:p>
            <a:pPr lvl="1"/>
            <a:r>
              <a:rPr lang="en-US" altLang="en-US" dirty="0"/>
              <a:t> Windows threads</a:t>
            </a:r>
          </a:p>
          <a:p>
            <a:pPr lvl="1"/>
            <a:r>
              <a:rPr lang="en-US" altLang="en-US" dirty="0"/>
              <a:t> Java threads</a:t>
            </a:r>
          </a:p>
          <a:p>
            <a:r>
              <a:rPr lang="en-US" altLang="en-US" dirty="0"/>
              <a:t>Kernel threads - Supported by the Kernel</a:t>
            </a:r>
          </a:p>
          <a:p>
            <a:r>
              <a:rPr lang="en-US" altLang="en-US" dirty="0"/>
              <a:t>Examples – virtually all general purpose operating systems, including:</a:t>
            </a:r>
          </a:p>
          <a:p>
            <a:pPr lvl="1"/>
            <a:r>
              <a:rPr lang="en-US" altLang="en-US" dirty="0"/>
              <a:t>Windows </a:t>
            </a:r>
          </a:p>
          <a:p>
            <a:pPr lvl="1"/>
            <a:r>
              <a:rPr lang="en-US" altLang="en-US" dirty="0"/>
              <a:t>Solaris</a:t>
            </a:r>
          </a:p>
          <a:p>
            <a:pPr lvl="1"/>
            <a:r>
              <a:rPr lang="en-US" altLang="en-US" dirty="0"/>
              <a:t>Linux</a:t>
            </a:r>
          </a:p>
          <a:p>
            <a:pPr lvl="1"/>
            <a:r>
              <a:rPr lang="en-US" altLang="en-US" dirty="0"/>
              <a:t>Tru64 UNIX</a:t>
            </a:r>
          </a:p>
          <a:p>
            <a:pPr lvl="1"/>
            <a:r>
              <a:rPr lang="en-US" altLang="en-US" dirty="0"/>
              <a:t>Mac OS X</a:t>
            </a:r>
          </a:p>
          <a:p>
            <a:pPr lvl="1"/>
            <a:endParaRPr lang="en-US" alt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48E9A2-25FF-9645-F014-74F5EE30B26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4191000"/>
            <a:ext cx="3870014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Multithreading Models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Many-to-One</a:t>
            </a:r>
            <a:br>
              <a:rPr lang="en-US" altLang="en-US"/>
            </a:br>
            <a:endParaRPr lang="en-US" altLang="en-US"/>
          </a:p>
          <a:p>
            <a:r>
              <a:rPr lang="en-US" altLang="en-US"/>
              <a:t>One-to-One</a:t>
            </a:r>
            <a:br>
              <a:rPr lang="en-US" altLang="en-US"/>
            </a:br>
            <a:endParaRPr lang="en-US" altLang="en-US"/>
          </a:p>
          <a:p>
            <a:r>
              <a:rPr lang="en-US" altLang="en-US"/>
              <a:t>Many-to-Many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>
            <a:extLst>
              <a:ext uri="{FF2B5EF4-FFF2-40B4-BE49-F238E27FC236}">
                <a16:creationId xmlns:a16="http://schemas.microsoft.com/office/drawing/2014/main" id="{1428C89C-D1C7-44B6-B4FD-1F83ABA1D4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2868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Many-to-One</a:t>
            </a:r>
          </a:p>
        </p:txBody>
      </p:sp>
      <p:sp>
        <p:nvSpPr>
          <p:cNvPr id="33794" name="Rectangle 3">
            <a:extLst>
              <a:ext uri="{FF2B5EF4-FFF2-40B4-BE49-F238E27FC236}">
                <a16:creationId xmlns:a16="http://schemas.microsoft.com/office/drawing/2014/main" id="{5D915EFA-C388-487C-B6EF-E80827050A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7721730" cy="4530725"/>
          </a:xfrm>
        </p:spPr>
        <p:txBody>
          <a:bodyPr>
            <a:normAutofit fontScale="92500" lnSpcReduction="20000"/>
          </a:bodyPr>
          <a:lstStyle/>
          <a:p>
            <a:r>
              <a:rPr lang="en-US" altLang="en-US" dirty="0"/>
              <a:t>Many user-level threads mapped to single kernel thread</a:t>
            </a:r>
          </a:p>
          <a:p>
            <a:r>
              <a:rPr lang="en-US" altLang="en-US" dirty="0"/>
              <a:t>One thread blocking causes all to block</a:t>
            </a:r>
          </a:p>
          <a:p>
            <a:r>
              <a:rPr lang="en-US" altLang="en-US" dirty="0"/>
              <a:t>Multiple threads may not run in parallel on multicore system because only one may be in kernel at a time</a:t>
            </a:r>
          </a:p>
          <a:p>
            <a:r>
              <a:rPr lang="en-US" altLang="en-US" dirty="0"/>
              <a:t>Few systems currently use this model</a:t>
            </a:r>
          </a:p>
          <a:p>
            <a:r>
              <a:rPr lang="en-US" altLang="en-US" dirty="0"/>
              <a:t>Examples: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Solaris Green Threads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GNU Portable Threads</a:t>
            </a:r>
          </a:p>
        </p:txBody>
      </p:sp>
      <p:pic>
        <p:nvPicPr>
          <p:cNvPr id="33795" name="Picture 1">
            <a:extLst>
              <a:ext uri="{FF2B5EF4-FFF2-40B4-BE49-F238E27FC236}">
                <a16:creationId xmlns:a16="http://schemas.microsoft.com/office/drawing/2014/main" id="{6B215585-915F-44AD-918A-FBC0A438F8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4343400"/>
            <a:ext cx="3959225" cy="217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>
            <a:extLst>
              <a:ext uri="{FF2B5EF4-FFF2-40B4-BE49-F238E27FC236}">
                <a16:creationId xmlns:a16="http://schemas.microsoft.com/office/drawing/2014/main" id="{4FBEFB0E-7F3F-4EF4-9827-FE005FBB4E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4522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One-to-One</a:t>
            </a:r>
          </a:p>
        </p:txBody>
      </p:sp>
      <p:sp>
        <p:nvSpPr>
          <p:cNvPr id="35842" name="Rectangle 3">
            <a:extLst>
              <a:ext uri="{FF2B5EF4-FFF2-40B4-BE49-F238E27FC236}">
                <a16:creationId xmlns:a16="http://schemas.microsoft.com/office/drawing/2014/main" id="{C9353153-B94C-4BC4-A944-80F7FC0E31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49" y="1233488"/>
            <a:ext cx="7628423" cy="4530725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dirty="0"/>
              <a:t>Each user-level thread maps to kernel thread</a:t>
            </a:r>
          </a:p>
          <a:p>
            <a:r>
              <a:rPr lang="en-US" altLang="en-US" dirty="0"/>
              <a:t>Creating a user-level thread creates a kernel thread</a:t>
            </a:r>
          </a:p>
          <a:p>
            <a:r>
              <a:rPr lang="en-US" altLang="en-US" dirty="0"/>
              <a:t>More concurrency than many-to-one</a:t>
            </a:r>
          </a:p>
          <a:p>
            <a:r>
              <a:rPr lang="en-US" altLang="en-US" dirty="0"/>
              <a:t>Number of threads per process sometimes restricted due to overhead</a:t>
            </a:r>
          </a:p>
          <a:p>
            <a:r>
              <a:rPr lang="en-US" altLang="en-US" dirty="0"/>
              <a:t>Examples</a:t>
            </a:r>
          </a:p>
          <a:p>
            <a:pPr lvl="1"/>
            <a:r>
              <a:rPr lang="en-US" altLang="en-US" dirty="0"/>
              <a:t>Windows</a:t>
            </a:r>
          </a:p>
          <a:p>
            <a:pPr lvl="1"/>
            <a:r>
              <a:rPr lang="en-US" altLang="en-US" dirty="0"/>
              <a:t>Linux</a:t>
            </a:r>
          </a:p>
        </p:txBody>
      </p:sp>
      <p:pic>
        <p:nvPicPr>
          <p:cNvPr id="35843" name="Picture 1">
            <a:extLst>
              <a:ext uri="{FF2B5EF4-FFF2-40B4-BE49-F238E27FC236}">
                <a16:creationId xmlns:a16="http://schemas.microsoft.com/office/drawing/2014/main" id="{EF8F904A-031A-45E1-82C4-C375DF8A63A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4191000"/>
            <a:ext cx="3914775" cy="217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>
            <a:extLst>
              <a:ext uri="{FF2B5EF4-FFF2-40B4-BE49-F238E27FC236}">
                <a16:creationId xmlns:a16="http://schemas.microsoft.com/office/drawing/2014/main" id="{C6AC490D-7E71-499F-80A2-0817A44950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4522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Many-to-Many Model</a:t>
            </a:r>
          </a:p>
        </p:txBody>
      </p:sp>
      <p:sp>
        <p:nvSpPr>
          <p:cNvPr id="37890" name="Rectangle 3">
            <a:extLst>
              <a:ext uri="{FF2B5EF4-FFF2-40B4-BE49-F238E27FC236}">
                <a16:creationId xmlns:a16="http://schemas.microsoft.com/office/drawing/2014/main" id="{6A3ECDFD-78CA-4E72-9500-110C179082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7088" y="1155700"/>
            <a:ext cx="7607785" cy="4445000"/>
          </a:xfrm>
        </p:spPr>
        <p:txBody>
          <a:bodyPr/>
          <a:lstStyle/>
          <a:p>
            <a:r>
              <a:rPr lang="en-US" altLang="en-US" dirty="0"/>
              <a:t>Allows many user level threads to be mapped to many kernel threads</a:t>
            </a:r>
          </a:p>
          <a:p>
            <a:r>
              <a:rPr lang="en-US" altLang="en-US" dirty="0"/>
              <a:t>Allows the  operating system to create a sufficient number of kernel threads</a:t>
            </a:r>
          </a:p>
          <a:p>
            <a:r>
              <a:rPr lang="en-US" altLang="en-US" dirty="0"/>
              <a:t>Windows  with the </a:t>
            </a:r>
            <a:r>
              <a:rPr lang="en-US" altLang="en-US" i="1" dirty="0" err="1"/>
              <a:t>ThreadFiber</a:t>
            </a:r>
            <a:r>
              <a:rPr lang="en-US" altLang="en-US" dirty="0"/>
              <a:t> package</a:t>
            </a:r>
          </a:p>
          <a:p>
            <a:r>
              <a:rPr lang="en-US" altLang="en-US" dirty="0"/>
              <a:t>Otherwise not very common</a:t>
            </a:r>
          </a:p>
        </p:txBody>
      </p:sp>
      <p:pic>
        <p:nvPicPr>
          <p:cNvPr id="37891" name="Picture 1">
            <a:extLst>
              <a:ext uri="{FF2B5EF4-FFF2-40B4-BE49-F238E27FC236}">
                <a16:creationId xmlns:a16="http://schemas.microsoft.com/office/drawing/2014/main" id="{CCAA589D-3ED6-47FF-8B49-15D8580890C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4419600"/>
            <a:ext cx="3943350" cy="217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>
            <a:extLst>
              <a:ext uri="{FF2B5EF4-FFF2-40B4-BE49-F238E27FC236}">
                <a16:creationId xmlns:a16="http://schemas.microsoft.com/office/drawing/2014/main" id="{A98DC882-9265-4F2A-AAAB-DD166A263E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8830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Two-level Model</a:t>
            </a:r>
          </a:p>
        </p:txBody>
      </p:sp>
      <p:sp>
        <p:nvSpPr>
          <p:cNvPr id="39938" name="Rectangle 3">
            <a:extLst>
              <a:ext uri="{FF2B5EF4-FFF2-40B4-BE49-F238E27FC236}">
                <a16:creationId xmlns:a16="http://schemas.microsoft.com/office/drawing/2014/main" id="{A2E2CD6A-C625-47A4-91CD-EAFB177081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87" y="1155700"/>
            <a:ext cx="7641739" cy="4456113"/>
          </a:xfrm>
        </p:spPr>
        <p:txBody>
          <a:bodyPr/>
          <a:lstStyle/>
          <a:p>
            <a:r>
              <a:rPr lang="en-US" altLang="en-US" dirty="0"/>
              <a:t>Similar to M:M, except that it allows a user thread to be </a:t>
            </a:r>
            <a:r>
              <a:rPr lang="en-US" altLang="en-US" b="1" dirty="0"/>
              <a:t>bound</a:t>
            </a:r>
            <a:r>
              <a:rPr lang="en-US" altLang="en-US" dirty="0"/>
              <a:t> to kernel thread</a:t>
            </a:r>
          </a:p>
        </p:txBody>
      </p:sp>
      <p:pic>
        <p:nvPicPr>
          <p:cNvPr id="39939" name="Picture 1">
            <a:extLst>
              <a:ext uri="{FF2B5EF4-FFF2-40B4-BE49-F238E27FC236}">
                <a16:creationId xmlns:a16="http://schemas.microsoft.com/office/drawing/2014/main" id="{95426A68-78A8-483B-AE90-0C4299BC760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1100" y="2336800"/>
            <a:ext cx="4222750" cy="217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Thread Libraries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Thread library provides programmer with API for creating and managing threads</a:t>
            </a:r>
          </a:p>
          <a:p>
            <a:r>
              <a:rPr lang="en-US" altLang="en-US"/>
              <a:t>Two primary ways of implementing</a:t>
            </a:r>
          </a:p>
          <a:p>
            <a:pPr lvl="1"/>
            <a:r>
              <a:rPr lang="en-US" altLang="en-US"/>
              <a:t>Library entirely in user space</a:t>
            </a:r>
          </a:p>
          <a:p>
            <a:pPr lvl="1"/>
            <a:r>
              <a:rPr lang="en-US" altLang="en-US"/>
              <a:t>Kernel-level library supported by the OS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Pthreads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altLang="en-US" dirty="0"/>
              <a:t>May be provided either as user-level or kernel-level</a:t>
            </a:r>
          </a:p>
          <a:p>
            <a:pPr algn="just"/>
            <a:r>
              <a:rPr lang="en-US" altLang="en-US" dirty="0"/>
              <a:t>A POSIX standard (IEEE 1003.1c) API for thread creation and synchronization</a:t>
            </a:r>
          </a:p>
          <a:p>
            <a:pPr algn="just"/>
            <a:r>
              <a:rPr lang="en-US" altLang="en-US" dirty="0"/>
              <a:t>Specification, not implementation</a:t>
            </a:r>
          </a:p>
          <a:p>
            <a:pPr algn="just"/>
            <a:r>
              <a:rPr lang="en-US" altLang="en-US" dirty="0"/>
              <a:t>API specifies behavior of the thread library, implementation is up to development of the library</a:t>
            </a:r>
          </a:p>
          <a:p>
            <a:pPr algn="just"/>
            <a:r>
              <a:rPr lang="en-US" altLang="en-US" dirty="0"/>
              <a:t>Common in UNIX operating systems (Solaris, Linux, Mac OS X)</a:t>
            </a:r>
          </a:p>
          <a:p>
            <a:pPr algn="just"/>
            <a:endParaRPr lang="en-US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1143000"/>
          </a:xfrm>
        </p:spPr>
        <p:txBody>
          <a:bodyPr/>
          <a:lstStyle/>
          <a:p>
            <a:r>
              <a:rPr lang="en-US" altLang="en-US"/>
              <a:t>Pthreads Example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0ED5D0-6113-4D46-8304-9E123C182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838200"/>
            <a:ext cx="5372100" cy="58848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8033</TotalTime>
  <Words>720</Words>
  <Application>Microsoft Office PowerPoint</Application>
  <PresentationFormat>On-screen Show (4:3)</PresentationFormat>
  <Paragraphs>157</Paragraphs>
  <Slides>24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Arial</vt:lpstr>
      <vt:lpstr>Calibri</vt:lpstr>
      <vt:lpstr>Courier New</vt:lpstr>
      <vt:lpstr>Helvetica</vt:lpstr>
      <vt:lpstr>Monotype Sorts</vt:lpstr>
      <vt:lpstr>Times New Roman</vt:lpstr>
      <vt:lpstr>Wingdings</vt:lpstr>
      <vt:lpstr>Office Theme</vt:lpstr>
      <vt:lpstr>Chapter 4:  Threads &amp; Concurrency</vt:lpstr>
      <vt:lpstr>PowerPoint Presentation</vt:lpstr>
      <vt:lpstr>Thread Concept</vt:lpstr>
      <vt:lpstr>Single and Multithreaded Processes</vt:lpstr>
      <vt:lpstr>Multithreaded Server Architecture</vt:lpstr>
      <vt:lpstr>Thread Concept</vt:lpstr>
      <vt:lpstr>Threads are Similar to Processes</vt:lpstr>
      <vt:lpstr>Benefits</vt:lpstr>
      <vt:lpstr>PowerPoint Presentation</vt:lpstr>
      <vt:lpstr>PowerPoint Presentation</vt:lpstr>
      <vt:lpstr>Multicore Programming</vt:lpstr>
      <vt:lpstr>Concurrency vs. Parallelism</vt:lpstr>
      <vt:lpstr>Multicore Programming</vt:lpstr>
      <vt:lpstr>Data and Task Parallelism</vt:lpstr>
      <vt:lpstr>Amdahl’s Law</vt:lpstr>
      <vt:lpstr>User Threads and Kernel Threads</vt:lpstr>
      <vt:lpstr>Multithreading Models</vt:lpstr>
      <vt:lpstr>Many-to-One</vt:lpstr>
      <vt:lpstr>One-to-One</vt:lpstr>
      <vt:lpstr>Many-to-Many Model</vt:lpstr>
      <vt:lpstr>Two-level Model</vt:lpstr>
      <vt:lpstr>Thread Libraries</vt:lpstr>
      <vt:lpstr>Pthreads</vt:lpstr>
      <vt:lpstr>Pthreads Example</vt:lpstr>
    </vt:vector>
  </TitlesOfParts>
  <Company>University of Washington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CSE451 Introduction to Operating Systems</dc:title>
  <dc:creator>Gary Kimura</dc:creator>
  <cp:lastModifiedBy>Ayesha Asmat</cp:lastModifiedBy>
  <cp:revision>223</cp:revision>
  <dcterms:created xsi:type="dcterms:W3CDTF">1998-03-30T02:45:13Z</dcterms:created>
  <dcterms:modified xsi:type="dcterms:W3CDTF">2026-05-04T04:32:37Z</dcterms:modified>
</cp:coreProperties>
</file>