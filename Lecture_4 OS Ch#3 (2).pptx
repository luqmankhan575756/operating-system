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6"/>
  </p:notesMasterIdLst>
  <p:sldIdLst>
    <p:sldId id="256" r:id="rId2"/>
    <p:sldId id="331" r:id="rId3"/>
    <p:sldId id="341" r:id="rId4"/>
    <p:sldId id="332" r:id="rId5"/>
    <p:sldId id="333" r:id="rId6"/>
    <p:sldId id="292" r:id="rId7"/>
    <p:sldId id="302" r:id="rId8"/>
    <p:sldId id="295" r:id="rId9"/>
    <p:sldId id="296" r:id="rId10"/>
    <p:sldId id="298" r:id="rId11"/>
    <p:sldId id="334" r:id="rId12"/>
    <p:sldId id="301" r:id="rId13"/>
    <p:sldId id="337" r:id="rId14"/>
    <p:sldId id="338" r:id="rId15"/>
    <p:sldId id="339" r:id="rId16"/>
    <p:sldId id="340" r:id="rId17"/>
    <p:sldId id="308" r:id="rId18"/>
    <p:sldId id="309" r:id="rId19"/>
    <p:sldId id="325" r:id="rId20"/>
    <p:sldId id="326" r:id="rId21"/>
    <p:sldId id="327" r:id="rId22"/>
    <p:sldId id="328" r:id="rId23"/>
    <p:sldId id="329" r:id="rId24"/>
    <p:sldId id="33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091" autoAdjust="0"/>
  </p:normalViewPr>
  <p:slideViewPr>
    <p:cSldViewPr snapToGrid="0">
      <p:cViewPr varScale="1">
        <p:scale>
          <a:sx n="60" d="100"/>
          <a:sy n="60" d="100"/>
        </p:scale>
        <p:origin x="10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AE567-A7BD-4F3D-8A56-136B6D1F853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5FC9F-A50F-46BF-9D25-EFCF693A5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19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FC9F-A50F-46BF-9D25-EFCF693A57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94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Systemd</a:t>
            </a:r>
            <a:r>
              <a:rPr lang="en-US" baseline="0" dirty="0"/>
              <a:t> used n current Ubuntu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FC9F-A50F-46BF-9D25-EFCF693A57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50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8600" y="1171525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36642" y="312860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Ayesha Asmat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237923" y="144584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Image result for umt logo">
            <a:extLst>
              <a:ext uri="{FF2B5EF4-FFF2-40B4-BE49-F238E27FC236}">
                <a16:creationId xmlns:a16="http://schemas.microsoft.com/office/drawing/2014/main" id="{253E27E3-48B1-4D5D-899A-017DAC31E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4192" y="1241948"/>
            <a:ext cx="2843409" cy="21529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502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02568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1712254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36933" y="370266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Ayesha Asmat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319810" y="1986574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Image result for umt logo">
            <a:extLst>
              <a:ext uri="{FF2B5EF4-FFF2-40B4-BE49-F238E27FC236}">
                <a16:creationId xmlns:a16="http://schemas.microsoft.com/office/drawing/2014/main" id="{4D2EEAFE-E713-4623-9201-47216875D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9340" y="1556102"/>
            <a:ext cx="2834995" cy="21465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572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603017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3634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39222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9344CC3C-52B3-4CB3-8A65-0F0CF4D6EA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92000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633603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‹#›</a:t>
            </a:fld>
            <a:endParaRPr lang="en-P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151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77448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‹#›</a:t>
            </a:fld>
            <a:endParaRPr lang="en-PK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270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203512" y="1928646"/>
            <a:ext cx="7642745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mage result for umt logo">
            <a:extLst>
              <a:ext uri="{FF2B5EF4-FFF2-40B4-BE49-F238E27FC236}">
                <a16:creationId xmlns:a16="http://schemas.microsoft.com/office/drawing/2014/main" id="{3FFFB8F1-AE55-4891-9DA1-CBAFA455F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5671" y="1928646"/>
            <a:ext cx="2809490" cy="2127250"/>
          </a:xfrm>
          <a:prstGeom prst="rect">
            <a:avLst/>
          </a:prstGeom>
          <a:noFill/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4282BF-FBAF-4E94-835C-01FA473C0CF9}"/>
              </a:ext>
            </a:extLst>
          </p:cNvPr>
          <p:cNvCxnSpPr/>
          <p:nvPr/>
        </p:nvCxnSpPr>
        <p:spPr>
          <a:xfrm flipV="1">
            <a:off x="4210629" y="2514600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665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344CC3C-52B3-4CB3-8A65-0F0CF4D6EA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78231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7BBDC-A44C-4D1C-8FDD-50C7DD26E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4892" y="1471775"/>
            <a:ext cx="7772400" cy="1463040"/>
          </a:xfrm>
        </p:spPr>
        <p:txBody>
          <a:bodyPr/>
          <a:lstStyle/>
          <a:p>
            <a:r>
              <a:rPr lang="en-US" sz="5400" dirty="0">
                <a:latin typeface="+mn-lt"/>
              </a:rPr>
              <a:t>Process Creation</a:t>
            </a:r>
            <a:br>
              <a:rPr lang="en-US" sz="5400" dirty="0">
                <a:latin typeface="+mn-lt"/>
              </a:rPr>
            </a:b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E8371A-10E8-4F11-9BD0-1F4CC65081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2934" y="3428858"/>
            <a:ext cx="3200400" cy="1463040"/>
          </a:xfrm>
        </p:spPr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76993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5353" y="472378"/>
            <a:ext cx="4203700" cy="78162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Process</a:t>
            </a:r>
            <a:r>
              <a:rPr spc="-30" dirty="0"/>
              <a:t> </a:t>
            </a:r>
            <a:r>
              <a:rPr spc="-5" dirty="0"/>
              <a:t>Creation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9655" y="1525739"/>
            <a:ext cx="10726161" cy="46262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74930" indent="-342900"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Parent</a:t>
            </a:r>
            <a:r>
              <a:rPr sz="2800" dirty="0">
                <a:latin typeface="Arial MT"/>
                <a:cs typeface="Arial MT"/>
              </a:rPr>
              <a:t> process </a:t>
            </a:r>
            <a:r>
              <a:rPr sz="2800" spc="-5" dirty="0">
                <a:latin typeface="Arial MT"/>
                <a:cs typeface="Arial MT"/>
              </a:rPr>
              <a:t>creates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children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processes, </a:t>
            </a:r>
            <a:r>
              <a:rPr sz="2800" spc="-5" dirty="0">
                <a:latin typeface="Arial MT"/>
                <a:cs typeface="Arial MT"/>
              </a:rPr>
              <a:t>which,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turn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create</a:t>
            </a:r>
            <a:r>
              <a:rPr sz="2800" dirty="0">
                <a:latin typeface="Arial MT"/>
                <a:cs typeface="Arial MT"/>
              </a:rPr>
              <a:t> other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processes, </a:t>
            </a:r>
            <a:r>
              <a:rPr sz="2800" spc="-5" dirty="0">
                <a:latin typeface="Arial MT"/>
                <a:cs typeface="Arial MT"/>
              </a:rPr>
              <a:t>forming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 tree </a:t>
            </a:r>
            <a:r>
              <a:rPr sz="2800" dirty="0">
                <a:latin typeface="Arial MT"/>
                <a:cs typeface="Arial MT"/>
              </a:rPr>
              <a:t>of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processes</a:t>
            </a:r>
          </a:p>
          <a:p>
            <a:pPr marL="355600" marR="1225550" indent="-342900"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Once the OS decides to </a:t>
            </a:r>
            <a:r>
              <a:rPr sz="2800" dirty="0">
                <a:latin typeface="Arial MT"/>
                <a:cs typeface="Arial MT"/>
              </a:rPr>
              <a:t>create </a:t>
            </a:r>
            <a:r>
              <a:rPr sz="2800" spc="-5" dirty="0">
                <a:latin typeface="Arial MT"/>
                <a:cs typeface="Arial MT"/>
              </a:rPr>
              <a:t>a </a:t>
            </a:r>
            <a:r>
              <a:rPr sz="2800" dirty="0">
                <a:latin typeface="Arial MT"/>
                <a:cs typeface="Arial MT"/>
              </a:rPr>
              <a:t>process </a:t>
            </a:r>
            <a:r>
              <a:rPr sz="2800" spc="-5" dirty="0">
                <a:latin typeface="Arial MT"/>
                <a:cs typeface="Arial MT"/>
              </a:rPr>
              <a:t>it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proceeds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follows:</a:t>
            </a:r>
            <a:endParaRPr sz="2800" dirty="0">
              <a:latin typeface="Arial MT"/>
              <a:cs typeface="Arial MT"/>
            </a:endParaRPr>
          </a:p>
          <a:p>
            <a:pPr marL="756285" lvl="1" indent="-287020">
              <a:spcBef>
                <a:spcPts val="675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Arial MT"/>
                <a:cs typeface="Arial MT"/>
              </a:rPr>
              <a:t>Assigns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 </a:t>
            </a:r>
            <a:r>
              <a:rPr sz="2800" dirty="0">
                <a:latin typeface="Arial MT"/>
                <a:cs typeface="Arial MT"/>
              </a:rPr>
              <a:t>unique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PID to the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new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process.</a:t>
            </a:r>
            <a:endParaRPr sz="2800" dirty="0">
              <a:latin typeface="Arial MT"/>
              <a:cs typeface="Arial MT"/>
            </a:endParaRPr>
          </a:p>
          <a:p>
            <a:pPr marL="756285" lvl="1" indent="-287020">
              <a:spcBef>
                <a:spcPts val="670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Arial MT"/>
                <a:cs typeface="Arial MT"/>
              </a:rPr>
              <a:t>Allocate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space</a:t>
            </a:r>
            <a:endParaRPr sz="2800" dirty="0">
              <a:latin typeface="Arial MT"/>
              <a:cs typeface="Arial MT"/>
            </a:endParaRPr>
          </a:p>
          <a:p>
            <a:pPr marL="756285" lvl="1" indent="-287020">
              <a:spcBef>
                <a:spcPts val="675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dirty="0">
                <a:latin typeface="Arial MT"/>
                <a:cs typeface="Arial MT"/>
              </a:rPr>
              <a:t>Initialize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PCB for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process.</a:t>
            </a:r>
          </a:p>
          <a:p>
            <a:pPr marL="756285" lvl="1" indent="-287020">
              <a:spcBef>
                <a:spcPts val="670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Arial MT"/>
                <a:cs typeface="Arial MT"/>
              </a:rPr>
              <a:t>Set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appropriate </a:t>
            </a:r>
            <a:r>
              <a:rPr sz="2800" spc="-5" dirty="0">
                <a:latin typeface="Arial MT"/>
                <a:cs typeface="Arial MT"/>
              </a:rPr>
              <a:t>linkages</a:t>
            </a:r>
            <a:endParaRPr sz="2800" dirty="0">
              <a:latin typeface="Arial MT"/>
              <a:cs typeface="Arial MT"/>
            </a:endParaRPr>
          </a:p>
          <a:p>
            <a:pPr marL="756285" lvl="1" indent="-287020">
              <a:spcBef>
                <a:spcPts val="675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Arial MT"/>
                <a:cs typeface="Arial MT"/>
              </a:rPr>
              <a:t>Create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or </a:t>
            </a:r>
            <a:r>
              <a:rPr sz="2800" dirty="0">
                <a:latin typeface="Arial MT"/>
                <a:cs typeface="Arial MT"/>
              </a:rPr>
              <a:t>expand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other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 structures</a:t>
            </a:r>
          </a:p>
          <a:p>
            <a:pPr marL="310515">
              <a:spcBef>
                <a:spcPts val="140"/>
              </a:spcBef>
              <a:tabLst>
                <a:tab pos="8187055" algn="l"/>
              </a:tabLst>
            </a:pPr>
            <a:r>
              <a:rPr sz="1200" dirty="0">
                <a:solidFill>
                  <a:srgbClr val="888888"/>
                </a:solidFill>
                <a:latin typeface="Arial MT"/>
                <a:cs typeface="Arial MT"/>
              </a:rPr>
              <a:t>	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001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5353" y="472378"/>
            <a:ext cx="4203700" cy="78162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Process</a:t>
            </a:r>
            <a:r>
              <a:rPr spc="-30" dirty="0"/>
              <a:t> </a:t>
            </a:r>
            <a:r>
              <a:rPr spc="-5" dirty="0"/>
              <a:t>Creation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9655" y="1525739"/>
            <a:ext cx="10726161" cy="23641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800" dirty="0">
                <a:latin typeface="Arial MT"/>
              </a:rPr>
              <a:t>The reasons for creating child processes are:</a:t>
            </a:r>
          </a:p>
          <a:p>
            <a:pPr marL="546100" indent="-273050">
              <a:buFont typeface="+mj-lt"/>
              <a:buAutoNum type="arabicPeriod"/>
            </a:pPr>
            <a:r>
              <a:rPr lang="en-US" sz="2800" b="1" dirty="0">
                <a:latin typeface="Arial MT"/>
              </a:rPr>
              <a:t>Information sharing</a:t>
            </a:r>
            <a:r>
              <a:rPr lang="en-US" sz="2800" dirty="0">
                <a:latin typeface="Arial MT"/>
              </a:rPr>
              <a:t> </a:t>
            </a:r>
          </a:p>
          <a:p>
            <a:pPr marL="546100" indent="-273050">
              <a:buFont typeface="+mj-lt"/>
              <a:buAutoNum type="arabicPeriod"/>
            </a:pPr>
            <a:r>
              <a:rPr lang="en-US" sz="2800" b="1" dirty="0">
                <a:latin typeface="Arial MT"/>
              </a:rPr>
              <a:t>Computation speedup</a:t>
            </a:r>
            <a:r>
              <a:rPr lang="en-US" sz="2800" dirty="0">
                <a:latin typeface="Arial MT"/>
              </a:rPr>
              <a:t> </a:t>
            </a:r>
          </a:p>
          <a:p>
            <a:pPr marL="546100" indent="-273050">
              <a:buFont typeface="+mj-lt"/>
              <a:buAutoNum type="arabicPeriod"/>
            </a:pPr>
            <a:r>
              <a:rPr lang="en-US" sz="2800" b="1" dirty="0">
                <a:latin typeface="Arial MT"/>
              </a:rPr>
              <a:t>Modularity</a:t>
            </a:r>
            <a:r>
              <a:rPr lang="en-US" sz="2800" dirty="0">
                <a:latin typeface="Arial MT"/>
              </a:rPr>
              <a:t> </a:t>
            </a:r>
          </a:p>
          <a:p>
            <a:pPr marL="546100" indent="-273050">
              <a:buFont typeface="+mj-lt"/>
              <a:buAutoNum type="arabicPeriod"/>
            </a:pPr>
            <a:r>
              <a:rPr lang="en-US" sz="2800" b="1" dirty="0">
                <a:latin typeface="Arial MT"/>
              </a:rPr>
              <a:t>Convenience</a:t>
            </a:r>
            <a:endParaRPr lang="en-US" sz="2800" dirty="0">
              <a:latin typeface="Arial MT"/>
            </a:endParaRPr>
          </a:p>
          <a:p>
            <a:pPr marL="310515">
              <a:spcBef>
                <a:spcPts val="140"/>
              </a:spcBef>
              <a:tabLst>
                <a:tab pos="8187055" algn="l"/>
              </a:tabLst>
            </a:pPr>
            <a:r>
              <a:rPr lang="en-US" sz="1200" dirty="0">
                <a:solidFill>
                  <a:srgbClr val="888888"/>
                </a:solidFill>
                <a:latin typeface="Arial MT"/>
                <a:cs typeface="Arial MT"/>
              </a:rPr>
              <a:t>	</a:t>
            </a:r>
            <a:endParaRPr lang="en-US" sz="1200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33464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9139" y="88490"/>
            <a:ext cx="5686425" cy="78162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Process</a:t>
            </a:r>
            <a:r>
              <a:rPr spc="-10" dirty="0"/>
              <a:t> </a:t>
            </a:r>
            <a:r>
              <a:rPr spc="-5" dirty="0"/>
              <a:t>Creation </a:t>
            </a:r>
            <a:r>
              <a:rPr sz="2800" spc="-5" dirty="0"/>
              <a:t>(cont…)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1076633" y="930953"/>
            <a:ext cx="9483212" cy="4780795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355600" indent="-342900">
              <a:spcBef>
                <a:spcPts val="43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Arial"/>
                <a:cs typeface="Arial"/>
              </a:rPr>
              <a:t>Resource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sharing</a:t>
            </a:r>
            <a:endParaRPr sz="2800" dirty="0">
              <a:latin typeface="Arial"/>
              <a:cs typeface="Arial"/>
            </a:endParaRPr>
          </a:p>
          <a:p>
            <a:pPr marL="756285" lvl="1" indent="-287020">
              <a:spcBef>
                <a:spcPts val="335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Arial MT"/>
                <a:cs typeface="Arial MT"/>
              </a:rPr>
              <a:t>Parent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and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children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share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all resources</a:t>
            </a:r>
          </a:p>
          <a:p>
            <a:pPr marL="756285" marR="5080" lvl="1" indent="-287020">
              <a:lnSpc>
                <a:spcPts val="3030"/>
              </a:lnSpc>
              <a:spcBef>
                <a:spcPts val="710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Arial MT"/>
                <a:cs typeface="Arial MT"/>
              </a:rPr>
              <a:t>Children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share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subset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parent’s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resources </a:t>
            </a:r>
            <a:r>
              <a:rPr sz="2800" spc="-765" dirty="0">
                <a:latin typeface="Arial MT"/>
                <a:cs typeface="Arial MT"/>
              </a:rPr>
              <a:t> </a:t>
            </a:r>
            <a:endParaRPr lang="en-US" sz="2800" spc="-765" dirty="0">
              <a:latin typeface="Arial MT"/>
              <a:cs typeface="Arial MT"/>
            </a:endParaRPr>
          </a:p>
          <a:p>
            <a:pPr marL="756285" marR="5080" lvl="1" indent="-287020">
              <a:lnSpc>
                <a:spcPts val="3030"/>
              </a:lnSpc>
              <a:spcBef>
                <a:spcPts val="710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Arial MT"/>
                <a:cs typeface="Arial MT"/>
              </a:rPr>
              <a:t>Parent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and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child </a:t>
            </a:r>
            <a:r>
              <a:rPr sz="2800" spc="-5" dirty="0">
                <a:latin typeface="Arial MT"/>
                <a:cs typeface="Arial MT"/>
              </a:rPr>
              <a:t>share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no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resources</a:t>
            </a:r>
          </a:p>
          <a:p>
            <a:pPr marL="355600" indent="-342900">
              <a:spcBef>
                <a:spcPts val="3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Arial"/>
                <a:cs typeface="Arial"/>
              </a:rPr>
              <a:t>Execution</a:t>
            </a:r>
            <a:endParaRPr sz="2800" dirty="0">
              <a:latin typeface="Arial"/>
              <a:cs typeface="Arial"/>
            </a:endParaRPr>
          </a:p>
          <a:p>
            <a:pPr marL="756285" lvl="1" indent="-287020">
              <a:spcBef>
                <a:spcPts val="335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Arial MT"/>
                <a:cs typeface="Arial MT"/>
              </a:rPr>
              <a:t>Parent and </a:t>
            </a:r>
            <a:r>
              <a:rPr sz="2800" dirty="0">
                <a:latin typeface="Arial MT"/>
                <a:cs typeface="Arial MT"/>
              </a:rPr>
              <a:t>children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execute </a:t>
            </a:r>
            <a:r>
              <a:rPr sz="2800" dirty="0">
                <a:latin typeface="Arial MT"/>
                <a:cs typeface="Arial MT"/>
              </a:rPr>
              <a:t>concurrently</a:t>
            </a:r>
          </a:p>
          <a:p>
            <a:pPr marL="756285" lvl="1" indent="-287020">
              <a:spcBef>
                <a:spcPts val="340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Arial MT"/>
                <a:cs typeface="Arial MT"/>
              </a:rPr>
              <a:t>Parent waits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until</a:t>
            </a:r>
            <a:r>
              <a:rPr sz="2800" dirty="0">
                <a:latin typeface="Arial MT"/>
                <a:cs typeface="Arial MT"/>
              </a:rPr>
              <a:t> children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terminate</a:t>
            </a:r>
          </a:p>
          <a:p>
            <a:pPr marL="355600" indent="-342900">
              <a:spcBef>
                <a:spcPts val="3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Arial"/>
                <a:cs typeface="Arial"/>
              </a:rPr>
              <a:t>Address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Space</a:t>
            </a:r>
            <a:endParaRPr sz="2800" dirty="0">
              <a:latin typeface="Arial"/>
              <a:cs typeface="Arial"/>
            </a:endParaRPr>
          </a:p>
          <a:p>
            <a:pPr marL="756285" lvl="1" indent="-287020">
              <a:spcBef>
                <a:spcPts val="335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Arial MT"/>
                <a:cs typeface="Arial MT"/>
              </a:rPr>
              <a:t>Child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duplicate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parent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process</a:t>
            </a:r>
            <a:endParaRPr sz="2800" dirty="0">
              <a:latin typeface="Arial MT"/>
              <a:cs typeface="Arial MT"/>
            </a:endParaRPr>
          </a:p>
          <a:p>
            <a:pPr marL="756285" lvl="1" indent="-287020">
              <a:spcBef>
                <a:spcPts val="770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Arial MT"/>
                <a:cs typeface="Arial MT"/>
              </a:rPr>
              <a:t>Child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has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 program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loaded</a:t>
            </a:r>
            <a:r>
              <a:rPr sz="2800" spc="16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onto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it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45809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6121" y="413384"/>
            <a:ext cx="5686425" cy="78162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Process</a:t>
            </a:r>
            <a:r>
              <a:rPr spc="-10" dirty="0"/>
              <a:t> </a:t>
            </a:r>
            <a:r>
              <a:rPr spc="-5" dirty="0"/>
              <a:t>Creation </a:t>
            </a:r>
            <a:r>
              <a:rPr sz="2800" spc="-5" dirty="0"/>
              <a:t>(cont…)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1261546" y="1307869"/>
            <a:ext cx="8583295" cy="1899237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2900">
              <a:spcBef>
                <a:spcPts val="5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Arial"/>
                <a:cs typeface="Arial"/>
              </a:rPr>
              <a:t>UNIX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examples</a:t>
            </a:r>
            <a:endParaRPr sz="3200" dirty="0">
              <a:latin typeface="Arial"/>
              <a:cs typeface="Arial"/>
            </a:endParaRPr>
          </a:p>
          <a:p>
            <a:pPr marL="756285" lvl="1" indent="-287020">
              <a:spcBef>
                <a:spcPts val="355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fork()</a:t>
            </a:r>
            <a:r>
              <a:rPr sz="2800" b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5" dirty="0">
                <a:latin typeface="Arial MT"/>
                <a:cs typeface="Arial MT"/>
              </a:rPr>
              <a:t>system </a:t>
            </a:r>
            <a:r>
              <a:rPr sz="2800" dirty="0">
                <a:latin typeface="Arial MT"/>
                <a:cs typeface="Arial MT"/>
              </a:rPr>
              <a:t>call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creates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 new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process</a:t>
            </a:r>
            <a:endParaRPr sz="2800" dirty="0">
              <a:latin typeface="Arial MT"/>
              <a:cs typeface="Arial MT"/>
            </a:endParaRPr>
          </a:p>
          <a:p>
            <a:pPr marL="756285" marR="5080" lvl="1" indent="-287020">
              <a:lnSpc>
                <a:spcPts val="3030"/>
              </a:lnSpc>
              <a:spcBef>
                <a:spcPts val="71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exec()</a:t>
            </a:r>
            <a:r>
              <a:rPr sz="280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5" dirty="0">
                <a:latin typeface="Arial MT"/>
                <a:cs typeface="Arial MT"/>
              </a:rPr>
              <a:t>system call used </a:t>
            </a:r>
            <a:r>
              <a:rPr sz="2800" dirty="0">
                <a:latin typeface="Arial MT"/>
                <a:cs typeface="Arial MT"/>
              </a:rPr>
              <a:t>after</a:t>
            </a:r>
            <a:r>
              <a:rPr sz="2800" spc="-5" dirty="0">
                <a:latin typeface="Arial MT"/>
                <a:cs typeface="Arial MT"/>
              </a:rPr>
              <a:t> a</a:t>
            </a:r>
            <a:r>
              <a:rPr sz="2800" dirty="0">
                <a:latin typeface="Arial MT"/>
                <a:cs typeface="Arial MT"/>
              </a:rPr>
              <a:t> fork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replace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process memory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image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with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new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executable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6399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1981200" y="1524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9F9F9"/>
              </a:buClr>
              <a:buSzPct val="65000"/>
              <a:buFont typeface="Wingdings 2" panose="05020102010507070707" pitchFamily="18" charset="2"/>
              <a:buChar char="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80000"/>
              <a:buFont typeface="Wingdings 2" panose="05020102010507070707" pitchFamily="18" charset="2"/>
              <a:buChar char="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"/>
              <a:defRPr sz="2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  <a:defRPr/>
            </a:pPr>
            <a:r>
              <a:rPr lang="en-US" sz="4800" dirty="0">
                <a:latin typeface="Tw Cen MT Condensed (Headings)"/>
              </a:rPr>
              <a:t>Processes Tree on a UNIX System</a:t>
            </a:r>
          </a:p>
        </p:txBody>
      </p:sp>
      <p:pic>
        <p:nvPicPr>
          <p:cNvPr id="757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" t="11009" r="528" b="10808"/>
          <a:stretch>
            <a:fillRect/>
          </a:stretch>
        </p:blipFill>
        <p:spPr bwMode="auto">
          <a:xfrm>
            <a:off x="1828800" y="1350364"/>
            <a:ext cx="8534400" cy="48768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892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12150"/>
          <a:stretch/>
        </p:blipFill>
        <p:spPr>
          <a:xfrm>
            <a:off x="1897040" y="0"/>
            <a:ext cx="7874756" cy="688442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45861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7051" y="3553591"/>
            <a:ext cx="11124949" cy="3186421"/>
          </a:xfrm>
          <a:prstGeom prst="rect">
            <a:avLst/>
          </a:prstGeom>
        </p:spPr>
      </p:pic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Process Management in UNIX/Linux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950386" y="1887794"/>
            <a:ext cx="9720073" cy="4023360"/>
          </a:xfrm>
        </p:spPr>
        <p:txBody>
          <a:bodyPr>
            <a:normAutofit/>
          </a:bodyPr>
          <a:lstStyle/>
          <a:p>
            <a:r>
              <a:rPr lang="en-US" sz="3200" dirty="0"/>
              <a:t>	Important process-related UNIX/Linux system calls</a:t>
            </a:r>
          </a:p>
          <a:p>
            <a:pPr lvl="1"/>
            <a:r>
              <a:rPr lang="en-US" sz="2800" dirty="0"/>
              <a:t>fork</a:t>
            </a:r>
          </a:p>
          <a:p>
            <a:pPr lvl="1"/>
            <a:r>
              <a:rPr lang="en-US" sz="2800" dirty="0"/>
              <a:t>wait</a:t>
            </a:r>
          </a:p>
          <a:p>
            <a:pPr lvl="1"/>
            <a:r>
              <a:rPr lang="en-US" sz="2800" dirty="0"/>
              <a:t>exec</a:t>
            </a:r>
          </a:p>
          <a:p>
            <a:pPr lvl="1"/>
            <a:r>
              <a:rPr lang="en-US" sz="2800" dirty="0"/>
              <a:t>exit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pPr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21278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fork()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When the fork system call is executed, a new process is created which consists of a copy of the address space of the parent.</a:t>
            </a:r>
          </a:p>
          <a:p>
            <a:pPr algn="just"/>
            <a:r>
              <a:rPr lang="en-US" dirty="0"/>
              <a:t>This mechanism allows the parent process to communicate easily with the child process.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pPr/>
              <a:t>9</a:t>
            </a:fld>
            <a:endParaRPr lang="en-PK"/>
          </a:p>
        </p:txBody>
      </p:sp>
      <p:graphicFrame>
        <p:nvGraphicFramePr>
          <p:cNvPr id="58380" name="Group 12"/>
          <p:cNvGraphicFramePr>
            <a:graphicFrameLocks noGrp="1"/>
          </p:cNvGraphicFramePr>
          <p:nvPr/>
        </p:nvGraphicFramePr>
        <p:xfrm>
          <a:off x="2514600" y="3989206"/>
          <a:ext cx="6858000" cy="2289175"/>
        </p:xfrm>
        <a:graphic>
          <a:graphicData uri="http://schemas.openxmlformats.org/drawingml/2006/table">
            <a:tbl>
              <a:tblPr/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9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SYNOPSIS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+mn-lt"/>
                        <a:ea typeface="新細明體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新細明體" charset="-120"/>
                          <a:cs typeface="+mn-cs"/>
                        </a:rPr>
                        <a:t>#include &lt;sys/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+mn-lt"/>
                          <a:ea typeface="新細明體" charset="-120"/>
                          <a:cs typeface="+mn-cs"/>
                        </a:rPr>
                        <a:t>types.h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新細明體" charset="-120"/>
                          <a:cs typeface="+mn-cs"/>
                        </a:rPr>
                        <a:t>&gt;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新細明體" charset="-120"/>
                          <a:cs typeface="+mn-cs"/>
                        </a:rPr>
                        <a:t>#include &lt;</a:t>
                      </a: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+mn-lt"/>
                          <a:ea typeface="新細明體" charset="-120"/>
                          <a:cs typeface="+mn-cs"/>
                        </a:rPr>
                        <a:t>unistd.h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新細明體" charset="-120"/>
                          <a:cs typeface="+mn-cs"/>
                        </a:rPr>
                        <a:t>&gt;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latin typeface="+mn-lt"/>
                          <a:ea typeface="新細明體" charset="-120"/>
                          <a:cs typeface="+mn-cs"/>
                        </a:rPr>
                        <a:t>pid_t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latin typeface="+mn-lt"/>
                          <a:ea typeface="新細明體" charset="-120"/>
                          <a:cs typeface="+mn-cs"/>
                        </a:rPr>
                        <a:t> fork(void); 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2939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28601"/>
            <a:ext cx="8229600" cy="7921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400" dirty="0">
                <a:solidFill>
                  <a:schemeClr val="tx1"/>
                </a:solidFill>
                <a:latin typeface="Tw Cen MT Condensed (Headings)"/>
                <a:ea typeface="+mn-ea"/>
                <a:cs typeface="+mn-cs"/>
              </a:rPr>
              <a:t>fork()—Sample Code</a:t>
            </a: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1828800" y="990600"/>
            <a:ext cx="4724400" cy="5562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FF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rgbClr val="F9F9F9"/>
              </a:buClr>
              <a:buSzPct val="65000"/>
              <a:buFont typeface="Wingdings 2" panose="05020102010507070707" pitchFamily="18" charset="2"/>
              <a:buChar char="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80000"/>
              <a:buFont typeface="Wingdings 2" panose="05020102010507070707" pitchFamily="18" charset="2"/>
              <a:buChar char="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"/>
              <a:defRPr sz="22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Font typeface="Wingdings 3" panose="05040102010807070707" pitchFamily="18" charset="2"/>
              <a:buChar char="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anose="05020102010507070707" pitchFamily="18" charset="2"/>
              <a:buChar char="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+mn-lt"/>
                <a:ea typeface="新細明體" charset="-120"/>
              </a:rPr>
              <a:t>main()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+mn-lt"/>
                <a:ea typeface="新細明體" charset="-120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+mn-lt"/>
                <a:ea typeface="新細明體" charset="-120"/>
              </a:rPr>
              <a:t>    </a:t>
            </a:r>
            <a:r>
              <a:rPr lang="en-US" sz="2400" dirty="0" err="1">
                <a:latin typeface="+mn-lt"/>
                <a:ea typeface="新細明體" charset="-120"/>
              </a:rPr>
              <a:t>int</a:t>
            </a:r>
            <a:r>
              <a:rPr lang="en-US" sz="2400" dirty="0">
                <a:latin typeface="+mn-lt"/>
                <a:ea typeface="新細明體" charset="-120"/>
              </a:rPr>
              <a:t> </a:t>
            </a:r>
            <a:r>
              <a:rPr lang="en-US" sz="2400" dirty="0" err="1">
                <a:latin typeface="+mn-lt"/>
                <a:ea typeface="新細明體" charset="-120"/>
              </a:rPr>
              <a:t>pid</a:t>
            </a:r>
            <a:r>
              <a:rPr lang="en-US" sz="2400" dirty="0">
                <a:latin typeface="+mn-lt"/>
                <a:ea typeface="新細明體" charset="-12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2400" dirty="0">
              <a:latin typeface="+mn-lt"/>
              <a:ea typeface="新細明體" charset="-12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+mn-lt"/>
                <a:ea typeface="新細明體" charset="-120"/>
              </a:rPr>
              <a:t>    ...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+mn-lt"/>
                <a:ea typeface="新細明體" charset="-120"/>
              </a:rPr>
              <a:t>    </a:t>
            </a:r>
            <a:r>
              <a:rPr lang="en-US" sz="2400" dirty="0" err="1">
                <a:latin typeface="+mn-lt"/>
                <a:ea typeface="新細明體" charset="-120"/>
              </a:rPr>
              <a:t>pid</a:t>
            </a:r>
            <a:r>
              <a:rPr lang="en-US" sz="2400" dirty="0">
                <a:latin typeface="+mn-lt"/>
                <a:ea typeface="新細明體" charset="-120"/>
              </a:rPr>
              <a:t> = fork();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+mn-lt"/>
                <a:ea typeface="新細明體" charset="-120"/>
              </a:rPr>
              <a:t>    if (</a:t>
            </a:r>
            <a:r>
              <a:rPr lang="en-US" sz="2400" dirty="0" err="1">
                <a:latin typeface="+mn-lt"/>
                <a:ea typeface="新細明體" charset="-120"/>
              </a:rPr>
              <a:t>pid</a:t>
            </a:r>
            <a:r>
              <a:rPr lang="en-US" sz="2400" dirty="0">
                <a:latin typeface="+mn-lt"/>
                <a:ea typeface="新細明體" charset="-120"/>
              </a:rPr>
              <a:t> == 0)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+mn-lt"/>
                <a:ea typeface="新細明體" charset="-120"/>
              </a:rPr>
              <a:t>    /* Code for child */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+mn-lt"/>
                <a:ea typeface="新細明體" charset="-120"/>
              </a:rPr>
              <a:t>    ...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+mn-lt"/>
                <a:ea typeface="新細明體" charset="-120"/>
              </a:rPr>
              <a:t>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+mn-lt"/>
                <a:ea typeface="新細明體" charset="-120"/>
              </a:rPr>
              <a:t>    else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+mn-lt"/>
                <a:ea typeface="新細明體" charset="-120"/>
              </a:rPr>
              <a:t>    /* Code for parent */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+mn-lt"/>
                <a:ea typeface="新細明體" charset="-120"/>
              </a:rPr>
              <a:t>    ...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+mn-lt"/>
                <a:ea typeface="新細明體" charset="-120"/>
              </a:rPr>
              <a:t>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+mn-lt"/>
                <a:ea typeface="新細明體" charset="-120"/>
              </a:rPr>
              <a:t>    ...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+mn-lt"/>
                <a:ea typeface="新細明體" charset="-120"/>
              </a:rPr>
              <a:t>}</a:t>
            </a:r>
          </a:p>
        </p:txBody>
      </p:sp>
      <p:pic>
        <p:nvPicPr>
          <p:cNvPr id="60430" name="Picture 14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588" y="1066800"/>
            <a:ext cx="3808412" cy="579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60432" name="Line 16"/>
          <p:cNvSpPr>
            <a:spLocks noChangeShapeType="1"/>
          </p:cNvSpPr>
          <p:nvPr/>
        </p:nvSpPr>
        <p:spPr bwMode="auto">
          <a:xfrm>
            <a:off x="1600200" y="3124200"/>
            <a:ext cx="5334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3" name="Line 17"/>
          <p:cNvSpPr>
            <a:spLocks noChangeShapeType="1"/>
          </p:cNvSpPr>
          <p:nvPr/>
        </p:nvSpPr>
        <p:spPr bwMode="auto">
          <a:xfrm>
            <a:off x="1600200" y="3429000"/>
            <a:ext cx="5334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0335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animBg="1" autoUpdateAnimBg="0"/>
      <p:bldP spid="60432" grpId="0" animBg="1"/>
      <p:bldP spid="604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6054" y="143456"/>
            <a:ext cx="9651279" cy="72071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Tw Cen MT Condensed (Headings)"/>
              </a:rPr>
              <a:t>System</a:t>
            </a:r>
            <a:r>
              <a:rPr sz="4600" spc="-35" dirty="0">
                <a:latin typeface="Tw Cen MT Condensed (Headings)"/>
              </a:rPr>
              <a:t> </a:t>
            </a:r>
            <a:r>
              <a:rPr sz="4600" dirty="0">
                <a:latin typeface="Tw Cen MT Condensed (Headings)"/>
              </a:rPr>
              <a:t>Call</a:t>
            </a:r>
            <a:r>
              <a:rPr sz="4600" spc="-30" dirty="0">
                <a:latin typeface="Tw Cen MT Condensed (Headings)"/>
              </a:rPr>
              <a:t> </a:t>
            </a:r>
            <a:r>
              <a:rPr sz="4600" dirty="0">
                <a:latin typeface="Tw Cen MT Condensed (Headings)"/>
              </a:rPr>
              <a:t>-</a:t>
            </a:r>
            <a:r>
              <a:rPr sz="4600" spc="-10" dirty="0">
                <a:latin typeface="Tw Cen MT Condensed (Headings)"/>
              </a:rPr>
              <a:t> </a:t>
            </a:r>
            <a:r>
              <a:rPr sz="4600" spc="-5" dirty="0">
                <a:latin typeface="Tw Cen MT Condensed (Headings)"/>
              </a:rPr>
              <a:t>fork()</a:t>
            </a:r>
            <a:r>
              <a:rPr sz="4600" spc="-10" dirty="0">
                <a:latin typeface="Tw Cen MT Condensed (Headings)"/>
              </a:rPr>
              <a:t> </a:t>
            </a:r>
            <a:r>
              <a:rPr sz="4600" spc="-5" dirty="0">
                <a:latin typeface="Tw Cen MT Condensed (Headings)"/>
              </a:rPr>
              <a:t>...</a:t>
            </a:r>
            <a:endParaRPr sz="4600" dirty="0">
              <a:latin typeface="Tw Cen MT Condensed (Headings)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9271" y="986256"/>
            <a:ext cx="10570058" cy="520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Arial"/>
                <a:cs typeface="Arial"/>
              </a:rPr>
              <a:t>On success:</a:t>
            </a:r>
            <a:r>
              <a:rPr sz="2800" b="1" spc="35" dirty="0">
                <a:latin typeface="Arial"/>
                <a:cs typeface="Arial"/>
              </a:rPr>
              <a:t> </a:t>
            </a:r>
            <a:r>
              <a:rPr sz="2800" spc="-5" dirty="0">
                <a:latin typeface="Arial MT"/>
                <a:cs typeface="Arial MT"/>
              </a:rPr>
              <a:t>(Child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process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created)</a:t>
            </a:r>
          </a:p>
          <a:p>
            <a:pPr marL="756285" marR="379730" lvl="1" indent="-287020">
              <a:lnSpc>
                <a:spcPct val="140100"/>
              </a:lnSpc>
              <a:spcBef>
                <a:spcPts val="665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return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code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fork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zero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child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child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</a:t>
            </a:r>
            <a:r>
              <a:rPr sz="2400" dirty="0">
                <a:latin typeface="Arial MT"/>
                <a:cs typeface="Arial MT"/>
              </a:rPr>
              <a:t> ID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returned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parent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</a:t>
            </a:r>
            <a:endParaRPr sz="2400" dirty="0">
              <a:latin typeface="Arial MT"/>
              <a:cs typeface="Arial MT"/>
            </a:endParaRPr>
          </a:p>
          <a:p>
            <a:pPr marL="756285" marR="1470025" lvl="1" indent="-287020">
              <a:lnSpc>
                <a:spcPct val="14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Arial MT"/>
                <a:cs typeface="Arial MT"/>
              </a:rPr>
              <a:t>B</a:t>
            </a:r>
            <a:r>
              <a:rPr sz="2800" spc="-5" dirty="0">
                <a:latin typeface="Arial MT"/>
                <a:cs typeface="Arial MT"/>
              </a:rPr>
              <a:t>oth </a:t>
            </a:r>
            <a:r>
              <a:rPr sz="2800" dirty="0">
                <a:latin typeface="Arial MT"/>
                <a:cs typeface="Arial MT"/>
              </a:rPr>
              <a:t>processes continue execution at the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instruction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after the </a:t>
            </a:r>
            <a:r>
              <a:rPr sz="2800" dirty="0">
                <a:latin typeface="Arial MT"/>
                <a:cs typeface="Arial MT"/>
              </a:rPr>
              <a:t>fork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call</a:t>
            </a:r>
            <a:endParaRPr sz="2800" dirty="0">
              <a:latin typeface="Arial MT"/>
              <a:cs typeface="Arial MT"/>
            </a:endParaRPr>
          </a:p>
          <a:p>
            <a:pPr marL="355600" indent="-342900">
              <a:spcBef>
                <a:spcPts val="20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Arial"/>
                <a:cs typeface="Arial"/>
              </a:rPr>
              <a:t>On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failure: </a:t>
            </a:r>
            <a:r>
              <a:rPr sz="2800" spc="-5" dirty="0">
                <a:latin typeface="Arial MT"/>
                <a:cs typeface="Arial MT"/>
              </a:rPr>
              <a:t>(No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child process </a:t>
            </a:r>
            <a:r>
              <a:rPr sz="2800" spc="-5" dirty="0">
                <a:latin typeface="Arial MT"/>
                <a:cs typeface="Arial MT"/>
              </a:rPr>
              <a:t>is </a:t>
            </a:r>
            <a:r>
              <a:rPr sz="2800" dirty="0">
                <a:latin typeface="Arial MT"/>
                <a:cs typeface="Arial MT"/>
              </a:rPr>
              <a:t>created)</a:t>
            </a:r>
          </a:p>
          <a:p>
            <a:pPr marL="756285" lvl="1" indent="-287020">
              <a:spcBef>
                <a:spcPts val="1814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-1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returned</a:t>
            </a:r>
            <a:r>
              <a:rPr sz="2400" dirty="0">
                <a:latin typeface="Arial MT"/>
                <a:cs typeface="Arial MT"/>
              </a:rPr>
              <a:t> to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parent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</a:t>
            </a:r>
            <a:endParaRPr sz="2400" dirty="0">
              <a:latin typeface="Arial MT"/>
              <a:cs typeface="Arial MT"/>
            </a:endParaRPr>
          </a:p>
          <a:p>
            <a:pPr marL="756285" lvl="1" indent="-287020">
              <a:spcBef>
                <a:spcPts val="1730"/>
              </a:spcBef>
              <a:buChar char="–"/>
              <a:tabLst>
                <a:tab pos="756920" algn="l"/>
              </a:tabLst>
            </a:pPr>
            <a:r>
              <a:rPr sz="2400" spc="-30" dirty="0">
                <a:latin typeface="Arial MT"/>
                <a:cs typeface="Arial MT"/>
              </a:rPr>
              <a:t>Variable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errno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appropriately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" dirty="0">
                <a:latin typeface="Arial MT"/>
                <a:cs typeface="Arial MT"/>
              </a:rPr>
              <a:t> indicate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reason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</a:p>
          <a:p>
            <a:pPr marL="756285">
              <a:spcBef>
                <a:spcPts val="1155"/>
              </a:spcBef>
            </a:pPr>
            <a:r>
              <a:rPr sz="2400" spc="-5" dirty="0">
                <a:latin typeface="Arial MT"/>
                <a:cs typeface="Arial MT"/>
              </a:rPr>
              <a:t>failure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5364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4478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800" dirty="0">
                <a:solidFill>
                  <a:schemeClr val="tx1"/>
                </a:solidFill>
                <a:latin typeface="Tw Cen MT Condensed (Headings)"/>
                <a:ea typeface="+mn-ea"/>
                <a:cs typeface="+mn-cs"/>
              </a:rPr>
              <a:t>fork()—Reasons for Failure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1696065" y="1641988"/>
            <a:ext cx="9070257" cy="4495800"/>
          </a:xfrm>
        </p:spPr>
        <p:txBody>
          <a:bodyPr/>
          <a:lstStyle/>
          <a:p>
            <a:pPr marL="354013" indent="-354013">
              <a:buClrTx/>
              <a:buFont typeface="Wingdings" panose="05000000000000000000" pitchFamily="2" charset="2"/>
              <a:buChar char="§"/>
            </a:pPr>
            <a:r>
              <a:rPr lang="en-US" sz="2400" dirty="0">
                <a:ea typeface="新細明體" charset="-120"/>
              </a:rPr>
              <a:t>Maximum number of processes allowed to execute under one user has exceeded</a:t>
            </a:r>
          </a:p>
          <a:p>
            <a:pPr marL="354013" indent="-354013">
              <a:buClrTx/>
              <a:buFont typeface="Wingdings" panose="05000000000000000000" pitchFamily="2" charset="2"/>
              <a:buChar char="§"/>
            </a:pPr>
            <a:endParaRPr lang="en-US" sz="2400" dirty="0">
              <a:ea typeface="新細明體" charset="-120"/>
            </a:endParaRPr>
          </a:p>
          <a:p>
            <a:pPr marL="354013" indent="-354013">
              <a:buClrTx/>
              <a:buFont typeface="Wingdings" panose="05000000000000000000" pitchFamily="2" charset="2"/>
              <a:buChar char="§"/>
            </a:pPr>
            <a:r>
              <a:rPr lang="en-US" sz="2400" dirty="0">
                <a:ea typeface="新細明體" charset="-120"/>
              </a:rPr>
              <a:t>Maximum number of processes allowed on the system has exceeded</a:t>
            </a:r>
          </a:p>
          <a:p>
            <a:pPr marL="354013" indent="-354013">
              <a:buClrTx/>
              <a:buFont typeface="Wingdings" panose="05000000000000000000" pitchFamily="2" charset="2"/>
              <a:buChar char="§"/>
            </a:pPr>
            <a:endParaRPr lang="en-US" sz="2400" dirty="0">
              <a:ea typeface="新細明體" charset="-120"/>
            </a:endParaRPr>
          </a:p>
          <a:p>
            <a:pPr marL="354013" indent="-354013">
              <a:buClrTx/>
              <a:buFont typeface="Wingdings" panose="05000000000000000000" pitchFamily="2" charset="2"/>
              <a:buChar char="§"/>
            </a:pPr>
            <a:r>
              <a:rPr lang="en-US" sz="2400" dirty="0">
                <a:ea typeface="新細明體" charset="-120"/>
              </a:rPr>
              <a:t>Not enough swap space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82192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727450" y="736600"/>
          <a:ext cx="6173470" cy="55832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7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6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63">
                <a:tc gridSpan="2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PID: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597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110"/>
                        </a:lnSpc>
                        <a:spcBef>
                          <a:spcPts val="785"/>
                        </a:spcBef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Parent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2724">
                <a:tc gridSpan="3">
                  <a:txBody>
                    <a:bodyPr/>
                    <a:lstStyle/>
                    <a:p>
                      <a:pPr marL="501015" indent="-410209">
                        <a:lnSpc>
                          <a:spcPts val="1980"/>
                        </a:lnSpc>
                        <a:buAutoNum type="arabicPeriod"/>
                        <a:tabLst>
                          <a:tab pos="501650" algn="l"/>
                        </a:tabLst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//fork1.c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501650" indent="-410209">
                        <a:lnSpc>
                          <a:spcPct val="100000"/>
                        </a:lnSpc>
                        <a:buAutoNum type="arabicPeriod"/>
                        <a:tabLst>
                          <a:tab pos="501650" algn="l"/>
                        </a:tabLst>
                      </a:pPr>
                      <a:r>
                        <a:rPr sz="1800" i="1" spc="-10" dirty="0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800" i="1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main()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i="1" spc="-5" dirty="0"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800" i="1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dirty="0"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1006475" indent="-915035">
                        <a:lnSpc>
                          <a:spcPct val="100000"/>
                        </a:lnSpc>
                        <a:buAutoNum type="arabicPeriod" startAt="4"/>
                        <a:tabLst>
                          <a:tab pos="1005840" algn="l"/>
                          <a:tab pos="1006475" algn="l"/>
                        </a:tabLst>
                      </a:pPr>
                      <a:r>
                        <a:rPr sz="1800" i="1" spc="-5" dirty="0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800" i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i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i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54,</a:t>
                      </a:r>
                      <a:r>
                        <a:rPr sz="1800" i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cpid</a:t>
                      </a:r>
                      <a:r>
                        <a:rPr sz="1800" i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i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5" dirty="0">
                          <a:latin typeface="Courier New"/>
                          <a:cs typeface="Courier New"/>
                        </a:rPr>
                        <a:t>-1;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1006475" indent="-915035">
                        <a:lnSpc>
                          <a:spcPct val="100000"/>
                        </a:lnSpc>
                        <a:buAutoNum type="arabicPeriod" startAt="4"/>
                        <a:tabLst>
                          <a:tab pos="1005840" algn="l"/>
                          <a:tab pos="1006475" algn="l"/>
                        </a:tabLst>
                      </a:pPr>
                      <a:r>
                        <a:rPr sz="1800" i="1" spc="-10" dirty="0">
                          <a:latin typeface="Courier New"/>
                          <a:cs typeface="Courier New"/>
                        </a:rPr>
                        <a:t>cpid</a:t>
                      </a:r>
                      <a:r>
                        <a:rPr sz="1800" i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i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fork();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1006475" indent="-915035">
                        <a:lnSpc>
                          <a:spcPct val="100000"/>
                        </a:lnSpc>
                        <a:buAutoNum type="arabicPeriod" startAt="4"/>
                        <a:tabLst>
                          <a:tab pos="1005840" algn="l"/>
                          <a:tab pos="1006475" algn="l"/>
                        </a:tabLst>
                      </a:pPr>
                      <a:r>
                        <a:rPr sz="1800" i="1" spc="-5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800" i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5" dirty="0">
                          <a:latin typeface="Courier New"/>
                          <a:cs typeface="Courier New"/>
                        </a:rPr>
                        <a:t>(cpid</a:t>
                      </a:r>
                      <a:r>
                        <a:rPr sz="1800" i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800" i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5" dirty="0">
                          <a:latin typeface="Courier New"/>
                          <a:cs typeface="Courier New"/>
                        </a:rPr>
                        <a:t>-1)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tabLst>
                          <a:tab pos="1005840" algn="l"/>
                        </a:tabLst>
                      </a:pPr>
                      <a:r>
                        <a:rPr sz="1800" i="1" spc="-5" dirty="0">
                          <a:latin typeface="Courier New"/>
                          <a:cs typeface="Courier New"/>
                        </a:rPr>
                        <a:t>7.	</a:t>
                      </a:r>
                      <a:r>
                        <a:rPr sz="1800" i="1" dirty="0"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1920875" indent="-1829435">
                        <a:lnSpc>
                          <a:spcPct val="100000"/>
                        </a:lnSpc>
                        <a:buAutoNum type="arabicPeriod" startAt="8"/>
                        <a:tabLst>
                          <a:tab pos="1920239" algn="l"/>
                          <a:tab pos="1920875" algn="l"/>
                        </a:tabLst>
                      </a:pPr>
                      <a:r>
                        <a:rPr sz="1800" i="1" spc="-10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1800" i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(“\nFork</a:t>
                      </a:r>
                      <a:r>
                        <a:rPr sz="1800" i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failed\n”);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1920875" indent="-1829435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 startAt="8"/>
                        <a:tabLst>
                          <a:tab pos="1920239" algn="l"/>
                          <a:tab pos="1920875" algn="l"/>
                        </a:tabLst>
                      </a:pPr>
                      <a:r>
                        <a:rPr sz="1800" i="1" spc="-10" dirty="0">
                          <a:latin typeface="Courier New"/>
                          <a:cs typeface="Courier New"/>
                        </a:rPr>
                        <a:t>exit</a:t>
                      </a:r>
                      <a:r>
                        <a:rPr sz="1800" i="1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(1);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i="1" spc="-5" dirty="0">
                          <a:latin typeface="Courier New"/>
                          <a:cs typeface="Courier New"/>
                        </a:rPr>
                        <a:t>10.</a:t>
                      </a:r>
                      <a:r>
                        <a:rPr sz="1800" i="1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dirty="0"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38175" indent="-547370">
                        <a:lnSpc>
                          <a:spcPct val="100000"/>
                        </a:lnSpc>
                        <a:buAutoNum type="arabicPeriod" startAt="11"/>
                        <a:tabLst>
                          <a:tab pos="638810" algn="l"/>
                          <a:tab pos="2958465" algn="l"/>
                        </a:tabLst>
                      </a:pPr>
                      <a:r>
                        <a:rPr sz="1800" i="1" spc="-10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800" i="1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(cpid</a:t>
                      </a:r>
                      <a:r>
                        <a:rPr sz="18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== </a:t>
                      </a:r>
                      <a:r>
                        <a:rPr sz="1800" i="1" spc="-5" dirty="0">
                          <a:latin typeface="Courier New"/>
                          <a:cs typeface="Courier New"/>
                        </a:rPr>
                        <a:t>0)	</a:t>
                      </a:r>
                      <a:r>
                        <a:rPr sz="1800" i="1" spc="-10" dirty="0">
                          <a:solidFill>
                            <a:srgbClr val="30859C"/>
                          </a:solidFill>
                          <a:latin typeface="Courier New"/>
                          <a:cs typeface="Courier New"/>
                        </a:rPr>
                        <a:t>//child</a:t>
                      </a:r>
                      <a:r>
                        <a:rPr sz="1800" i="1" spc="-60" dirty="0">
                          <a:solidFill>
                            <a:srgbClr val="30859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30859C"/>
                          </a:solidFill>
                          <a:latin typeface="Courier New"/>
                          <a:cs typeface="Courier New"/>
                        </a:rPr>
                        <a:t>code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1006475" indent="-915035">
                        <a:lnSpc>
                          <a:spcPct val="100000"/>
                        </a:lnSpc>
                        <a:buAutoNum type="arabicPeriod" startAt="11"/>
                        <a:tabLst>
                          <a:tab pos="1005840" algn="l"/>
                          <a:tab pos="1006475" algn="l"/>
                        </a:tabLst>
                      </a:pPr>
                      <a:r>
                        <a:rPr sz="1800" i="1" spc="-10" dirty="0">
                          <a:latin typeface="Courier New"/>
                          <a:cs typeface="Courier New"/>
                        </a:rPr>
                        <a:t>printf (“\n</a:t>
                      </a:r>
                      <a:r>
                        <a:rPr sz="1800" i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Hello</a:t>
                      </a:r>
                      <a:r>
                        <a:rPr sz="1800" i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i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am</a:t>
                      </a:r>
                      <a:r>
                        <a:rPr sz="1800" i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child</a:t>
                      </a:r>
                      <a:r>
                        <a:rPr sz="1800" i="1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\n”);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38175" indent="-547370">
                        <a:lnSpc>
                          <a:spcPct val="100000"/>
                        </a:lnSpc>
                        <a:buAutoNum type="arabicPeriod" startAt="11"/>
                        <a:tabLst>
                          <a:tab pos="638810" algn="l"/>
                          <a:tab pos="2958465" algn="l"/>
                        </a:tabLst>
                      </a:pPr>
                      <a:r>
                        <a:rPr sz="1800" i="1" spc="-10" dirty="0">
                          <a:latin typeface="Courier New"/>
                          <a:cs typeface="Courier New"/>
                        </a:rPr>
                        <a:t>else	</a:t>
                      </a:r>
                      <a:r>
                        <a:rPr sz="1800" b="1" i="1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//parent</a:t>
                      </a:r>
                      <a:r>
                        <a:rPr sz="1800" b="1" i="1" spc="-7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i="1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code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1006475" indent="-915035">
                        <a:lnSpc>
                          <a:spcPct val="100000"/>
                        </a:lnSpc>
                        <a:buAutoNum type="arabicPeriod" startAt="11"/>
                        <a:tabLst>
                          <a:tab pos="1005840" algn="l"/>
                          <a:tab pos="1006475" algn="l"/>
                        </a:tabLst>
                      </a:pPr>
                      <a:r>
                        <a:rPr sz="1800" i="1" spc="-10" dirty="0">
                          <a:latin typeface="Courier New"/>
                          <a:cs typeface="Courier New"/>
                        </a:rPr>
                        <a:t>printf (“\n</a:t>
                      </a:r>
                      <a:r>
                        <a:rPr sz="1800" i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Hello</a:t>
                      </a:r>
                      <a:r>
                        <a:rPr sz="1800" i="1" dirty="0">
                          <a:latin typeface="Courier New"/>
                          <a:cs typeface="Courier New"/>
                        </a:rPr>
                        <a:t> I</a:t>
                      </a:r>
                      <a:r>
                        <a:rPr sz="1800" i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am</a:t>
                      </a:r>
                      <a:r>
                        <a:rPr sz="1800" i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parent</a:t>
                      </a:r>
                      <a:r>
                        <a:rPr sz="1800" i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spc="-10" dirty="0">
                          <a:latin typeface="Courier New"/>
                          <a:cs typeface="Courier New"/>
                        </a:rPr>
                        <a:t>\n”);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i="1" spc="-5" dirty="0">
                          <a:latin typeface="Courier New"/>
                          <a:cs typeface="Courier New"/>
                        </a:rPr>
                        <a:t>15.</a:t>
                      </a:r>
                      <a:r>
                        <a:rPr sz="1800" i="1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i="1" dirty="0"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41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spc="-65" dirty="0">
                          <a:latin typeface="Arial MT"/>
                          <a:cs typeface="Arial MT"/>
                        </a:rPr>
                        <a:t>DATA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7">
                <a:tc gridSpan="3">
                  <a:txBody>
                    <a:bodyPr/>
                    <a:lstStyle/>
                    <a:p>
                      <a:pPr marL="1009015">
                        <a:lnSpc>
                          <a:spcPts val="1730"/>
                        </a:lnSpc>
                        <a:tabLst>
                          <a:tab pos="1186815" algn="l"/>
                        </a:tabLst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i	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54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009015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cpid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-1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618590" y="787654"/>
            <a:ext cx="18294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spcBef>
                <a:spcPts val="105"/>
              </a:spcBef>
              <a:buFont typeface="Arial MT"/>
              <a:buChar char="•"/>
              <a:tabLst>
                <a:tab pos="332105" algn="l"/>
                <a:tab pos="332740" algn="l"/>
              </a:tabLst>
            </a:pPr>
            <a:r>
              <a:rPr sz="2000" b="1" dirty="0">
                <a:latin typeface="Arial"/>
                <a:cs typeface="Arial"/>
              </a:rPr>
              <a:t>Parent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forks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01241" y="62231"/>
            <a:ext cx="7489470" cy="605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Using</a:t>
            </a:r>
            <a:r>
              <a:rPr sz="3800" spc="-10" dirty="0"/>
              <a:t> </a:t>
            </a:r>
            <a:r>
              <a:rPr sz="3800" dirty="0"/>
              <a:t>fork()</a:t>
            </a:r>
            <a:r>
              <a:rPr sz="3800" spc="-40" dirty="0"/>
              <a:t> </a:t>
            </a:r>
            <a:r>
              <a:rPr sz="3800" dirty="0"/>
              <a:t>&amp;</a:t>
            </a:r>
            <a:r>
              <a:rPr sz="3800" spc="-5" dirty="0"/>
              <a:t> exit()</a:t>
            </a:r>
            <a:r>
              <a:rPr sz="3800" spc="-35" dirty="0"/>
              <a:t> </a:t>
            </a:r>
            <a:r>
              <a:rPr sz="3800" dirty="0"/>
              <a:t>system</a:t>
            </a:r>
            <a:r>
              <a:rPr sz="3800" spc="-30" dirty="0"/>
              <a:t> </a:t>
            </a:r>
            <a:r>
              <a:rPr sz="3800" dirty="0"/>
              <a:t>call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148328" y="2174748"/>
            <a:ext cx="711835" cy="425450"/>
            <a:chOff x="2624327" y="2174748"/>
            <a:chExt cx="711835" cy="4254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4327" y="2174748"/>
              <a:ext cx="711708" cy="42519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66872" y="2277691"/>
              <a:ext cx="457834" cy="171450"/>
            </a:xfrm>
            <a:custGeom>
              <a:avLst/>
              <a:gdLst/>
              <a:ahLst/>
              <a:cxnLst/>
              <a:rect l="l" t="t" r="r" b="b"/>
              <a:pathLst>
                <a:path w="457835" h="171450">
                  <a:moveTo>
                    <a:pt x="349259" y="104721"/>
                  </a:moveTo>
                  <a:lnTo>
                    <a:pt x="295528" y="135816"/>
                  </a:lnTo>
                  <a:lnTo>
                    <a:pt x="289847" y="140793"/>
                  </a:lnTo>
                  <a:lnTo>
                    <a:pt x="286654" y="147341"/>
                  </a:lnTo>
                  <a:lnTo>
                    <a:pt x="286152" y="154604"/>
                  </a:lnTo>
                  <a:lnTo>
                    <a:pt x="288544" y="161724"/>
                  </a:lnTo>
                  <a:lnTo>
                    <a:pt x="293594" y="167423"/>
                  </a:lnTo>
                  <a:lnTo>
                    <a:pt x="300180" y="170646"/>
                  </a:lnTo>
                  <a:lnTo>
                    <a:pt x="307457" y="171154"/>
                  </a:lnTo>
                  <a:lnTo>
                    <a:pt x="314578" y="168709"/>
                  </a:lnTo>
                  <a:lnTo>
                    <a:pt x="424752" y="104955"/>
                  </a:lnTo>
                  <a:lnTo>
                    <a:pt x="419481" y="104955"/>
                  </a:lnTo>
                  <a:lnTo>
                    <a:pt x="349259" y="104721"/>
                  </a:lnTo>
                  <a:close/>
                </a:path>
                <a:path w="457835" h="171450">
                  <a:moveTo>
                    <a:pt x="381825" y="85875"/>
                  </a:moveTo>
                  <a:lnTo>
                    <a:pt x="349259" y="104721"/>
                  </a:lnTo>
                  <a:lnTo>
                    <a:pt x="419481" y="104955"/>
                  </a:lnTo>
                  <a:lnTo>
                    <a:pt x="419497" y="102415"/>
                  </a:lnTo>
                  <a:lnTo>
                    <a:pt x="409956" y="102415"/>
                  </a:lnTo>
                  <a:lnTo>
                    <a:pt x="381825" y="85875"/>
                  </a:lnTo>
                  <a:close/>
                </a:path>
                <a:path w="457835" h="171450">
                  <a:moveTo>
                    <a:pt x="308038" y="0"/>
                  </a:moveTo>
                  <a:lnTo>
                    <a:pt x="300767" y="450"/>
                  </a:lnTo>
                  <a:lnTo>
                    <a:pt x="294211" y="3591"/>
                  </a:lnTo>
                  <a:lnTo>
                    <a:pt x="289178" y="9197"/>
                  </a:lnTo>
                  <a:lnTo>
                    <a:pt x="286694" y="16392"/>
                  </a:lnTo>
                  <a:lnTo>
                    <a:pt x="287115" y="23707"/>
                  </a:lnTo>
                  <a:lnTo>
                    <a:pt x="290250" y="30307"/>
                  </a:lnTo>
                  <a:lnTo>
                    <a:pt x="295909" y="35359"/>
                  </a:lnTo>
                  <a:lnTo>
                    <a:pt x="349076" y="66620"/>
                  </a:lnTo>
                  <a:lnTo>
                    <a:pt x="419734" y="66855"/>
                  </a:lnTo>
                  <a:lnTo>
                    <a:pt x="419481" y="104955"/>
                  </a:lnTo>
                  <a:lnTo>
                    <a:pt x="424752" y="104955"/>
                  </a:lnTo>
                  <a:lnTo>
                    <a:pt x="457453" y="86032"/>
                  </a:lnTo>
                  <a:lnTo>
                    <a:pt x="315213" y="2466"/>
                  </a:lnTo>
                  <a:lnTo>
                    <a:pt x="308038" y="0"/>
                  </a:lnTo>
                  <a:close/>
                </a:path>
                <a:path w="457835" h="171450">
                  <a:moveTo>
                    <a:pt x="253" y="65458"/>
                  </a:moveTo>
                  <a:lnTo>
                    <a:pt x="0" y="103558"/>
                  </a:lnTo>
                  <a:lnTo>
                    <a:pt x="349259" y="104721"/>
                  </a:lnTo>
                  <a:lnTo>
                    <a:pt x="381825" y="85875"/>
                  </a:lnTo>
                  <a:lnTo>
                    <a:pt x="349076" y="66620"/>
                  </a:lnTo>
                  <a:lnTo>
                    <a:pt x="253" y="65458"/>
                  </a:lnTo>
                  <a:close/>
                </a:path>
                <a:path w="457835" h="171450">
                  <a:moveTo>
                    <a:pt x="410082" y="69522"/>
                  </a:moveTo>
                  <a:lnTo>
                    <a:pt x="381825" y="85875"/>
                  </a:lnTo>
                  <a:lnTo>
                    <a:pt x="409956" y="102415"/>
                  </a:lnTo>
                  <a:lnTo>
                    <a:pt x="410082" y="69522"/>
                  </a:lnTo>
                  <a:close/>
                </a:path>
                <a:path w="457835" h="171450">
                  <a:moveTo>
                    <a:pt x="419717" y="69522"/>
                  </a:moveTo>
                  <a:lnTo>
                    <a:pt x="410082" y="69522"/>
                  </a:lnTo>
                  <a:lnTo>
                    <a:pt x="409956" y="102415"/>
                  </a:lnTo>
                  <a:lnTo>
                    <a:pt x="419497" y="102415"/>
                  </a:lnTo>
                  <a:lnTo>
                    <a:pt x="419717" y="69522"/>
                  </a:lnTo>
                  <a:close/>
                </a:path>
                <a:path w="457835" h="171450">
                  <a:moveTo>
                    <a:pt x="349076" y="66620"/>
                  </a:moveTo>
                  <a:lnTo>
                    <a:pt x="381825" y="85875"/>
                  </a:lnTo>
                  <a:lnTo>
                    <a:pt x="410082" y="69522"/>
                  </a:lnTo>
                  <a:lnTo>
                    <a:pt x="419717" y="69522"/>
                  </a:lnTo>
                  <a:lnTo>
                    <a:pt x="419734" y="66855"/>
                  </a:lnTo>
                  <a:lnTo>
                    <a:pt x="349076" y="6662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86908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595437" y="641413"/>
          <a:ext cx="4419600" cy="3852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299">
                <a:tc gridSpan="2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PID: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597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110"/>
                        </a:lnSpc>
                        <a:spcBef>
                          <a:spcPts val="625"/>
                        </a:spcBef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Parent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893">
                <a:tc gridSpan="3">
                  <a:txBody>
                    <a:bodyPr/>
                    <a:lstStyle/>
                    <a:p>
                      <a:pPr marL="367030" indent="-276860">
                        <a:lnSpc>
                          <a:spcPct val="100000"/>
                        </a:lnSpc>
                        <a:buAutoNum type="arabicPeriod"/>
                        <a:tabLst>
                          <a:tab pos="367665" algn="l"/>
                        </a:tabLst>
                      </a:pPr>
                      <a:r>
                        <a:rPr sz="1200" b="1" dirty="0">
                          <a:latin typeface="Courier New"/>
                          <a:cs typeface="Courier New"/>
                        </a:rPr>
                        <a:t>//fork1.c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0805" marR="3125470">
                        <a:lnSpc>
                          <a:spcPct val="100000"/>
                        </a:lnSpc>
                        <a:buAutoNum type="arabicPeriod"/>
                        <a:tabLst>
                          <a:tab pos="367665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200" i="1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main() </a:t>
                      </a:r>
                      <a:r>
                        <a:rPr sz="1200" i="1" spc="-7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 {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34340" indent="-343535">
                        <a:lnSpc>
                          <a:spcPct val="100000"/>
                        </a:lnSpc>
                        <a:buAutoNum type="arabicPeriod" startAt="4"/>
                        <a:tabLst>
                          <a:tab pos="433705" algn="l"/>
                          <a:tab pos="434340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int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i = 54,</a:t>
                      </a:r>
                      <a:r>
                        <a:rPr sz="1200" i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cpid =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-1;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34340" indent="-343535">
                        <a:lnSpc>
                          <a:spcPct val="100000"/>
                        </a:lnSpc>
                        <a:buAutoNum type="arabicPeriod" startAt="4"/>
                        <a:tabLst>
                          <a:tab pos="433705" algn="l"/>
                          <a:tab pos="434340" algn="l"/>
                        </a:tabLst>
                      </a:pPr>
                      <a:r>
                        <a:rPr sz="1200" i="1" dirty="0">
                          <a:latin typeface="Courier New"/>
                          <a:cs typeface="Courier New"/>
                        </a:rPr>
                        <a:t>cpid</a:t>
                      </a:r>
                      <a:r>
                        <a:rPr sz="1200" i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200" i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fork();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0805" marR="2597785">
                        <a:lnSpc>
                          <a:spcPct val="100000"/>
                        </a:lnSpc>
                        <a:buAutoNum type="arabicPeriod" startAt="4"/>
                        <a:tabLst>
                          <a:tab pos="433705" algn="l"/>
                          <a:tab pos="434340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200" i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(cpid</a:t>
                      </a:r>
                      <a:r>
                        <a:rPr sz="1200" i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200" i="1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-1) </a:t>
                      </a:r>
                      <a:r>
                        <a:rPr sz="1200" i="1" spc="-7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7.	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{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5840" indent="-915669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 startAt="8"/>
                        <a:tabLst>
                          <a:tab pos="1005840" algn="l"/>
                          <a:tab pos="1006475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1200" i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(“\nFork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failed\n”);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5840" indent="-915669">
                        <a:lnSpc>
                          <a:spcPct val="100000"/>
                        </a:lnSpc>
                        <a:buAutoNum type="arabicPeriod" startAt="8"/>
                        <a:tabLst>
                          <a:tab pos="1005840" algn="l"/>
                          <a:tab pos="1006475" algn="l"/>
                        </a:tabLst>
                      </a:pPr>
                      <a:r>
                        <a:rPr sz="1200" i="1" dirty="0">
                          <a:latin typeface="Courier New"/>
                          <a:cs typeface="Courier New"/>
                        </a:rPr>
                        <a:t>exit</a:t>
                      </a:r>
                      <a:r>
                        <a:rPr sz="1200" i="1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(1);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10.</a:t>
                      </a:r>
                      <a:r>
                        <a:rPr sz="1200" i="1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}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58470" indent="-368300">
                        <a:lnSpc>
                          <a:spcPct val="100000"/>
                        </a:lnSpc>
                        <a:buAutoNum type="arabicPeriod" startAt="11"/>
                        <a:tabLst>
                          <a:tab pos="459105" algn="l"/>
                          <a:tab pos="2023745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200" i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(cpid</a:t>
                      </a:r>
                      <a:r>
                        <a:rPr sz="1200" i="1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200" i="1" spc="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0)	</a:t>
                      </a:r>
                      <a:r>
                        <a:rPr sz="1200" i="1" dirty="0">
                          <a:solidFill>
                            <a:srgbClr val="30859C"/>
                          </a:solidFill>
                          <a:latin typeface="Courier New"/>
                          <a:cs typeface="Courier New"/>
                        </a:rPr>
                        <a:t>//child</a:t>
                      </a:r>
                      <a:r>
                        <a:rPr sz="1200" i="1" spc="-35" dirty="0">
                          <a:solidFill>
                            <a:srgbClr val="30859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solidFill>
                            <a:srgbClr val="30859C"/>
                          </a:solidFill>
                          <a:latin typeface="Courier New"/>
                          <a:cs typeface="Courier New"/>
                        </a:rPr>
                        <a:t>code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5840" indent="-915669">
                        <a:lnSpc>
                          <a:spcPct val="100000"/>
                        </a:lnSpc>
                        <a:buAutoNum type="arabicPeriod" startAt="11"/>
                        <a:tabLst>
                          <a:tab pos="1005840" algn="l"/>
                          <a:tab pos="1006475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 (“\n</a:t>
                      </a:r>
                      <a:r>
                        <a:rPr sz="1200" i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Hello</a:t>
                      </a:r>
                      <a:r>
                        <a:rPr sz="1200" i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am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child</a:t>
                      </a:r>
                      <a:r>
                        <a:rPr sz="1200" i="1" spc="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\n”);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58470" indent="-368300">
                        <a:lnSpc>
                          <a:spcPct val="100000"/>
                        </a:lnSpc>
                        <a:buAutoNum type="arabicPeriod" startAt="11"/>
                        <a:tabLst>
                          <a:tab pos="459105" algn="l"/>
                          <a:tab pos="2023745" algn="l"/>
                        </a:tabLst>
                      </a:pPr>
                      <a:r>
                        <a:rPr sz="1200" i="1" dirty="0">
                          <a:latin typeface="Courier New"/>
                          <a:cs typeface="Courier New"/>
                        </a:rPr>
                        <a:t>else	</a:t>
                      </a:r>
                      <a:r>
                        <a:rPr sz="1200" b="1" i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//parent</a:t>
                      </a:r>
                      <a:r>
                        <a:rPr sz="1200" b="1" i="1" spc="-4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b="1" i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code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5840" indent="-915669">
                        <a:lnSpc>
                          <a:spcPct val="100000"/>
                        </a:lnSpc>
                        <a:buAutoNum type="arabicPeriod" startAt="11"/>
                        <a:tabLst>
                          <a:tab pos="1005840" algn="l"/>
                          <a:tab pos="1006475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 (“\n</a:t>
                      </a:r>
                      <a:r>
                        <a:rPr sz="1200" i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Hello</a:t>
                      </a:r>
                      <a:r>
                        <a:rPr sz="1200" i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am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parent</a:t>
                      </a:r>
                      <a:r>
                        <a:rPr sz="1200" i="1" spc="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\n”);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15.</a:t>
                      </a:r>
                      <a:r>
                        <a:rPr sz="1200" i="1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}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306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spc="-40" dirty="0">
                          <a:latin typeface="Arial MT"/>
                          <a:cs typeface="Arial MT"/>
                        </a:rPr>
                        <a:t>DATA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 gridSpan="3">
                  <a:txBody>
                    <a:bodyPr/>
                    <a:lstStyle/>
                    <a:p>
                      <a:pPr marL="1051560">
                        <a:lnSpc>
                          <a:spcPts val="1019"/>
                        </a:lnSpc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1200" spc="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54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051560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cpid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632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76962" y="631889"/>
          <a:ext cx="4419600" cy="38527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473"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PID: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632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spcBef>
                          <a:spcPts val="700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Child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5306">
                <a:tc gridSpan="3">
                  <a:txBody>
                    <a:bodyPr/>
                    <a:lstStyle/>
                    <a:p>
                      <a:pPr marL="367665" indent="-276225">
                        <a:lnSpc>
                          <a:spcPct val="100000"/>
                        </a:lnSpc>
                        <a:buAutoNum type="arabicPeriod"/>
                        <a:tabLst>
                          <a:tab pos="368300" algn="l"/>
                        </a:tabLst>
                      </a:pPr>
                      <a:r>
                        <a:rPr sz="1200" b="1" dirty="0">
                          <a:latin typeface="Courier New"/>
                          <a:cs typeface="Courier New"/>
                        </a:rPr>
                        <a:t>//fork1.c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2075" marR="3124835">
                        <a:lnSpc>
                          <a:spcPct val="100000"/>
                        </a:lnSpc>
                        <a:buAutoNum type="arabicPeriod"/>
                        <a:tabLst>
                          <a:tab pos="368300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200" i="1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main() </a:t>
                      </a:r>
                      <a:r>
                        <a:rPr sz="1200" i="1" spc="-7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 {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34975" indent="-343535">
                        <a:lnSpc>
                          <a:spcPct val="100000"/>
                        </a:lnSpc>
                        <a:buAutoNum type="arabicPeriod" startAt="4"/>
                        <a:tabLst>
                          <a:tab pos="434975" algn="l"/>
                          <a:tab pos="435609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int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i = 54,</a:t>
                      </a:r>
                      <a:r>
                        <a:rPr sz="1200" i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cpid =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-1;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34975" indent="-343535">
                        <a:lnSpc>
                          <a:spcPct val="100000"/>
                        </a:lnSpc>
                        <a:buAutoNum type="arabicPeriod" startAt="4"/>
                        <a:tabLst>
                          <a:tab pos="434975" algn="l"/>
                          <a:tab pos="435609" algn="l"/>
                        </a:tabLst>
                      </a:pPr>
                      <a:r>
                        <a:rPr sz="1200" i="1" dirty="0">
                          <a:latin typeface="Courier New"/>
                          <a:cs typeface="Courier New"/>
                        </a:rPr>
                        <a:t>cpid</a:t>
                      </a:r>
                      <a:r>
                        <a:rPr sz="1200" i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200" i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fork();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2075" marR="2597150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 startAt="4"/>
                        <a:tabLst>
                          <a:tab pos="434975" algn="l"/>
                          <a:tab pos="435609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200" i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(cpid</a:t>
                      </a:r>
                      <a:r>
                        <a:rPr sz="1200" i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200" i="1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-1) </a:t>
                      </a:r>
                      <a:r>
                        <a:rPr sz="1200" i="1" spc="-7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7.	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{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6475" indent="-915035">
                        <a:lnSpc>
                          <a:spcPct val="100000"/>
                        </a:lnSpc>
                        <a:buAutoNum type="arabicPeriod" startAt="8"/>
                        <a:tabLst>
                          <a:tab pos="1006475" algn="l"/>
                          <a:tab pos="1007110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1200" i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(“\nFork failed\n”);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6475" indent="-915035">
                        <a:lnSpc>
                          <a:spcPct val="100000"/>
                        </a:lnSpc>
                        <a:buAutoNum type="arabicPeriod" startAt="8"/>
                        <a:tabLst>
                          <a:tab pos="1006475" algn="l"/>
                          <a:tab pos="1007110" algn="l"/>
                        </a:tabLst>
                      </a:pPr>
                      <a:r>
                        <a:rPr sz="1200" i="1" dirty="0">
                          <a:latin typeface="Courier New"/>
                          <a:cs typeface="Courier New"/>
                        </a:rPr>
                        <a:t>exit</a:t>
                      </a:r>
                      <a:r>
                        <a:rPr sz="1200" i="1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(1);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10.</a:t>
                      </a:r>
                      <a:r>
                        <a:rPr sz="1200" i="1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}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59105" indent="-367665">
                        <a:lnSpc>
                          <a:spcPct val="100000"/>
                        </a:lnSpc>
                        <a:buAutoNum type="arabicPeriod" startAt="11"/>
                        <a:tabLst>
                          <a:tab pos="459740" algn="l"/>
                          <a:tab pos="2117725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200" i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(cpid</a:t>
                      </a:r>
                      <a:r>
                        <a:rPr sz="1200" i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200" i="1" spc="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0)	</a:t>
                      </a:r>
                      <a:r>
                        <a:rPr sz="1200" i="1" dirty="0">
                          <a:solidFill>
                            <a:srgbClr val="30859C"/>
                          </a:solidFill>
                          <a:latin typeface="Courier New"/>
                          <a:cs typeface="Courier New"/>
                        </a:rPr>
                        <a:t>//child</a:t>
                      </a:r>
                      <a:r>
                        <a:rPr sz="1200" i="1" spc="-45" dirty="0">
                          <a:solidFill>
                            <a:srgbClr val="30859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solidFill>
                            <a:srgbClr val="30859C"/>
                          </a:solidFill>
                          <a:latin typeface="Courier New"/>
                          <a:cs typeface="Courier New"/>
                        </a:rPr>
                        <a:t>code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6475" indent="-915035">
                        <a:lnSpc>
                          <a:spcPct val="100000"/>
                        </a:lnSpc>
                        <a:buAutoNum type="arabicPeriod" startAt="11"/>
                        <a:tabLst>
                          <a:tab pos="1006475" algn="l"/>
                          <a:tab pos="1007110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(“\n</a:t>
                      </a:r>
                      <a:r>
                        <a:rPr sz="1200" i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Hello</a:t>
                      </a:r>
                      <a:r>
                        <a:rPr sz="1200" i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am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child</a:t>
                      </a:r>
                      <a:r>
                        <a:rPr sz="1200" i="1" spc="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\n”);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59105" indent="-367665">
                        <a:lnSpc>
                          <a:spcPct val="100000"/>
                        </a:lnSpc>
                        <a:buAutoNum type="arabicPeriod" startAt="11"/>
                        <a:tabLst>
                          <a:tab pos="459740" algn="l"/>
                          <a:tab pos="2117725" algn="l"/>
                        </a:tabLst>
                      </a:pPr>
                      <a:r>
                        <a:rPr sz="1200" i="1" dirty="0">
                          <a:latin typeface="Courier New"/>
                          <a:cs typeface="Courier New"/>
                        </a:rPr>
                        <a:t>else	</a:t>
                      </a:r>
                      <a:r>
                        <a:rPr sz="1200" b="1" i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//parent</a:t>
                      </a:r>
                      <a:r>
                        <a:rPr sz="1200" b="1" i="1" spc="-4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b="1" i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code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6475" indent="-915035">
                        <a:lnSpc>
                          <a:spcPct val="100000"/>
                        </a:lnSpc>
                        <a:buAutoNum type="arabicPeriod" startAt="11"/>
                        <a:tabLst>
                          <a:tab pos="1006475" algn="l"/>
                          <a:tab pos="1007110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(“\n</a:t>
                      </a:r>
                      <a:r>
                        <a:rPr sz="1200" i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Hello</a:t>
                      </a:r>
                      <a:r>
                        <a:rPr sz="1200" i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am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parent</a:t>
                      </a:r>
                      <a:r>
                        <a:rPr sz="1200" i="1" spc="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\n”);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15.</a:t>
                      </a:r>
                      <a:r>
                        <a:rPr sz="1200" i="1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}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068"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200" spc="-40" dirty="0">
                          <a:latin typeface="Arial MT"/>
                          <a:cs typeface="Arial MT"/>
                        </a:rPr>
                        <a:t>DATA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50">
                <a:tc gridSpan="3">
                  <a:txBody>
                    <a:bodyPr/>
                    <a:lstStyle/>
                    <a:p>
                      <a:pPr marL="1042669">
                        <a:lnSpc>
                          <a:spcPts val="1035"/>
                        </a:lnSpc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1200" spc="2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54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042669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cpid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56155" y="19304"/>
            <a:ext cx="7234555" cy="605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Using</a:t>
            </a:r>
            <a:r>
              <a:rPr sz="3800" spc="-10" dirty="0"/>
              <a:t> </a:t>
            </a:r>
            <a:r>
              <a:rPr sz="3800" dirty="0"/>
              <a:t>fork()</a:t>
            </a:r>
            <a:r>
              <a:rPr sz="3800" spc="-40" dirty="0"/>
              <a:t> </a:t>
            </a:r>
            <a:r>
              <a:rPr sz="3800" dirty="0"/>
              <a:t>&amp;</a:t>
            </a:r>
            <a:r>
              <a:rPr sz="3800" spc="-5" dirty="0"/>
              <a:t> exit()</a:t>
            </a:r>
            <a:r>
              <a:rPr sz="3800" spc="-35" dirty="0"/>
              <a:t> </a:t>
            </a:r>
            <a:r>
              <a:rPr sz="3800" dirty="0"/>
              <a:t>system</a:t>
            </a:r>
            <a:r>
              <a:rPr sz="3800" spc="-30" dirty="0"/>
              <a:t> </a:t>
            </a:r>
            <a:r>
              <a:rPr sz="3800" dirty="0"/>
              <a:t>call</a:t>
            </a:r>
            <a:endParaRPr sz="3800"/>
          </a:p>
        </p:txBody>
      </p:sp>
      <p:sp>
        <p:nvSpPr>
          <p:cNvPr id="5" name="object 5"/>
          <p:cNvSpPr txBox="1"/>
          <p:nvPr/>
        </p:nvSpPr>
        <p:spPr>
          <a:xfrm>
            <a:off x="1612189" y="4633342"/>
            <a:ext cx="85985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155575" indent="-320040">
              <a:spcBef>
                <a:spcPts val="100"/>
              </a:spcBef>
              <a:buChar char="•"/>
              <a:tabLst>
                <a:tab pos="332105" algn="l"/>
                <a:tab pos="332740" algn="l"/>
              </a:tabLst>
            </a:pPr>
            <a:r>
              <a:rPr dirty="0">
                <a:latin typeface="Arial MT"/>
                <a:cs typeface="Arial MT"/>
              </a:rPr>
              <a:t>After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fork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parent</a:t>
            </a:r>
            <a:r>
              <a:rPr spc="1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and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child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are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identical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except</a:t>
            </a:r>
            <a:r>
              <a:rPr spc="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for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return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value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fork </a:t>
            </a:r>
            <a:r>
              <a:rPr spc="-5" dirty="0">
                <a:latin typeface="Arial MT"/>
                <a:cs typeface="Arial MT"/>
              </a:rPr>
              <a:t>(and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 </a:t>
            </a:r>
            <a:r>
              <a:rPr spc="-484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course</a:t>
            </a:r>
            <a:r>
              <a:rPr dirty="0">
                <a:latin typeface="Arial MT"/>
                <a:cs typeface="Arial MT"/>
              </a:rPr>
              <a:t> the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PIDs).</a:t>
            </a:r>
            <a:endParaRPr>
              <a:latin typeface="Arial MT"/>
              <a:cs typeface="Arial MT"/>
            </a:endParaRPr>
          </a:p>
          <a:p>
            <a:pPr marL="332740" indent="-320040">
              <a:spcBef>
                <a:spcPts val="1080"/>
              </a:spcBef>
              <a:buChar char="•"/>
              <a:tabLst>
                <a:tab pos="332105" algn="l"/>
                <a:tab pos="332740" algn="l"/>
              </a:tabLst>
            </a:pPr>
            <a:r>
              <a:rPr spc="-5" dirty="0">
                <a:latin typeface="Arial MT"/>
                <a:cs typeface="Arial MT"/>
              </a:rPr>
              <a:t>Because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data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are</a:t>
            </a:r>
            <a:r>
              <a:rPr spc="1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different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therefore</a:t>
            </a:r>
            <a:r>
              <a:rPr spc="1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program</a:t>
            </a:r>
            <a:r>
              <a:rPr spc="1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execution</a:t>
            </a:r>
            <a:r>
              <a:rPr spc="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differs.</a:t>
            </a:r>
            <a:endParaRPr>
              <a:latin typeface="Arial MT"/>
              <a:cs typeface="Arial MT"/>
            </a:endParaRPr>
          </a:p>
          <a:p>
            <a:pPr marL="332740" indent="-320040">
              <a:spcBef>
                <a:spcPts val="1080"/>
              </a:spcBef>
              <a:buChar char="•"/>
              <a:tabLst>
                <a:tab pos="332105" algn="l"/>
                <a:tab pos="332740" algn="l"/>
              </a:tabLst>
            </a:pPr>
            <a:r>
              <a:rPr spc="-5" dirty="0">
                <a:latin typeface="Arial MT"/>
                <a:cs typeface="Arial MT"/>
              </a:rPr>
              <a:t>They are </a:t>
            </a:r>
            <a:r>
              <a:rPr dirty="0">
                <a:latin typeface="Arial MT"/>
                <a:cs typeface="Arial MT"/>
              </a:rPr>
              <a:t>free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execute</a:t>
            </a:r>
            <a:r>
              <a:rPr spc="3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on their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own</a:t>
            </a:r>
            <a:r>
              <a:rPr spc="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from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now</a:t>
            </a:r>
            <a:r>
              <a:rPr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onwards,</a:t>
            </a:r>
            <a:r>
              <a:rPr spc="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i.e.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after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a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successful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or</a:t>
            </a:r>
            <a:endParaRPr>
              <a:latin typeface="Arial MT"/>
              <a:cs typeface="Arial MT"/>
            </a:endParaRPr>
          </a:p>
          <a:p>
            <a:pPr marL="332740"/>
            <a:r>
              <a:rPr spc="-5" dirty="0">
                <a:latin typeface="Arial MT"/>
                <a:cs typeface="Arial MT"/>
              </a:rPr>
              <a:t>unsuccessful</a:t>
            </a:r>
            <a:r>
              <a:rPr spc="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fork()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system</a:t>
            </a:r>
            <a:r>
              <a:rPr spc="2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call both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spc="-15" dirty="0">
                <a:latin typeface="Arial MT"/>
                <a:cs typeface="Arial MT"/>
              </a:rPr>
              <a:t>will</a:t>
            </a:r>
            <a:r>
              <a:rPr spc="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start</a:t>
            </a:r>
            <a:r>
              <a:rPr spc="-5" dirty="0">
                <a:latin typeface="Arial MT"/>
                <a:cs typeface="Arial MT"/>
              </a:rPr>
              <a:t> their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execution</a:t>
            </a:r>
            <a:r>
              <a:rPr spc="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from</a:t>
            </a:r>
            <a:r>
              <a:rPr spc="-10" dirty="0">
                <a:latin typeface="Arial MT"/>
                <a:cs typeface="Arial MT"/>
              </a:rPr>
              <a:t> line#6.</a:t>
            </a:r>
            <a:endParaRPr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24000" y="1842516"/>
            <a:ext cx="685800" cy="425450"/>
            <a:chOff x="0" y="1842516"/>
            <a:chExt cx="685800" cy="4254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842516"/>
              <a:ext cx="685800" cy="42519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808" y="1945949"/>
              <a:ext cx="457834" cy="171450"/>
            </a:xfrm>
            <a:custGeom>
              <a:avLst/>
              <a:gdLst/>
              <a:ahLst/>
              <a:cxnLst/>
              <a:rect l="l" t="t" r="r" b="b"/>
              <a:pathLst>
                <a:path w="457834" h="171450">
                  <a:moveTo>
                    <a:pt x="349018" y="104717"/>
                  </a:moveTo>
                  <a:lnTo>
                    <a:pt x="295480" y="135707"/>
                  </a:lnTo>
                  <a:lnTo>
                    <a:pt x="289812" y="140739"/>
                  </a:lnTo>
                  <a:lnTo>
                    <a:pt x="286616" y="147296"/>
                  </a:lnTo>
                  <a:lnTo>
                    <a:pt x="286115" y="154566"/>
                  </a:lnTo>
                  <a:lnTo>
                    <a:pt x="288533" y="161742"/>
                  </a:lnTo>
                  <a:lnTo>
                    <a:pt x="293537" y="167423"/>
                  </a:lnTo>
                  <a:lnTo>
                    <a:pt x="300101" y="170616"/>
                  </a:lnTo>
                  <a:lnTo>
                    <a:pt x="307387" y="171118"/>
                  </a:lnTo>
                  <a:lnTo>
                    <a:pt x="314556" y="168727"/>
                  </a:lnTo>
                  <a:lnTo>
                    <a:pt x="424671" y="104973"/>
                  </a:lnTo>
                  <a:lnTo>
                    <a:pt x="419483" y="104973"/>
                  </a:lnTo>
                  <a:lnTo>
                    <a:pt x="349018" y="104717"/>
                  </a:lnTo>
                  <a:close/>
                </a:path>
                <a:path w="457834" h="171450">
                  <a:moveTo>
                    <a:pt x="381758" y="85766"/>
                  </a:moveTo>
                  <a:lnTo>
                    <a:pt x="349018" y="104717"/>
                  </a:lnTo>
                  <a:lnTo>
                    <a:pt x="419483" y="104973"/>
                  </a:lnTo>
                  <a:lnTo>
                    <a:pt x="419492" y="102306"/>
                  </a:lnTo>
                  <a:lnTo>
                    <a:pt x="409895" y="102306"/>
                  </a:lnTo>
                  <a:lnTo>
                    <a:pt x="381758" y="85766"/>
                  </a:lnTo>
                  <a:close/>
                </a:path>
                <a:path w="457834" h="171450">
                  <a:moveTo>
                    <a:pt x="307983" y="0"/>
                  </a:moveTo>
                  <a:lnTo>
                    <a:pt x="300692" y="420"/>
                  </a:lnTo>
                  <a:lnTo>
                    <a:pt x="294103" y="3555"/>
                  </a:lnTo>
                  <a:lnTo>
                    <a:pt x="289054" y="9215"/>
                  </a:lnTo>
                  <a:lnTo>
                    <a:pt x="286586" y="16337"/>
                  </a:lnTo>
                  <a:lnTo>
                    <a:pt x="287038" y="23614"/>
                  </a:lnTo>
                  <a:lnTo>
                    <a:pt x="290190" y="30200"/>
                  </a:lnTo>
                  <a:lnTo>
                    <a:pt x="295823" y="35250"/>
                  </a:lnTo>
                  <a:lnTo>
                    <a:pt x="349183" y="66617"/>
                  </a:lnTo>
                  <a:lnTo>
                    <a:pt x="419610" y="66873"/>
                  </a:lnTo>
                  <a:lnTo>
                    <a:pt x="419483" y="104973"/>
                  </a:lnTo>
                  <a:lnTo>
                    <a:pt x="424671" y="104973"/>
                  </a:lnTo>
                  <a:lnTo>
                    <a:pt x="457354" y="86050"/>
                  </a:lnTo>
                  <a:lnTo>
                    <a:pt x="315140" y="2484"/>
                  </a:lnTo>
                  <a:lnTo>
                    <a:pt x="307983" y="0"/>
                  </a:lnTo>
                  <a:close/>
                </a:path>
                <a:path w="457834" h="171450">
                  <a:moveTo>
                    <a:pt x="132" y="65349"/>
                  </a:moveTo>
                  <a:lnTo>
                    <a:pt x="0" y="103449"/>
                  </a:lnTo>
                  <a:lnTo>
                    <a:pt x="349018" y="104717"/>
                  </a:lnTo>
                  <a:lnTo>
                    <a:pt x="381758" y="85766"/>
                  </a:lnTo>
                  <a:lnTo>
                    <a:pt x="349183" y="66617"/>
                  </a:lnTo>
                  <a:lnTo>
                    <a:pt x="132" y="65349"/>
                  </a:lnTo>
                  <a:close/>
                </a:path>
                <a:path w="457834" h="171450">
                  <a:moveTo>
                    <a:pt x="410009" y="69413"/>
                  </a:moveTo>
                  <a:lnTo>
                    <a:pt x="381758" y="85766"/>
                  </a:lnTo>
                  <a:lnTo>
                    <a:pt x="409895" y="102306"/>
                  </a:lnTo>
                  <a:lnTo>
                    <a:pt x="410009" y="69413"/>
                  </a:lnTo>
                  <a:close/>
                </a:path>
                <a:path w="457834" h="171450">
                  <a:moveTo>
                    <a:pt x="419602" y="69413"/>
                  </a:moveTo>
                  <a:lnTo>
                    <a:pt x="410009" y="69413"/>
                  </a:lnTo>
                  <a:lnTo>
                    <a:pt x="409895" y="102306"/>
                  </a:lnTo>
                  <a:lnTo>
                    <a:pt x="419492" y="102306"/>
                  </a:lnTo>
                  <a:lnTo>
                    <a:pt x="419602" y="69413"/>
                  </a:lnTo>
                  <a:close/>
                </a:path>
                <a:path w="457834" h="171450">
                  <a:moveTo>
                    <a:pt x="349183" y="66617"/>
                  </a:moveTo>
                  <a:lnTo>
                    <a:pt x="381758" y="85766"/>
                  </a:lnTo>
                  <a:lnTo>
                    <a:pt x="410009" y="69413"/>
                  </a:lnTo>
                  <a:lnTo>
                    <a:pt x="419602" y="69413"/>
                  </a:lnTo>
                  <a:lnTo>
                    <a:pt x="419610" y="66873"/>
                  </a:lnTo>
                  <a:lnTo>
                    <a:pt x="349183" y="66617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068567" y="1830323"/>
            <a:ext cx="713740" cy="424180"/>
            <a:chOff x="4544567" y="1830323"/>
            <a:chExt cx="713740" cy="42418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4567" y="1830323"/>
              <a:ext cx="713232" cy="4236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587747" y="1933249"/>
              <a:ext cx="457834" cy="171450"/>
            </a:xfrm>
            <a:custGeom>
              <a:avLst/>
              <a:gdLst/>
              <a:ahLst/>
              <a:cxnLst/>
              <a:rect l="l" t="t" r="r" b="b"/>
              <a:pathLst>
                <a:path w="457835" h="171450">
                  <a:moveTo>
                    <a:pt x="349078" y="104717"/>
                  </a:moveTo>
                  <a:lnTo>
                    <a:pt x="295528" y="135707"/>
                  </a:lnTo>
                  <a:lnTo>
                    <a:pt x="289847" y="140739"/>
                  </a:lnTo>
                  <a:lnTo>
                    <a:pt x="286654" y="147296"/>
                  </a:lnTo>
                  <a:lnTo>
                    <a:pt x="286152" y="154566"/>
                  </a:lnTo>
                  <a:lnTo>
                    <a:pt x="288543" y="161742"/>
                  </a:lnTo>
                  <a:lnTo>
                    <a:pt x="293594" y="167423"/>
                  </a:lnTo>
                  <a:lnTo>
                    <a:pt x="300180" y="170616"/>
                  </a:lnTo>
                  <a:lnTo>
                    <a:pt x="307457" y="171118"/>
                  </a:lnTo>
                  <a:lnTo>
                    <a:pt x="314578" y="168727"/>
                  </a:lnTo>
                  <a:lnTo>
                    <a:pt x="424752" y="104973"/>
                  </a:lnTo>
                  <a:lnTo>
                    <a:pt x="419480" y="104973"/>
                  </a:lnTo>
                  <a:lnTo>
                    <a:pt x="349078" y="104717"/>
                  </a:lnTo>
                  <a:close/>
                </a:path>
                <a:path w="457835" h="171450">
                  <a:moveTo>
                    <a:pt x="381825" y="85766"/>
                  </a:moveTo>
                  <a:lnTo>
                    <a:pt x="349078" y="104717"/>
                  </a:lnTo>
                  <a:lnTo>
                    <a:pt x="419480" y="104973"/>
                  </a:lnTo>
                  <a:lnTo>
                    <a:pt x="419498" y="102306"/>
                  </a:lnTo>
                  <a:lnTo>
                    <a:pt x="409955" y="102306"/>
                  </a:lnTo>
                  <a:lnTo>
                    <a:pt x="381825" y="85766"/>
                  </a:lnTo>
                  <a:close/>
                </a:path>
                <a:path w="457835" h="171450">
                  <a:moveTo>
                    <a:pt x="308038" y="0"/>
                  </a:moveTo>
                  <a:lnTo>
                    <a:pt x="300767" y="420"/>
                  </a:lnTo>
                  <a:lnTo>
                    <a:pt x="294211" y="3555"/>
                  </a:lnTo>
                  <a:lnTo>
                    <a:pt x="289178" y="9215"/>
                  </a:lnTo>
                  <a:lnTo>
                    <a:pt x="286694" y="16337"/>
                  </a:lnTo>
                  <a:lnTo>
                    <a:pt x="287115" y="23614"/>
                  </a:lnTo>
                  <a:lnTo>
                    <a:pt x="290250" y="30200"/>
                  </a:lnTo>
                  <a:lnTo>
                    <a:pt x="295910" y="35250"/>
                  </a:lnTo>
                  <a:lnTo>
                    <a:pt x="349257" y="66617"/>
                  </a:lnTo>
                  <a:lnTo>
                    <a:pt x="419735" y="66873"/>
                  </a:lnTo>
                  <a:lnTo>
                    <a:pt x="419480" y="104973"/>
                  </a:lnTo>
                  <a:lnTo>
                    <a:pt x="424752" y="104973"/>
                  </a:lnTo>
                  <a:lnTo>
                    <a:pt x="457453" y="86050"/>
                  </a:lnTo>
                  <a:lnTo>
                    <a:pt x="315213" y="2484"/>
                  </a:lnTo>
                  <a:lnTo>
                    <a:pt x="308038" y="0"/>
                  </a:lnTo>
                  <a:close/>
                </a:path>
                <a:path w="457835" h="171450">
                  <a:moveTo>
                    <a:pt x="253" y="65349"/>
                  </a:moveTo>
                  <a:lnTo>
                    <a:pt x="0" y="103449"/>
                  </a:lnTo>
                  <a:lnTo>
                    <a:pt x="349078" y="104717"/>
                  </a:lnTo>
                  <a:lnTo>
                    <a:pt x="381825" y="85766"/>
                  </a:lnTo>
                  <a:lnTo>
                    <a:pt x="349257" y="66617"/>
                  </a:lnTo>
                  <a:lnTo>
                    <a:pt x="253" y="65349"/>
                  </a:lnTo>
                  <a:close/>
                </a:path>
                <a:path w="457835" h="171450">
                  <a:moveTo>
                    <a:pt x="410082" y="69413"/>
                  </a:moveTo>
                  <a:lnTo>
                    <a:pt x="381825" y="85766"/>
                  </a:lnTo>
                  <a:lnTo>
                    <a:pt x="409955" y="102306"/>
                  </a:lnTo>
                  <a:lnTo>
                    <a:pt x="410082" y="69413"/>
                  </a:lnTo>
                  <a:close/>
                </a:path>
                <a:path w="457835" h="171450">
                  <a:moveTo>
                    <a:pt x="419718" y="69413"/>
                  </a:moveTo>
                  <a:lnTo>
                    <a:pt x="410082" y="69413"/>
                  </a:lnTo>
                  <a:lnTo>
                    <a:pt x="409955" y="102306"/>
                  </a:lnTo>
                  <a:lnTo>
                    <a:pt x="419498" y="102306"/>
                  </a:lnTo>
                  <a:lnTo>
                    <a:pt x="419718" y="69413"/>
                  </a:lnTo>
                  <a:close/>
                </a:path>
                <a:path w="457835" h="171450">
                  <a:moveTo>
                    <a:pt x="349257" y="66617"/>
                  </a:moveTo>
                  <a:lnTo>
                    <a:pt x="381825" y="85766"/>
                  </a:lnTo>
                  <a:lnTo>
                    <a:pt x="410082" y="69413"/>
                  </a:lnTo>
                  <a:lnTo>
                    <a:pt x="419718" y="69413"/>
                  </a:lnTo>
                  <a:lnTo>
                    <a:pt x="419735" y="66873"/>
                  </a:lnTo>
                  <a:lnTo>
                    <a:pt x="349257" y="66617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06685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6154" y="44653"/>
            <a:ext cx="7235190" cy="60579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dirty="0"/>
              <a:t>Using</a:t>
            </a:r>
            <a:r>
              <a:rPr sz="3800" spc="-25" dirty="0"/>
              <a:t> </a:t>
            </a:r>
            <a:r>
              <a:rPr sz="3800" dirty="0"/>
              <a:t>fork()</a:t>
            </a:r>
            <a:r>
              <a:rPr sz="3800" spc="-35" dirty="0"/>
              <a:t> </a:t>
            </a:r>
            <a:r>
              <a:rPr sz="3800" dirty="0"/>
              <a:t>&amp;</a:t>
            </a:r>
            <a:r>
              <a:rPr sz="3800" spc="-20" dirty="0"/>
              <a:t> </a:t>
            </a:r>
            <a:r>
              <a:rPr sz="3800" dirty="0"/>
              <a:t>exit()</a:t>
            </a:r>
            <a:r>
              <a:rPr sz="3800" spc="-40" dirty="0"/>
              <a:t> </a:t>
            </a:r>
            <a:r>
              <a:rPr sz="3800" dirty="0"/>
              <a:t>system</a:t>
            </a:r>
            <a:r>
              <a:rPr sz="3800" spc="-35" dirty="0"/>
              <a:t> </a:t>
            </a:r>
            <a:r>
              <a:rPr sz="3800" dirty="0"/>
              <a:t>call</a:t>
            </a:r>
            <a:endParaRPr sz="3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95437" y="641413"/>
          <a:ext cx="4419600" cy="3852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299">
                <a:tc gridSpan="2"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PID: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597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110"/>
                        </a:lnSpc>
                        <a:spcBef>
                          <a:spcPts val="625"/>
                        </a:spcBef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Parent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893">
                <a:tc gridSpan="3">
                  <a:txBody>
                    <a:bodyPr/>
                    <a:lstStyle/>
                    <a:p>
                      <a:pPr marL="367030" indent="-276860">
                        <a:lnSpc>
                          <a:spcPct val="100000"/>
                        </a:lnSpc>
                        <a:buAutoNum type="arabicPeriod"/>
                        <a:tabLst>
                          <a:tab pos="367665" algn="l"/>
                        </a:tabLst>
                      </a:pPr>
                      <a:r>
                        <a:rPr sz="1200" b="1" dirty="0">
                          <a:latin typeface="Courier New"/>
                          <a:cs typeface="Courier New"/>
                        </a:rPr>
                        <a:t>//fork1.c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0805" marR="3125470">
                        <a:lnSpc>
                          <a:spcPct val="100000"/>
                        </a:lnSpc>
                        <a:buAutoNum type="arabicPeriod"/>
                        <a:tabLst>
                          <a:tab pos="367665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200" i="1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main() </a:t>
                      </a:r>
                      <a:r>
                        <a:rPr sz="1200" i="1" spc="-7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 {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34340" indent="-343535">
                        <a:lnSpc>
                          <a:spcPct val="100000"/>
                        </a:lnSpc>
                        <a:buAutoNum type="arabicPeriod" startAt="4"/>
                        <a:tabLst>
                          <a:tab pos="433705" algn="l"/>
                          <a:tab pos="434340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int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i =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54,</a:t>
                      </a:r>
                      <a:r>
                        <a:rPr sz="1200" i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cpid =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-1;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34340" indent="-343535">
                        <a:lnSpc>
                          <a:spcPct val="100000"/>
                        </a:lnSpc>
                        <a:buAutoNum type="arabicPeriod" startAt="4"/>
                        <a:tabLst>
                          <a:tab pos="433705" algn="l"/>
                          <a:tab pos="434340" algn="l"/>
                        </a:tabLst>
                      </a:pPr>
                      <a:r>
                        <a:rPr sz="1200" i="1" dirty="0">
                          <a:latin typeface="Courier New"/>
                          <a:cs typeface="Courier New"/>
                        </a:rPr>
                        <a:t>cpid</a:t>
                      </a:r>
                      <a:r>
                        <a:rPr sz="1200" i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200" i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fork();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0805" marR="2597785">
                        <a:lnSpc>
                          <a:spcPct val="100000"/>
                        </a:lnSpc>
                        <a:buAutoNum type="arabicPeriod" startAt="4"/>
                        <a:tabLst>
                          <a:tab pos="433705" algn="l"/>
                          <a:tab pos="434340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200" i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(cpid</a:t>
                      </a:r>
                      <a:r>
                        <a:rPr sz="1200" i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200" i="1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-1) </a:t>
                      </a:r>
                      <a:r>
                        <a:rPr sz="1200" i="1" spc="-7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7.	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{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5840" indent="-915669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 startAt="8"/>
                        <a:tabLst>
                          <a:tab pos="1005840" algn="l"/>
                          <a:tab pos="1006475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1200" i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(“\nFork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failed\n”);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5840" indent="-915669">
                        <a:lnSpc>
                          <a:spcPct val="100000"/>
                        </a:lnSpc>
                        <a:buAutoNum type="arabicPeriod" startAt="8"/>
                        <a:tabLst>
                          <a:tab pos="1005840" algn="l"/>
                          <a:tab pos="1006475" algn="l"/>
                        </a:tabLst>
                      </a:pPr>
                      <a:r>
                        <a:rPr sz="1200" i="1" dirty="0">
                          <a:latin typeface="Courier New"/>
                          <a:cs typeface="Courier New"/>
                        </a:rPr>
                        <a:t>exit</a:t>
                      </a:r>
                      <a:r>
                        <a:rPr sz="1200" i="1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(1);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10.</a:t>
                      </a:r>
                      <a:r>
                        <a:rPr sz="1200" i="1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}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58470" indent="-368300">
                        <a:lnSpc>
                          <a:spcPct val="100000"/>
                        </a:lnSpc>
                        <a:buAutoNum type="arabicPeriod" startAt="11"/>
                        <a:tabLst>
                          <a:tab pos="459105" algn="l"/>
                          <a:tab pos="2023745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200" i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(cpid</a:t>
                      </a:r>
                      <a:r>
                        <a:rPr sz="1200" i="1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200" i="1" spc="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0)	</a:t>
                      </a:r>
                      <a:r>
                        <a:rPr sz="1200" i="1" dirty="0">
                          <a:solidFill>
                            <a:srgbClr val="30859C"/>
                          </a:solidFill>
                          <a:latin typeface="Courier New"/>
                          <a:cs typeface="Courier New"/>
                        </a:rPr>
                        <a:t>//child</a:t>
                      </a:r>
                      <a:r>
                        <a:rPr sz="1200" i="1" spc="-35" dirty="0">
                          <a:solidFill>
                            <a:srgbClr val="30859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solidFill>
                            <a:srgbClr val="30859C"/>
                          </a:solidFill>
                          <a:latin typeface="Courier New"/>
                          <a:cs typeface="Courier New"/>
                        </a:rPr>
                        <a:t>code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5840" indent="-915669">
                        <a:lnSpc>
                          <a:spcPct val="100000"/>
                        </a:lnSpc>
                        <a:buAutoNum type="arabicPeriod" startAt="11"/>
                        <a:tabLst>
                          <a:tab pos="1005840" algn="l"/>
                          <a:tab pos="1006475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 (“\n</a:t>
                      </a:r>
                      <a:r>
                        <a:rPr sz="1200" i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Hello</a:t>
                      </a:r>
                      <a:r>
                        <a:rPr sz="1200" i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am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child</a:t>
                      </a:r>
                      <a:r>
                        <a:rPr sz="1200" i="1" spc="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\n”);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58470" indent="-368300">
                        <a:lnSpc>
                          <a:spcPct val="100000"/>
                        </a:lnSpc>
                        <a:buAutoNum type="arabicPeriod" startAt="11"/>
                        <a:tabLst>
                          <a:tab pos="459105" algn="l"/>
                          <a:tab pos="2023745" algn="l"/>
                        </a:tabLst>
                      </a:pPr>
                      <a:r>
                        <a:rPr sz="1200" i="1" dirty="0">
                          <a:latin typeface="Courier New"/>
                          <a:cs typeface="Courier New"/>
                        </a:rPr>
                        <a:t>else	</a:t>
                      </a:r>
                      <a:r>
                        <a:rPr sz="1200" b="1" i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//parent</a:t>
                      </a:r>
                      <a:r>
                        <a:rPr sz="1200" b="1" i="1" spc="-4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b="1" i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code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5840" indent="-915669">
                        <a:lnSpc>
                          <a:spcPct val="100000"/>
                        </a:lnSpc>
                        <a:buAutoNum type="arabicPeriod" startAt="11"/>
                        <a:tabLst>
                          <a:tab pos="1005840" algn="l"/>
                          <a:tab pos="1006475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 (“\n</a:t>
                      </a:r>
                      <a:r>
                        <a:rPr sz="1200" i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Hello</a:t>
                      </a:r>
                      <a:r>
                        <a:rPr sz="1200" i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am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parent</a:t>
                      </a:r>
                      <a:r>
                        <a:rPr sz="1200" i="1" spc="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\n”);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15.</a:t>
                      </a:r>
                      <a:r>
                        <a:rPr sz="1200" i="1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}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306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spc="-40" dirty="0">
                          <a:latin typeface="Arial MT"/>
                          <a:cs typeface="Arial MT"/>
                        </a:rPr>
                        <a:t>DATA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52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 gridSpan="3">
                  <a:txBody>
                    <a:bodyPr/>
                    <a:lstStyle/>
                    <a:p>
                      <a:pPr marL="1051560">
                        <a:lnSpc>
                          <a:spcPts val="1019"/>
                        </a:lnSpc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54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051560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cpid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632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76962" y="631889"/>
          <a:ext cx="4419600" cy="38527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473"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PID: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632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  <a:spcBef>
                          <a:spcPts val="700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Child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5306">
                <a:tc gridSpan="3">
                  <a:txBody>
                    <a:bodyPr/>
                    <a:lstStyle/>
                    <a:p>
                      <a:pPr marL="367665" indent="-276225">
                        <a:lnSpc>
                          <a:spcPct val="100000"/>
                        </a:lnSpc>
                        <a:buAutoNum type="arabicPeriod"/>
                        <a:tabLst>
                          <a:tab pos="368300" algn="l"/>
                        </a:tabLst>
                      </a:pPr>
                      <a:r>
                        <a:rPr sz="1200" b="1" dirty="0">
                          <a:latin typeface="Courier New"/>
                          <a:cs typeface="Courier New"/>
                        </a:rPr>
                        <a:t>//fork1.c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2075" marR="3124835">
                        <a:lnSpc>
                          <a:spcPct val="100000"/>
                        </a:lnSpc>
                        <a:buAutoNum type="arabicPeriod"/>
                        <a:tabLst>
                          <a:tab pos="368300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200" i="1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main() </a:t>
                      </a:r>
                      <a:r>
                        <a:rPr sz="1200" i="1" spc="-7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 {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34975" indent="-343535">
                        <a:lnSpc>
                          <a:spcPct val="100000"/>
                        </a:lnSpc>
                        <a:buAutoNum type="arabicPeriod" startAt="4"/>
                        <a:tabLst>
                          <a:tab pos="434975" algn="l"/>
                          <a:tab pos="435609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int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i = 54,</a:t>
                      </a:r>
                      <a:r>
                        <a:rPr sz="1200" i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cpid =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-1;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34975" indent="-343535">
                        <a:lnSpc>
                          <a:spcPct val="100000"/>
                        </a:lnSpc>
                        <a:buAutoNum type="arabicPeriod" startAt="4"/>
                        <a:tabLst>
                          <a:tab pos="434975" algn="l"/>
                          <a:tab pos="435609" algn="l"/>
                        </a:tabLst>
                      </a:pPr>
                      <a:r>
                        <a:rPr sz="1200" i="1" dirty="0">
                          <a:latin typeface="Courier New"/>
                          <a:cs typeface="Courier New"/>
                        </a:rPr>
                        <a:t>cpid</a:t>
                      </a:r>
                      <a:r>
                        <a:rPr sz="1200" i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200" i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fork();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2075" marR="2597150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 startAt="4"/>
                        <a:tabLst>
                          <a:tab pos="434975" algn="l"/>
                          <a:tab pos="435609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200" i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(cpid</a:t>
                      </a:r>
                      <a:r>
                        <a:rPr sz="1200" i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200" i="1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-1) </a:t>
                      </a:r>
                      <a:r>
                        <a:rPr sz="1200" i="1" spc="-7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7.	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{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6475" indent="-915035">
                        <a:lnSpc>
                          <a:spcPct val="100000"/>
                        </a:lnSpc>
                        <a:buAutoNum type="arabicPeriod" startAt="8"/>
                        <a:tabLst>
                          <a:tab pos="1006475" algn="l"/>
                          <a:tab pos="1007110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1200" i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(“\nFork failed\n”);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6475" indent="-915035">
                        <a:lnSpc>
                          <a:spcPct val="100000"/>
                        </a:lnSpc>
                        <a:buAutoNum type="arabicPeriod" startAt="8"/>
                        <a:tabLst>
                          <a:tab pos="1006475" algn="l"/>
                          <a:tab pos="1007110" algn="l"/>
                        </a:tabLst>
                      </a:pPr>
                      <a:r>
                        <a:rPr sz="1200" i="1" dirty="0">
                          <a:latin typeface="Courier New"/>
                          <a:cs typeface="Courier New"/>
                        </a:rPr>
                        <a:t>exit</a:t>
                      </a:r>
                      <a:r>
                        <a:rPr sz="1200" i="1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(1);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10.</a:t>
                      </a:r>
                      <a:r>
                        <a:rPr sz="1200" i="1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}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59105" indent="-367665">
                        <a:lnSpc>
                          <a:spcPct val="100000"/>
                        </a:lnSpc>
                        <a:buAutoNum type="arabicPeriod" startAt="11"/>
                        <a:tabLst>
                          <a:tab pos="459740" algn="l"/>
                          <a:tab pos="2117725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200" i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(cpid</a:t>
                      </a:r>
                      <a:r>
                        <a:rPr sz="1200" i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200" i="1" spc="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0)	</a:t>
                      </a:r>
                      <a:r>
                        <a:rPr sz="1200" i="1" dirty="0">
                          <a:solidFill>
                            <a:srgbClr val="30859C"/>
                          </a:solidFill>
                          <a:latin typeface="Courier New"/>
                          <a:cs typeface="Courier New"/>
                        </a:rPr>
                        <a:t>//child</a:t>
                      </a:r>
                      <a:r>
                        <a:rPr sz="1200" i="1" spc="-45" dirty="0">
                          <a:solidFill>
                            <a:srgbClr val="30859C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solidFill>
                            <a:srgbClr val="30859C"/>
                          </a:solidFill>
                          <a:latin typeface="Courier New"/>
                          <a:cs typeface="Courier New"/>
                        </a:rPr>
                        <a:t>code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6475" indent="-915035">
                        <a:lnSpc>
                          <a:spcPct val="100000"/>
                        </a:lnSpc>
                        <a:buAutoNum type="arabicPeriod" startAt="11"/>
                        <a:tabLst>
                          <a:tab pos="1006475" algn="l"/>
                          <a:tab pos="1007110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(“\n</a:t>
                      </a:r>
                      <a:r>
                        <a:rPr sz="1200" i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Hello</a:t>
                      </a:r>
                      <a:r>
                        <a:rPr sz="1200" i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am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child</a:t>
                      </a:r>
                      <a:r>
                        <a:rPr sz="1200" i="1" spc="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\n”);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459105" indent="-367665">
                        <a:lnSpc>
                          <a:spcPct val="100000"/>
                        </a:lnSpc>
                        <a:buAutoNum type="arabicPeriod" startAt="11"/>
                        <a:tabLst>
                          <a:tab pos="459740" algn="l"/>
                          <a:tab pos="2117725" algn="l"/>
                        </a:tabLst>
                      </a:pPr>
                      <a:r>
                        <a:rPr sz="1200" i="1" dirty="0">
                          <a:latin typeface="Courier New"/>
                          <a:cs typeface="Courier New"/>
                        </a:rPr>
                        <a:t>else	</a:t>
                      </a:r>
                      <a:r>
                        <a:rPr sz="1200" b="1" i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//parent</a:t>
                      </a:r>
                      <a:r>
                        <a:rPr sz="1200" b="1" i="1" spc="-4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b="1" i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code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1006475" indent="-915035">
                        <a:lnSpc>
                          <a:spcPct val="100000"/>
                        </a:lnSpc>
                        <a:buAutoNum type="arabicPeriod" startAt="11"/>
                        <a:tabLst>
                          <a:tab pos="1006475" algn="l"/>
                          <a:tab pos="1007110" algn="l"/>
                        </a:tabLst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(“\n</a:t>
                      </a:r>
                      <a:r>
                        <a:rPr sz="1200" i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Hello</a:t>
                      </a:r>
                      <a:r>
                        <a:rPr sz="1200" i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200" i="1" spc="-5" dirty="0">
                          <a:latin typeface="Courier New"/>
                          <a:cs typeface="Courier New"/>
                        </a:rPr>
                        <a:t>am</a:t>
                      </a:r>
                      <a:r>
                        <a:rPr sz="1200" i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parent</a:t>
                      </a:r>
                      <a:r>
                        <a:rPr sz="1200" i="1" spc="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\n”);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200" i="1" spc="-5" dirty="0">
                          <a:latin typeface="Courier New"/>
                          <a:cs typeface="Courier New"/>
                        </a:rPr>
                        <a:t>15.</a:t>
                      </a:r>
                      <a:r>
                        <a:rPr sz="1200" i="1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i="1" dirty="0">
                          <a:latin typeface="Courier New"/>
                          <a:cs typeface="Courier New"/>
                        </a:rPr>
                        <a:t>}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068"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200" spc="-40" dirty="0">
                          <a:latin typeface="Arial MT"/>
                          <a:cs typeface="Arial MT"/>
                        </a:rPr>
                        <a:t>DATA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50">
                <a:tc gridSpan="3">
                  <a:txBody>
                    <a:bodyPr/>
                    <a:lstStyle/>
                    <a:p>
                      <a:pPr marL="1042669">
                        <a:lnSpc>
                          <a:spcPts val="1035"/>
                        </a:lnSpc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i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54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042669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Arial MT"/>
                          <a:cs typeface="Arial MT"/>
                        </a:rPr>
                        <a:t>cpid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612189" y="4633341"/>
            <a:ext cx="81445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>
              <a:spcBef>
                <a:spcPts val="100"/>
              </a:spcBef>
              <a:buChar char="•"/>
              <a:tabLst>
                <a:tab pos="332105" algn="l"/>
                <a:tab pos="332740" algn="l"/>
              </a:tabLst>
            </a:pPr>
            <a:r>
              <a:rPr spc="-5" dirty="0">
                <a:latin typeface="Arial MT"/>
                <a:cs typeface="Arial MT"/>
              </a:rPr>
              <a:t>When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both</a:t>
            </a:r>
            <a:r>
              <a:rPr spc="15" dirty="0">
                <a:latin typeface="Arial MT"/>
                <a:cs typeface="Arial MT"/>
              </a:rPr>
              <a:t> </a:t>
            </a:r>
            <a:r>
              <a:rPr spc="-15" dirty="0">
                <a:latin typeface="Arial MT"/>
                <a:cs typeface="Arial MT"/>
              </a:rPr>
              <a:t>will</a:t>
            </a:r>
            <a:r>
              <a:rPr spc="5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execute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line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spc="-50" dirty="0">
                <a:latin typeface="Arial MT"/>
                <a:cs typeface="Arial MT"/>
              </a:rPr>
              <a:t>11,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parent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spc="-15" dirty="0">
                <a:latin typeface="Arial MT"/>
                <a:cs typeface="Arial MT"/>
              </a:rPr>
              <a:t>will</a:t>
            </a:r>
            <a:r>
              <a:rPr spc="4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now</a:t>
            </a:r>
            <a:r>
              <a:rPr spc="1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execute</a:t>
            </a:r>
            <a:r>
              <a:rPr spc="1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line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14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15" dirty="0">
                <a:latin typeface="Arial MT"/>
                <a:cs typeface="Arial MT"/>
              </a:rPr>
              <a:t>while</a:t>
            </a:r>
            <a:r>
              <a:rPr spc="4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child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spc="-15" dirty="0">
                <a:latin typeface="Arial MT"/>
                <a:cs typeface="Arial MT"/>
              </a:rPr>
              <a:t>will </a:t>
            </a:r>
            <a:r>
              <a:rPr spc="-484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execute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line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12.</a:t>
            </a:r>
            <a:endParaRPr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38528" y="3316223"/>
            <a:ext cx="711835" cy="424180"/>
            <a:chOff x="414527" y="3316223"/>
            <a:chExt cx="711835" cy="4241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527" y="3316223"/>
              <a:ext cx="711708" cy="42367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7136" y="3419149"/>
              <a:ext cx="457834" cy="171450"/>
            </a:xfrm>
            <a:custGeom>
              <a:avLst/>
              <a:gdLst/>
              <a:ahLst/>
              <a:cxnLst/>
              <a:rect l="l" t="t" r="r" b="b"/>
              <a:pathLst>
                <a:path w="457834" h="171450">
                  <a:moveTo>
                    <a:pt x="349016" y="104717"/>
                  </a:moveTo>
                  <a:lnTo>
                    <a:pt x="295478" y="135707"/>
                  </a:lnTo>
                  <a:lnTo>
                    <a:pt x="289804" y="140739"/>
                  </a:lnTo>
                  <a:lnTo>
                    <a:pt x="286608" y="147296"/>
                  </a:lnTo>
                  <a:lnTo>
                    <a:pt x="286110" y="154566"/>
                  </a:lnTo>
                  <a:lnTo>
                    <a:pt x="288531" y="161742"/>
                  </a:lnTo>
                  <a:lnTo>
                    <a:pt x="293534" y="167423"/>
                  </a:lnTo>
                  <a:lnTo>
                    <a:pt x="300099" y="170616"/>
                  </a:lnTo>
                  <a:lnTo>
                    <a:pt x="307385" y="171118"/>
                  </a:lnTo>
                  <a:lnTo>
                    <a:pt x="314553" y="168727"/>
                  </a:lnTo>
                  <a:lnTo>
                    <a:pt x="424668" y="104973"/>
                  </a:lnTo>
                  <a:lnTo>
                    <a:pt x="419481" y="104973"/>
                  </a:lnTo>
                  <a:lnTo>
                    <a:pt x="349016" y="104717"/>
                  </a:lnTo>
                  <a:close/>
                </a:path>
                <a:path w="457834" h="171450">
                  <a:moveTo>
                    <a:pt x="381755" y="85766"/>
                  </a:moveTo>
                  <a:lnTo>
                    <a:pt x="349016" y="104717"/>
                  </a:lnTo>
                  <a:lnTo>
                    <a:pt x="419481" y="104973"/>
                  </a:lnTo>
                  <a:lnTo>
                    <a:pt x="419489" y="102306"/>
                  </a:lnTo>
                  <a:lnTo>
                    <a:pt x="409892" y="102306"/>
                  </a:lnTo>
                  <a:lnTo>
                    <a:pt x="381755" y="85766"/>
                  </a:lnTo>
                  <a:close/>
                </a:path>
                <a:path w="457834" h="171450">
                  <a:moveTo>
                    <a:pt x="307981" y="0"/>
                  </a:moveTo>
                  <a:lnTo>
                    <a:pt x="300689" y="420"/>
                  </a:lnTo>
                  <a:lnTo>
                    <a:pt x="294101" y="3555"/>
                  </a:lnTo>
                  <a:lnTo>
                    <a:pt x="289052" y="9215"/>
                  </a:lnTo>
                  <a:lnTo>
                    <a:pt x="286584" y="16337"/>
                  </a:lnTo>
                  <a:lnTo>
                    <a:pt x="287035" y="23614"/>
                  </a:lnTo>
                  <a:lnTo>
                    <a:pt x="290187" y="30200"/>
                  </a:lnTo>
                  <a:lnTo>
                    <a:pt x="295821" y="35250"/>
                  </a:lnTo>
                  <a:lnTo>
                    <a:pt x="349180" y="66617"/>
                  </a:lnTo>
                  <a:lnTo>
                    <a:pt x="419608" y="66873"/>
                  </a:lnTo>
                  <a:lnTo>
                    <a:pt x="419481" y="104973"/>
                  </a:lnTo>
                  <a:lnTo>
                    <a:pt x="424668" y="104973"/>
                  </a:lnTo>
                  <a:lnTo>
                    <a:pt x="457352" y="86050"/>
                  </a:lnTo>
                  <a:lnTo>
                    <a:pt x="315137" y="2484"/>
                  </a:lnTo>
                  <a:lnTo>
                    <a:pt x="307981" y="0"/>
                  </a:lnTo>
                  <a:close/>
                </a:path>
                <a:path w="457834" h="171450">
                  <a:moveTo>
                    <a:pt x="127" y="65349"/>
                  </a:moveTo>
                  <a:lnTo>
                    <a:pt x="0" y="103449"/>
                  </a:lnTo>
                  <a:lnTo>
                    <a:pt x="349016" y="104717"/>
                  </a:lnTo>
                  <a:lnTo>
                    <a:pt x="381755" y="85766"/>
                  </a:lnTo>
                  <a:lnTo>
                    <a:pt x="349180" y="66617"/>
                  </a:lnTo>
                  <a:lnTo>
                    <a:pt x="127" y="65349"/>
                  </a:lnTo>
                  <a:close/>
                </a:path>
                <a:path w="457834" h="171450">
                  <a:moveTo>
                    <a:pt x="410006" y="69413"/>
                  </a:moveTo>
                  <a:lnTo>
                    <a:pt x="381755" y="85766"/>
                  </a:lnTo>
                  <a:lnTo>
                    <a:pt x="409892" y="102306"/>
                  </a:lnTo>
                  <a:lnTo>
                    <a:pt x="410006" y="69413"/>
                  </a:lnTo>
                  <a:close/>
                </a:path>
                <a:path w="457834" h="171450">
                  <a:moveTo>
                    <a:pt x="419599" y="69413"/>
                  </a:moveTo>
                  <a:lnTo>
                    <a:pt x="410006" y="69413"/>
                  </a:lnTo>
                  <a:lnTo>
                    <a:pt x="409892" y="102306"/>
                  </a:lnTo>
                  <a:lnTo>
                    <a:pt x="419489" y="102306"/>
                  </a:lnTo>
                  <a:lnTo>
                    <a:pt x="419599" y="69413"/>
                  </a:lnTo>
                  <a:close/>
                </a:path>
                <a:path w="457834" h="171450">
                  <a:moveTo>
                    <a:pt x="349180" y="66617"/>
                  </a:moveTo>
                  <a:lnTo>
                    <a:pt x="381755" y="85766"/>
                  </a:lnTo>
                  <a:lnTo>
                    <a:pt x="410006" y="69413"/>
                  </a:lnTo>
                  <a:lnTo>
                    <a:pt x="419599" y="69413"/>
                  </a:lnTo>
                  <a:lnTo>
                    <a:pt x="419608" y="66873"/>
                  </a:lnTo>
                  <a:lnTo>
                    <a:pt x="349180" y="66617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586729" y="2936748"/>
            <a:ext cx="711835" cy="425450"/>
            <a:chOff x="5062728" y="2936748"/>
            <a:chExt cx="711835" cy="42545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62728" y="2936748"/>
              <a:ext cx="711708" cy="4251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105273" y="3039691"/>
              <a:ext cx="457834" cy="171450"/>
            </a:xfrm>
            <a:custGeom>
              <a:avLst/>
              <a:gdLst/>
              <a:ahLst/>
              <a:cxnLst/>
              <a:rect l="l" t="t" r="r" b="b"/>
              <a:pathLst>
                <a:path w="457835" h="171450">
                  <a:moveTo>
                    <a:pt x="349259" y="104721"/>
                  </a:moveTo>
                  <a:lnTo>
                    <a:pt x="295528" y="135816"/>
                  </a:lnTo>
                  <a:lnTo>
                    <a:pt x="289847" y="140793"/>
                  </a:lnTo>
                  <a:lnTo>
                    <a:pt x="286654" y="147341"/>
                  </a:lnTo>
                  <a:lnTo>
                    <a:pt x="286152" y="154604"/>
                  </a:lnTo>
                  <a:lnTo>
                    <a:pt x="288543" y="161724"/>
                  </a:lnTo>
                  <a:lnTo>
                    <a:pt x="293594" y="167423"/>
                  </a:lnTo>
                  <a:lnTo>
                    <a:pt x="300180" y="170646"/>
                  </a:lnTo>
                  <a:lnTo>
                    <a:pt x="307457" y="171154"/>
                  </a:lnTo>
                  <a:lnTo>
                    <a:pt x="314578" y="168709"/>
                  </a:lnTo>
                  <a:lnTo>
                    <a:pt x="424752" y="104955"/>
                  </a:lnTo>
                  <a:lnTo>
                    <a:pt x="419480" y="104955"/>
                  </a:lnTo>
                  <a:lnTo>
                    <a:pt x="349259" y="104721"/>
                  </a:lnTo>
                  <a:close/>
                </a:path>
                <a:path w="457835" h="171450">
                  <a:moveTo>
                    <a:pt x="381825" y="85875"/>
                  </a:moveTo>
                  <a:lnTo>
                    <a:pt x="349259" y="104721"/>
                  </a:lnTo>
                  <a:lnTo>
                    <a:pt x="419480" y="104955"/>
                  </a:lnTo>
                  <a:lnTo>
                    <a:pt x="419497" y="102415"/>
                  </a:lnTo>
                  <a:lnTo>
                    <a:pt x="409955" y="102415"/>
                  </a:lnTo>
                  <a:lnTo>
                    <a:pt x="381825" y="85875"/>
                  </a:lnTo>
                  <a:close/>
                </a:path>
                <a:path w="457835" h="171450">
                  <a:moveTo>
                    <a:pt x="308038" y="0"/>
                  </a:moveTo>
                  <a:lnTo>
                    <a:pt x="300767" y="450"/>
                  </a:lnTo>
                  <a:lnTo>
                    <a:pt x="294211" y="3591"/>
                  </a:lnTo>
                  <a:lnTo>
                    <a:pt x="289178" y="9197"/>
                  </a:lnTo>
                  <a:lnTo>
                    <a:pt x="286694" y="16392"/>
                  </a:lnTo>
                  <a:lnTo>
                    <a:pt x="287115" y="23707"/>
                  </a:lnTo>
                  <a:lnTo>
                    <a:pt x="290250" y="30307"/>
                  </a:lnTo>
                  <a:lnTo>
                    <a:pt x="295910" y="35359"/>
                  </a:lnTo>
                  <a:lnTo>
                    <a:pt x="349076" y="66620"/>
                  </a:lnTo>
                  <a:lnTo>
                    <a:pt x="419735" y="66855"/>
                  </a:lnTo>
                  <a:lnTo>
                    <a:pt x="419480" y="104955"/>
                  </a:lnTo>
                  <a:lnTo>
                    <a:pt x="424752" y="104955"/>
                  </a:lnTo>
                  <a:lnTo>
                    <a:pt x="457453" y="86032"/>
                  </a:lnTo>
                  <a:lnTo>
                    <a:pt x="315213" y="2466"/>
                  </a:lnTo>
                  <a:lnTo>
                    <a:pt x="308038" y="0"/>
                  </a:lnTo>
                  <a:close/>
                </a:path>
                <a:path w="457835" h="171450">
                  <a:moveTo>
                    <a:pt x="253" y="65458"/>
                  </a:moveTo>
                  <a:lnTo>
                    <a:pt x="0" y="103558"/>
                  </a:lnTo>
                  <a:lnTo>
                    <a:pt x="349259" y="104721"/>
                  </a:lnTo>
                  <a:lnTo>
                    <a:pt x="381825" y="85875"/>
                  </a:lnTo>
                  <a:lnTo>
                    <a:pt x="349076" y="66620"/>
                  </a:lnTo>
                  <a:lnTo>
                    <a:pt x="253" y="65458"/>
                  </a:lnTo>
                  <a:close/>
                </a:path>
                <a:path w="457835" h="171450">
                  <a:moveTo>
                    <a:pt x="410082" y="69522"/>
                  </a:moveTo>
                  <a:lnTo>
                    <a:pt x="381825" y="85875"/>
                  </a:lnTo>
                  <a:lnTo>
                    <a:pt x="409955" y="102415"/>
                  </a:lnTo>
                  <a:lnTo>
                    <a:pt x="410082" y="69522"/>
                  </a:lnTo>
                  <a:close/>
                </a:path>
                <a:path w="457835" h="171450">
                  <a:moveTo>
                    <a:pt x="419717" y="69522"/>
                  </a:moveTo>
                  <a:lnTo>
                    <a:pt x="410082" y="69522"/>
                  </a:lnTo>
                  <a:lnTo>
                    <a:pt x="409955" y="102415"/>
                  </a:lnTo>
                  <a:lnTo>
                    <a:pt x="419497" y="102415"/>
                  </a:lnTo>
                  <a:lnTo>
                    <a:pt x="419717" y="69522"/>
                  </a:lnTo>
                  <a:close/>
                </a:path>
                <a:path w="457835" h="171450">
                  <a:moveTo>
                    <a:pt x="349076" y="66620"/>
                  </a:moveTo>
                  <a:lnTo>
                    <a:pt x="381825" y="85875"/>
                  </a:lnTo>
                  <a:lnTo>
                    <a:pt x="410082" y="69522"/>
                  </a:lnTo>
                  <a:lnTo>
                    <a:pt x="419717" y="69522"/>
                  </a:lnTo>
                  <a:lnTo>
                    <a:pt x="419735" y="66855"/>
                  </a:lnTo>
                  <a:lnTo>
                    <a:pt x="349076" y="6662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06718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8129" y="95504"/>
            <a:ext cx="5707380" cy="605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Example</a:t>
            </a:r>
            <a:r>
              <a:rPr sz="3800" spc="-40" dirty="0"/>
              <a:t> </a:t>
            </a:r>
            <a:r>
              <a:rPr sz="3800" dirty="0"/>
              <a:t>1</a:t>
            </a:r>
            <a:r>
              <a:rPr sz="3800" spc="-25" dirty="0"/>
              <a:t> </a:t>
            </a:r>
            <a:r>
              <a:rPr sz="3800" dirty="0"/>
              <a:t>-fork()</a:t>
            </a:r>
            <a:r>
              <a:rPr sz="3800" spc="-60" dirty="0"/>
              <a:t> </a:t>
            </a:r>
            <a:r>
              <a:rPr sz="3800" dirty="0"/>
              <a:t>&amp;</a:t>
            </a:r>
            <a:r>
              <a:rPr sz="3800" spc="-15" dirty="0"/>
              <a:t> </a:t>
            </a:r>
            <a:r>
              <a:rPr sz="3800" dirty="0"/>
              <a:t>exit()</a:t>
            </a:r>
            <a:endParaRPr sz="3800"/>
          </a:p>
        </p:txBody>
      </p:sp>
      <p:sp>
        <p:nvSpPr>
          <p:cNvPr id="3" name="object 3"/>
          <p:cNvSpPr/>
          <p:nvPr/>
        </p:nvSpPr>
        <p:spPr>
          <a:xfrm>
            <a:off x="2133600" y="762000"/>
            <a:ext cx="7924800" cy="5562600"/>
          </a:xfrm>
          <a:custGeom>
            <a:avLst/>
            <a:gdLst/>
            <a:ahLst/>
            <a:cxnLst/>
            <a:rect l="l" t="t" r="r" b="b"/>
            <a:pathLst>
              <a:path w="7924800" h="5562600">
                <a:moveTo>
                  <a:pt x="0" y="5562600"/>
                </a:moveTo>
                <a:lnTo>
                  <a:pt x="7924800" y="5562600"/>
                </a:lnTo>
                <a:lnTo>
                  <a:pt x="7924800" y="0"/>
                </a:lnTo>
                <a:lnTo>
                  <a:pt x="0" y="0"/>
                </a:lnTo>
                <a:lnTo>
                  <a:pt x="0" y="5562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12341" y="703834"/>
            <a:ext cx="7329805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10" dirty="0">
                <a:latin typeface="Courier New"/>
                <a:cs typeface="Courier New"/>
              </a:rPr>
              <a:t>//fork1.c</a:t>
            </a:r>
            <a:endParaRPr sz="2400" dirty="0">
              <a:latin typeface="Courier New"/>
              <a:cs typeface="Courier New"/>
            </a:endParaRPr>
          </a:p>
          <a:p>
            <a:pPr marL="12700"/>
            <a:r>
              <a:rPr sz="2400" i="1" spc="-5" dirty="0">
                <a:latin typeface="Courier New"/>
                <a:cs typeface="Courier New"/>
              </a:rPr>
              <a:t>int</a:t>
            </a:r>
            <a:r>
              <a:rPr sz="2400" i="1" spc="-55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main()</a:t>
            </a:r>
            <a:endParaRPr sz="2400" dirty="0">
              <a:latin typeface="Courier New"/>
              <a:cs typeface="Courier New"/>
            </a:endParaRPr>
          </a:p>
          <a:p>
            <a:pPr marL="12700"/>
            <a:r>
              <a:rPr sz="2400" i="1" dirty="0"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355600" marR="4408805"/>
            <a:r>
              <a:rPr sz="2400" i="1" spc="-5" dirty="0">
                <a:latin typeface="Courier New"/>
                <a:cs typeface="Courier New"/>
              </a:rPr>
              <a:t>int</a:t>
            </a:r>
            <a:r>
              <a:rPr sz="2400" i="1" spc="1510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cpid; </a:t>
            </a:r>
            <a:r>
              <a:rPr sz="2400" i="1" spc="-5" dirty="0">
                <a:latin typeface="Courier New"/>
                <a:cs typeface="Courier New"/>
              </a:rPr>
              <a:t> cpid</a:t>
            </a:r>
            <a:r>
              <a:rPr sz="2400" i="1" spc="-40" dirty="0">
                <a:latin typeface="Courier New"/>
                <a:cs typeface="Courier New"/>
              </a:rPr>
              <a:t> </a:t>
            </a:r>
            <a:r>
              <a:rPr sz="2400" i="1" dirty="0">
                <a:latin typeface="Courier New"/>
                <a:cs typeface="Courier New"/>
              </a:rPr>
              <a:t>=</a:t>
            </a:r>
            <a:r>
              <a:rPr sz="2400" i="1" spc="-50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fork();</a:t>
            </a:r>
            <a:endParaRPr sz="2400" dirty="0">
              <a:latin typeface="Courier New"/>
              <a:cs typeface="Courier New"/>
            </a:endParaRPr>
          </a:p>
          <a:p>
            <a:pPr marL="355600"/>
            <a:r>
              <a:rPr sz="2400" i="1" spc="-5" dirty="0">
                <a:latin typeface="Courier New"/>
                <a:cs typeface="Courier New"/>
              </a:rPr>
              <a:t>if</a:t>
            </a:r>
            <a:r>
              <a:rPr sz="2400" i="1" spc="-25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(cpid</a:t>
            </a:r>
            <a:r>
              <a:rPr sz="2400" i="1" spc="-35" dirty="0">
                <a:latin typeface="Courier New"/>
                <a:cs typeface="Courier New"/>
              </a:rPr>
              <a:t> </a:t>
            </a:r>
            <a:r>
              <a:rPr sz="2400" i="1" spc="-5" dirty="0">
                <a:latin typeface="Courier New"/>
                <a:cs typeface="Courier New"/>
              </a:rPr>
              <a:t>==</a:t>
            </a:r>
            <a:r>
              <a:rPr sz="2400" i="1" spc="-20" dirty="0">
                <a:latin typeface="Courier New"/>
                <a:cs typeface="Courier New"/>
              </a:rPr>
              <a:t> </a:t>
            </a:r>
            <a:r>
              <a:rPr sz="2400" i="1" spc="-5" dirty="0">
                <a:latin typeface="Courier New"/>
                <a:cs typeface="Courier New"/>
              </a:rPr>
              <a:t>-1)</a:t>
            </a:r>
            <a:endParaRPr sz="2400" dirty="0">
              <a:latin typeface="Courier New"/>
              <a:cs typeface="Courier New"/>
            </a:endParaRPr>
          </a:p>
          <a:p>
            <a:pPr marL="355600"/>
            <a:r>
              <a:rPr sz="2400" i="1" dirty="0"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927100" marR="1464945"/>
            <a:r>
              <a:rPr sz="2400" i="1" spc="-5" dirty="0">
                <a:latin typeface="Courier New"/>
                <a:cs typeface="Courier New"/>
              </a:rPr>
              <a:t>printf </a:t>
            </a:r>
            <a:r>
              <a:rPr sz="2400" i="1" spc="-10" dirty="0">
                <a:latin typeface="Courier New"/>
                <a:cs typeface="Courier New"/>
              </a:rPr>
              <a:t>(“\nFork failed\n”); </a:t>
            </a:r>
            <a:r>
              <a:rPr sz="2400" i="1" spc="-1430" dirty="0">
                <a:latin typeface="Courier New"/>
                <a:cs typeface="Courier New"/>
              </a:rPr>
              <a:t> </a:t>
            </a:r>
            <a:r>
              <a:rPr sz="2400" i="1" spc="-5" dirty="0">
                <a:latin typeface="Courier New"/>
                <a:cs typeface="Courier New"/>
              </a:rPr>
              <a:t>exit </a:t>
            </a:r>
            <a:r>
              <a:rPr sz="2400" i="1" spc="-10" dirty="0">
                <a:latin typeface="Courier New"/>
                <a:cs typeface="Courier New"/>
              </a:rPr>
              <a:t>(1);</a:t>
            </a:r>
            <a:endParaRPr sz="2400" dirty="0">
              <a:latin typeface="Courier New"/>
              <a:cs typeface="Courier New"/>
            </a:endParaRPr>
          </a:p>
          <a:p>
            <a:pPr marL="355600">
              <a:spcBef>
                <a:spcPts val="5"/>
              </a:spcBef>
            </a:pPr>
            <a:r>
              <a:rPr sz="2400" i="1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  <a:p>
            <a:pPr marL="355600">
              <a:tabLst>
                <a:tab pos="3275965" algn="l"/>
              </a:tabLst>
            </a:pPr>
            <a:r>
              <a:rPr sz="2400" i="1" spc="-5" dirty="0">
                <a:latin typeface="Courier New"/>
                <a:cs typeface="Courier New"/>
              </a:rPr>
              <a:t>if</a:t>
            </a:r>
            <a:r>
              <a:rPr sz="2400" i="1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(cpid</a:t>
            </a:r>
            <a:r>
              <a:rPr sz="2400" i="1" spc="-5" dirty="0">
                <a:latin typeface="Courier New"/>
                <a:cs typeface="Courier New"/>
              </a:rPr>
              <a:t> ==</a:t>
            </a:r>
            <a:r>
              <a:rPr sz="2400" i="1" spc="5" dirty="0">
                <a:latin typeface="Courier New"/>
                <a:cs typeface="Courier New"/>
              </a:rPr>
              <a:t> </a:t>
            </a:r>
            <a:r>
              <a:rPr sz="2400" i="1" spc="-5" dirty="0">
                <a:latin typeface="Courier New"/>
                <a:cs typeface="Courier New"/>
              </a:rPr>
              <a:t>0)	</a:t>
            </a:r>
            <a:r>
              <a:rPr sz="2400" b="1" i="1" spc="-5" dirty="0">
                <a:solidFill>
                  <a:srgbClr val="30859C"/>
                </a:solidFill>
                <a:latin typeface="Courier New"/>
                <a:cs typeface="Courier New"/>
              </a:rPr>
              <a:t>//child</a:t>
            </a:r>
            <a:r>
              <a:rPr sz="2400" b="1" i="1" spc="-85" dirty="0">
                <a:solidFill>
                  <a:srgbClr val="30859C"/>
                </a:solidFill>
                <a:latin typeface="Courier New"/>
                <a:cs typeface="Courier New"/>
              </a:rPr>
              <a:t> </a:t>
            </a:r>
            <a:r>
              <a:rPr sz="2400" b="1" i="1" spc="-5" dirty="0">
                <a:solidFill>
                  <a:srgbClr val="30859C"/>
                </a:solidFill>
                <a:latin typeface="Courier New"/>
                <a:cs typeface="Courier New"/>
              </a:rPr>
              <a:t>code</a:t>
            </a:r>
            <a:endParaRPr sz="2400" dirty="0">
              <a:latin typeface="Courier New"/>
              <a:cs typeface="Courier New"/>
            </a:endParaRPr>
          </a:p>
          <a:p>
            <a:pPr marL="355600" marR="188595" indent="570865">
              <a:tabLst>
                <a:tab pos="3275965" algn="l"/>
              </a:tabLst>
            </a:pPr>
            <a:r>
              <a:rPr sz="2400" i="1" spc="-5" dirty="0">
                <a:latin typeface="Courier New"/>
                <a:cs typeface="Courier New"/>
              </a:rPr>
              <a:t>printf </a:t>
            </a:r>
            <a:r>
              <a:rPr sz="2400" i="1" spc="-10" dirty="0">
                <a:latin typeface="Courier New"/>
                <a:cs typeface="Courier New"/>
              </a:rPr>
              <a:t>(“\n Hello </a:t>
            </a:r>
            <a:r>
              <a:rPr sz="2400" i="1" dirty="0">
                <a:latin typeface="Courier New"/>
                <a:cs typeface="Courier New"/>
              </a:rPr>
              <a:t>I </a:t>
            </a:r>
            <a:r>
              <a:rPr sz="2400" i="1" spc="-5" dirty="0">
                <a:latin typeface="Courier New"/>
                <a:cs typeface="Courier New"/>
              </a:rPr>
              <a:t>am </a:t>
            </a:r>
            <a:r>
              <a:rPr sz="2400" i="1" spc="-10" dirty="0">
                <a:latin typeface="Courier New"/>
                <a:cs typeface="Courier New"/>
              </a:rPr>
              <a:t>child \n”); </a:t>
            </a:r>
            <a:r>
              <a:rPr sz="2400" i="1" spc="-1430" dirty="0">
                <a:latin typeface="Courier New"/>
                <a:cs typeface="Courier New"/>
              </a:rPr>
              <a:t> </a:t>
            </a:r>
            <a:r>
              <a:rPr sz="2400" i="1" spc="-5" dirty="0">
                <a:latin typeface="Courier New"/>
                <a:cs typeface="Courier New"/>
              </a:rPr>
              <a:t>else	</a:t>
            </a:r>
            <a:r>
              <a:rPr sz="2400" b="1" i="1" spc="-5" dirty="0">
                <a:solidFill>
                  <a:srgbClr val="FF0000"/>
                </a:solidFill>
                <a:latin typeface="Courier New"/>
                <a:cs typeface="Courier New"/>
              </a:rPr>
              <a:t>//parent</a:t>
            </a:r>
            <a:r>
              <a:rPr sz="2400" b="1" i="1" spc="-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b="1" i="1" spc="-5" dirty="0">
                <a:solidFill>
                  <a:srgbClr val="FF0000"/>
                </a:solidFill>
                <a:latin typeface="Courier New"/>
                <a:cs typeface="Courier New"/>
              </a:rPr>
              <a:t>code</a:t>
            </a:r>
            <a:endParaRPr sz="2400" dirty="0">
              <a:latin typeface="Courier New"/>
              <a:cs typeface="Courier New"/>
            </a:endParaRPr>
          </a:p>
          <a:p>
            <a:pPr marL="927100"/>
            <a:r>
              <a:rPr sz="2400" i="1" spc="-5" dirty="0">
                <a:latin typeface="Courier New"/>
                <a:cs typeface="Courier New"/>
              </a:rPr>
              <a:t>printf</a:t>
            </a:r>
            <a:r>
              <a:rPr sz="2400" i="1" spc="-20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(“\n Hello </a:t>
            </a:r>
            <a:r>
              <a:rPr sz="2400" i="1" dirty="0">
                <a:latin typeface="Courier New"/>
                <a:cs typeface="Courier New"/>
              </a:rPr>
              <a:t>I</a:t>
            </a:r>
            <a:r>
              <a:rPr sz="2400" i="1" spc="-10" dirty="0">
                <a:latin typeface="Courier New"/>
                <a:cs typeface="Courier New"/>
              </a:rPr>
              <a:t> </a:t>
            </a:r>
            <a:r>
              <a:rPr sz="2400" i="1" spc="-5" dirty="0">
                <a:latin typeface="Courier New"/>
                <a:cs typeface="Courier New"/>
              </a:rPr>
              <a:t>am</a:t>
            </a:r>
            <a:r>
              <a:rPr sz="2400" i="1" spc="-20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parent</a:t>
            </a:r>
            <a:r>
              <a:rPr sz="2400" i="1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Courier New"/>
                <a:cs typeface="Courier New"/>
              </a:rPr>
              <a:t>\n”);</a:t>
            </a:r>
            <a:endParaRPr sz="2400" dirty="0">
              <a:latin typeface="Courier New"/>
              <a:cs typeface="Courier New"/>
            </a:endParaRPr>
          </a:p>
          <a:p>
            <a:pPr marL="12700"/>
            <a:r>
              <a:rPr sz="2400" i="1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55196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0925" y="-73312"/>
            <a:ext cx="5008880" cy="78162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Process</a:t>
            </a:r>
            <a:r>
              <a:rPr spc="-65" dirty="0"/>
              <a:t> </a:t>
            </a:r>
            <a:r>
              <a:rPr spc="-30" dirty="0"/>
              <a:t>Termination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4556" y="628089"/>
            <a:ext cx="10644657" cy="62299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2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A </a:t>
            </a:r>
            <a:r>
              <a:rPr sz="3200" spc="-5" dirty="0">
                <a:latin typeface="Arial MT"/>
                <a:cs typeface="Arial MT"/>
              </a:rPr>
              <a:t>process terminates </a:t>
            </a:r>
            <a:r>
              <a:rPr sz="3200" dirty="0">
                <a:latin typeface="Arial MT"/>
                <a:cs typeface="Arial MT"/>
              </a:rPr>
              <a:t>when it </a:t>
            </a:r>
            <a:r>
              <a:rPr sz="3200" spc="-5" dirty="0">
                <a:latin typeface="Arial MT"/>
                <a:cs typeface="Arial MT"/>
              </a:rPr>
              <a:t>finishes </a:t>
            </a:r>
            <a:r>
              <a:rPr sz="3200" dirty="0">
                <a:latin typeface="Arial MT"/>
                <a:cs typeface="Arial MT"/>
              </a:rPr>
              <a:t> executing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last</a:t>
            </a:r>
            <a:r>
              <a:rPr sz="3200" spc="-5" dirty="0">
                <a:latin typeface="Arial MT"/>
                <a:cs typeface="Arial MT"/>
              </a:rPr>
              <a:t> statement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and requests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operating </a:t>
            </a:r>
            <a:r>
              <a:rPr sz="3200" dirty="0">
                <a:latin typeface="Arial MT"/>
                <a:cs typeface="Arial MT"/>
              </a:rPr>
              <a:t>system to </a:t>
            </a:r>
            <a:r>
              <a:rPr sz="3200" spc="-5" dirty="0">
                <a:latin typeface="Arial MT"/>
                <a:cs typeface="Arial MT"/>
              </a:rPr>
              <a:t>terminate </a:t>
            </a:r>
            <a:r>
              <a:rPr sz="3200" dirty="0">
                <a:latin typeface="Arial MT"/>
                <a:cs typeface="Arial MT"/>
              </a:rPr>
              <a:t>it using </a:t>
            </a:r>
            <a:r>
              <a:rPr sz="3200" spc="-5" dirty="0">
                <a:latin typeface="Arial MT"/>
                <a:cs typeface="Arial MT"/>
              </a:rPr>
              <a:t>the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Arial"/>
                <a:cs typeface="Arial"/>
              </a:rPr>
              <a:t>exit()</a:t>
            </a:r>
            <a:r>
              <a:rPr sz="32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system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call</a:t>
            </a:r>
          </a:p>
          <a:p>
            <a:pPr marL="299085" marR="514350" indent="-287020" algn="just">
              <a:lnSpc>
                <a:spcPct val="120100"/>
              </a:lnSpc>
              <a:spcBef>
                <a:spcPts val="760"/>
              </a:spcBef>
              <a:buChar char="•"/>
              <a:tabLst>
                <a:tab pos="299720" algn="l"/>
              </a:tabLst>
            </a:pPr>
            <a:r>
              <a:rPr sz="3200" dirty="0">
                <a:latin typeface="Arial MT"/>
                <a:cs typeface="Arial MT"/>
              </a:rPr>
              <a:t>At </a:t>
            </a:r>
            <a:r>
              <a:rPr sz="3200" spc="-5" dirty="0">
                <a:latin typeface="Arial MT"/>
                <a:cs typeface="Arial MT"/>
              </a:rPr>
              <a:t>this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point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the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process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returns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data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its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parent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process</a:t>
            </a:r>
          </a:p>
          <a:p>
            <a:pPr marL="299085" marR="490220" indent="-287020" algn="just">
              <a:lnSpc>
                <a:spcPct val="120100"/>
              </a:lnSpc>
              <a:spcBef>
                <a:spcPts val="765"/>
              </a:spcBef>
              <a:buChar char="•"/>
              <a:tabLst>
                <a:tab pos="299720" algn="l"/>
              </a:tabLst>
            </a:pPr>
            <a:r>
              <a:rPr sz="3200" dirty="0">
                <a:latin typeface="Arial MT"/>
                <a:cs typeface="Arial MT"/>
              </a:rPr>
              <a:t>Process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resources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are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de-allocated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by </a:t>
            </a:r>
            <a:r>
              <a:rPr sz="3200" spc="-5" dirty="0">
                <a:latin typeface="Arial MT"/>
                <a:cs typeface="Arial MT"/>
              </a:rPr>
              <a:t>the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OS,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be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recycled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later</a:t>
            </a:r>
            <a:endParaRPr lang="en-US" sz="3200" spc="-5" dirty="0">
              <a:latin typeface="Arial MT"/>
              <a:cs typeface="Arial MT"/>
            </a:endParaRPr>
          </a:p>
          <a:p>
            <a:pPr marL="299085" marR="490220" indent="-287020" algn="just">
              <a:lnSpc>
                <a:spcPct val="120100"/>
              </a:lnSpc>
              <a:spcBef>
                <a:spcPts val="765"/>
              </a:spcBef>
              <a:buChar char="•"/>
              <a:tabLst>
                <a:tab pos="299720" algn="l"/>
              </a:tabLst>
            </a:pPr>
            <a:r>
              <a:rPr lang="en-US" sz="3200" dirty="0">
                <a:latin typeface="Arial MT"/>
                <a:cs typeface="Arial MT"/>
              </a:rPr>
              <a:t>The call to exit () terminates the calling process without executing the rest code which is after the exit () function. 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04234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5364" y="316415"/>
            <a:ext cx="9720072" cy="78162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Process</a:t>
            </a:r>
            <a:r>
              <a:rPr spc="-20" dirty="0"/>
              <a:t> </a:t>
            </a:r>
            <a:r>
              <a:rPr spc="-30" dirty="0"/>
              <a:t>Termination</a:t>
            </a:r>
            <a:r>
              <a:rPr dirty="0"/>
              <a:t> </a:t>
            </a:r>
            <a:r>
              <a:rPr sz="2800" spc="-5" dirty="0"/>
              <a:t>(cont…)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28312" y="1419810"/>
            <a:ext cx="10290147" cy="492442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A</a:t>
            </a:r>
            <a:r>
              <a:rPr sz="3200" spc="-190" dirty="0">
                <a:latin typeface="Arial MT"/>
                <a:cs typeface="Arial MT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parent</a:t>
            </a:r>
            <a:r>
              <a:rPr sz="32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spc="-5" dirty="0">
                <a:latin typeface="Arial MT"/>
                <a:cs typeface="Arial MT"/>
              </a:rPr>
              <a:t>may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terminate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execution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one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its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children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variety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reasons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such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as:</a:t>
            </a:r>
          </a:p>
          <a:p>
            <a:pPr marL="756285" marR="647700" lvl="1" indent="-287020">
              <a:lnSpc>
                <a:spcPts val="3030"/>
              </a:lnSpc>
              <a:spcBef>
                <a:spcPts val="675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Arial MT"/>
                <a:cs typeface="Arial MT"/>
              </a:rPr>
              <a:t>Child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has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exceeded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allocated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resources </a:t>
            </a:r>
            <a:r>
              <a:rPr sz="2800" spc="-5" dirty="0">
                <a:latin typeface="Arial MT"/>
                <a:cs typeface="Arial MT"/>
              </a:rPr>
              <a:t>(main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memory,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execution </a:t>
            </a:r>
            <a:r>
              <a:rPr sz="2800" spc="-5" dirty="0">
                <a:latin typeface="Arial MT"/>
                <a:cs typeface="Arial MT"/>
              </a:rPr>
              <a:t>time, </a:t>
            </a:r>
            <a:r>
              <a:rPr sz="2800" dirty="0">
                <a:latin typeface="Arial MT"/>
                <a:cs typeface="Arial MT"/>
              </a:rPr>
              <a:t>etc.)</a:t>
            </a:r>
          </a:p>
          <a:p>
            <a:pPr marL="756285" marR="944880" lvl="1" indent="-287020">
              <a:lnSpc>
                <a:spcPts val="3020"/>
              </a:lnSpc>
              <a:spcBef>
                <a:spcPts val="670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Arial MT"/>
                <a:cs typeface="Arial MT"/>
              </a:rPr>
              <a:t>Parent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needs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create </a:t>
            </a:r>
            <a:r>
              <a:rPr sz="2800" dirty="0">
                <a:latin typeface="Arial MT"/>
                <a:cs typeface="Arial MT"/>
              </a:rPr>
              <a:t>another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child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but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has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reached </a:t>
            </a:r>
            <a:r>
              <a:rPr sz="2800" dirty="0">
                <a:latin typeface="Arial MT"/>
                <a:cs typeface="Arial MT"/>
              </a:rPr>
              <a:t>its</a:t>
            </a:r>
            <a:r>
              <a:rPr sz="2800" spc="-5" dirty="0">
                <a:latin typeface="Arial MT"/>
                <a:cs typeface="Arial MT"/>
              </a:rPr>
              <a:t> maximum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children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limit</a:t>
            </a:r>
            <a:endParaRPr sz="2800" dirty="0">
              <a:latin typeface="Arial MT"/>
              <a:cs typeface="Arial MT"/>
            </a:endParaRPr>
          </a:p>
          <a:p>
            <a:pPr marL="756285" lvl="1" indent="-287020">
              <a:spcBef>
                <a:spcPts val="295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spc="-85" dirty="0">
                <a:latin typeface="Arial MT"/>
                <a:cs typeface="Arial MT"/>
              </a:rPr>
              <a:t>Task</a:t>
            </a:r>
            <a:r>
              <a:rPr sz="2800" dirty="0">
                <a:latin typeface="Arial MT"/>
                <a:cs typeface="Arial MT"/>
              </a:rPr>
              <a:t> performed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by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 child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 no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longer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required</a:t>
            </a:r>
          </a:p>
          <a:p>
            <a:pPr marL="756285" lvl="1" indent="-287020">
              <a:spcBef>
                <a:spcPts val="340"/>
              </a:spcBef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Arial MT"/>
                <a:cs typeface="Arial MT"/>
              </a:rPr>
              <a:t>Parent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exits</a:t>
            </a:r>
          </a:p>
          <a:p>
            <a:pPr marL="1155700" marR="153670" lvl="2" indent="-228600">
              <a:lnSpc>
                <a:spcPts val="3020"/>
              </a:lnSpc>
              <a:spcBef>
                <a:spcPts val="720"/>
              </a:spcBef>
              <a:buChar char="•"/>
              <a:tabLst>
                <a:tab pos="1156335" algn="l"/>
              </a:tabLst>
            </a:pPr>
            <a:r>
              <a:rPr sz="2800" spc="-5" dirty="0">
                <a:latin typeface="Arial MT"/>
                <a:cs typeface="Arial MT"/>
              </a:rPr>
              <a:t>OS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does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not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allow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child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continue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if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its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parent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terminates</a:t>
            </a:r>
          </a:p>
          <a:p>
            <a:pPr marL="1155700" lvl="2" indent="-229235">
              <a:spcBef>
                <a:spcPts val="300"/>
              </a:spcBef>
              <a:buChar char="•"/>
              <a:tabLst>
                <a:tab pos="1156335" algn="l"/>
              </a:tabLst>
            </a:pPr>
            <a:r>
              <a:rPr sz="2800" dirty="0">
                <a:latin typeface="Arial MT"/>
                <a:cs typeface="Arial MT"/>
              </a:rPr>
              <a:t>Cascaded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termination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18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78887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2469" y="-414"/>
            <a:ext cx="4686300" cy="78162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System Call</a:t>
            </a:r>
            <a:r>
              <a:rPr dirty="0"/>
              <a:t> </a:t>
            </a:r>
            <a:r>
              <a:rPr spc="-5" dirty="0"/>
              <a:t>- wait()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71566" y="4923505"/>
            <a:ext cx="7620000" cy="1774189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91440">
              <a:spcBef>
                <a:spcPts val="75"/>
              </a:spcBef>
            </a:pPr>
            <a:r>
              <a:rPr sz="2400" b="1" spc="-5" dirty="0">
                <a:latin typeface="Courier New"/>
                <a:cs typeface="Courier New"/>
              </a:rPr>
              <a:t>SYNOPSIS</a:t>
            </a:r>
            <a:endParaRPr sz="2400" dirty="0">
              <a:latin typeface="Courier New"/>
              <a:cs typeface="Courier New"/>
            </a:endParaRPr>
          </a:p>
          <a:p>
            <a:pPr marL="91440" marR="2774950">
              <a:lnSpc>
                <a:spcPct val="120000"/>
              </a:lnSpc>
              <a:spcBef>
                <a:spcPts val="5"/>
              </a:spcBef>
            </a:pPr>
            <a:r>
              <a:rPr sz="2400" b="1" spc="-10" dirty="0">
                <a:latin typeface="Courier New"/>
                <a:cs typeface="Courier New"/>
              </a:rPr>
              <a:t>#include &lt;sys/types.h&gt; 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#include</a:t>
            </a:r>
            <a:r>
              <a:rPr sz="2400" b="1" spc="15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&lt;sys/wait.h&gt; </a:t>
            </a:r>
            <a:r>
              <a:rPr sz="2400" b="1" spc="-5" dirty="0">
                <a:latin typeface="Courier New"/>
                <a:cs typeface="Courier New"/>
              </a:rPr>
              <a:t> pid_t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wait(int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*stat_loc);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7419" y="589936"/>
            <a:ext cx="10840064" cy="4574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4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wait()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</a:t>
            </a:r>
            <a:r>
              <a:rPr sz="2800" spc="-5" dirty="0">
                <a:latin typeface="Arial MT"/>
                <a:cs typeface="Arial MT"/>
              </a:rPr>
              <a:t> call </a:t>
            </a:r>
            <a:r>
              <a:rPr sz="2800" dirty="0">
                <a:latin typeface="Arial MT"/>
                <a:cs typeface="Arial MT"/>
              </a:rPr>
              <a:t>suspends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calling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process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until </a:t>
            </a:r>
            <a:r>
              <a:rPr sz="2800" spc="-5" dirty="0">
                <a:latin typeface="Arial MT"/>
                <a:cs typeface="Arial MT"/>
              </a:rPr>
              <a:t>one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" dirty="0">
                <a:latin typeface="Arial MT"/>
                <a:cs typeface="Arial MT"/>
              </a:rPr>
              <a:t> its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immediate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children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terminates</a:t>
            </a:r>
          </a:p>
          <a:p>
            <a:pPr marL="355600" indent="-343535">
              <a:spcBef>
                <a:spcPts val="202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 MT"/>
                <a:cs typeface="Arial MT"/>
              </a:rPr>
              <a:t>wait()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returns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prematurely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if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 signal 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received</a:t>
            </a:r>
          </a:p>
          <a:p>
            <a:pPr marL="355600" indent="-343535">
              <a:spcBef>
                <a:spcPts val="201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 MT"/>
                <a:cs typeface="Arial MT"/>
              </a:rPr>
              <a:t>See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also </a:t>
            </a:r>
            <a:r>
              <a:rPr sz="2800" spc="-5" dirty="0">
                <a:latin typeface="Arial MT"/>
                <a:cs typeface="Arial MT"/>
              </a:rPr>
              <a:t>waitpid()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man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pages</a:t>
            </a:r>
            <a:endParaRPr lang="en-US" sz="2800" dirty="0">
              <a:latin typeface="Arial MT"/>
              <a:cs typeface="Arial MT"/>
            </a:endParaRPr>
          </a:p>
          <a:p>
            <a:pPr marL="355600" indent="-343535">
              <a:spcBef>
                <a:spcPts val="2014"/>
              </a:spcBef>
              <a:buChar char="•"/>
              <a:tabLst>
                <a:tab pos="355600" algn="l"/>
                <a:tab pos="356235" algn="l"/>
              </a:tabLst>
            </a:pPr>
            <a:r>
              <a:rPr lang="en-US" sz="2800" dirty="0">
                <a:latin typeface="Arial MT"/>
                <a:cs typeface="Arial MT"/>
              </a:rPr>
              <a:t>A call to wait () blocks the calling process until one of its child processes exits or a signal is received. After child process terminates, parent continues its execution after wait system call instruction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19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53303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2469" y="-46389"/>
            <a:ext cx="4686300" cy="781624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System Call</a:t>
            </a:r>
            <a:r>
              <a:rPr dirty="0"/>
              <a:t> </a:t>
            </a:r>
            <a:r>
              <a:rPr spc="-5" dirty="0"/>
              <a:t>- wait()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18589" y="593789"/>
            <a:ext cx="8732520" cy="53124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 algn="just"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 </a:t>
            </a:r>
            <a:r>
              <a:rPr sz="2400" spc="-5" dirty="0">
                <a:latin typeface="Arial MT"/>
                <a:cs typeface="Arial MT"/>
              </a:rPr>
              <a:t>successful,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terminating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child</a:t>
            </a:r>
            <a:endParaRPr sz="2400" dirty="0">
              <a:latin typeface="Arial MT"/>
              <a:cs typeface="Arial MT"/>
            </a:endParaRPr>
          </a:p>
          <a:p>
            <a:pPr marL="355600" algn="just">
              <a:spcBef>
                <a:spcPts val="580"/>
              </a:spcBef>
            </a:pP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returned</a:t>
            </a:r>
            <a:endParaRPr sz="2400" dirty="0">
              <a:latin typeface="Arial MT"/>
              <a:cs typeface="Arial MT"/>
            </a:endParaRPr>
          </a:p>
          <a:p>
            <a:pPr marL="355600" marR="190500" indent="-342900" algn="just">
              <a:lnSpc>
                <a:spcPct val="120100"/>
              </a:lnSpc>
              <a:spcBef>
                <a:spcPts val="1195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If </a:t>
            </a:r>
            <a:r>
              <a:rPr sz="2400" spc="-5" dirty="0">
                <a:latin typeface="Arial MT"/>
                <a:cs typeface="Arial MT"/>
              </a:rPr>
              <a:t>parent terminates, all </a:t>
            </a:r>
            <a:r>
              <a:rPr sz="2400" dirty="0">
                <a:latin typeface="Arial MT"/>
                <a:cs typeface="Arial MT"/>
              </a:rPr>
              <a:t>its </a:t>
            </a:r>
            <a:r>
              <a:rPr sz="2400" spc="-5" dirty="0">
                <a:latin typeface="Arial MT"/>
                <a:cs typeface="Arial MT"/>
              </a:rPr>
              <a:t>children are assigned process </a:t>
            </a:r>
            <a:r>
              <a:rPr sz="2400" b="1" dirty="0">
                <a:latin typeface="Arial"/>
                <a:cs typeface="Arial"/>
              </a:rPr>
              <a:t>init </a:t>
            </a:r>
            <a:r>
              <a:rPr sz="2400" b="1" spc="-6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as </a:t>
            </a:r>
            <a:r>
              <a:rPr sz="2400" spc="-5" dirty="0">
                <a:latin typeface="Arial MT"/>
                <a:cs typeface="Arial MT"/>
              </a:rPr>
              <a:t>new parent. Thus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children still have </a:t>
            </a:r>
            <a:r>
              <a:rPr sz="2400" dirty="0">
                <a:latin typeface="Arial MT"/>
                <a:cs typeface="Arial MT"/>
              </a:rPr>
              <a:t>a </a:t>
            </a:r>
            <a:r>
              <a:rPr sz="2400" spc="-5" dirty="0">
                <a:latin typeface="Arial MT"/>
                <a:cs typeface="Arial MT"/>
              </a:rPr>
              <a:t>parent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collect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their </a:t>
            </a:r>
            <a:r>
              <a:rPr sz="2400" dirty="0">
                <a:latin typeface="Arial MT"/>
                <a:cs typeface="Arial MT"/>
              </a:rPr>
              <a:t>status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execution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statistics</a:t>
            </a:r>
          </a:p>
          <a:p>
            <a:pPr marL="355600" marR="5080" indent="-342900">
              <a:lnSpc>
                <a:spcPct val="12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  <a:tab pos="355600" algn="l"/>
                <a:tab pos="1470660" algn="l"/>
              </a:tabLst>
            </a:pPr>
            <a:r>
              <a:rPr sz="2400" b="1" dirty="0">
                <a:latin typeface="Arial"/>
                <a:cs typeface="Arial"/>
              </a:rPr>
              <a:t>Zombie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process—a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terminated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whose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exit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status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dirty="0">
                <a:latin typeface="Arial MT"/>
                <a:cs typeface="Arial MT"/>
              </a:rPr>
              <a:t> not yet </a:t>
            </a:r>
            <a:r>
              <a:rPr sz="2400" spc="-5" dirty="0">
                <a:latin typeface="Arial MT"/>
                <a:cs typeface="Arial MT"/>
              </a:rPr>
              <a:t>been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received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 its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parent</a:t>
            </a:r>
            <a:r>
              <a:rPr sz="2400" dirty="0">
                <a:latin typeface="Arial MT"/>
                <a:cs typeface="Arial MT"/>
              </a:rPr>
              <a:t> process or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init</a:t>
            </a:r>
            <a:r>
              <a:rPr sz="2400" dirty="0">
                <a:latin typeface="Arial MT"/>
                <a:cs typeface="Arial MT"/>
              </a:rPr>
              <a:t>.	(A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yet </a:t>
            </a:r>
            <a:r>
              <a:rPr sz="2400" spc="-5" dirty="0">
                <a:latin typeface="Arial MT"/>
                <a:cs typeface="Arial MT"/>
              </a:rPr>
              <a:t>not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been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reaped)</a:t>
            </a:r>
            <a:endParaRPr sz="2400" dirty="0">
              <a:latin typeface="Arial MT"/>
              <a:cs typeface="Arial MT"/>
            </a:endParaRPr>
          </a:p>
          <a:p>
            <a:pPr marL="355600" marR="186690" indent="-342900">
              <a:lnSpc>
                <a:spcPct val="12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Orphan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process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" dirty="0">
                <a:latin typeface="Arial MT"/>
                <a:cs typeface="Arial MT"/>
              </a:rPr>
              <a:t> 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still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executing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whose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parent</a:t>
            </a:r>
            <a:r>
              <a:rPr sz="2400" dirty="0">
                <a:latin typeface="Arial MT"/>
                <a:cs typeface="Arial MT"/>
              </a:rPr>
              <a:t> has </a:t>
            </a:r>
            <a:r>
              <a:rPr sz="2400" spc="-5" dirty="0">
                <a:latin typeface="Arial MT"/>
                <a:cs typeface="Arial MT"/>
              </a:rPr>
              <a:t>died.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They</a:t>
            </a:r>
            <a:r>
              <a:rPr sz="2400" dirty="0">
                <a:latin typeface="Arial MT"/>
                <a:cs typeface="Arial MT"/>
              </a:rPr>
              <a:t> do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 </a:t>
            </a:r>
            <a:r>
              <a:rPr sz="2400" spc="-5" dirty="0">
                <a:latin typeface="Arial MT"/>
                <a:cs typeface="Arial MT"/>
              </a:rPr>
              <a:t>become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zombie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rather </a:t>
            </a:r>
            <a:r>
              <a:rPr sz="2400" spc="-5" dirty="0">
                <a:latin typeface="Arial MT"/>
                <a:cs typeface="Arial MT"/>
              </a:rPr>
              <a:t>are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adopted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init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20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21901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7323" y="95504"/>
            <a:ext cx="6830059" cy="605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Example</a:t>
            </a:r>
            <a:r>
              <a:rPr sz="3800" spc="-40" dirty="0"/>
              <a:t> </a:t>
            </a:r>
            <a:r>
              <a:rPr sz="3800" dirty="0"/>
              <a:t>2</a:t>
            </a:r>
            <a:r>
              <a:rPr sz="3800" spc="-25" dirty="0"/>
              <a:t> </a:t>
            </a:r>
            <a:r>
              <a:rPr sz="3800" dirty="0"/>
              <a:t>-</a:t>
            </a:r>
            <a:r>
              <a:rPr sz="3800" spc="-20" dirty="0"/>
              <a:t> </a:t>
            </a:r>
            <a:r>
              <a:rPr sz="3800" dirty="0"/>
              <a:t>wait()</a:t>
            </a:r>
            <a:r>
              <a:rPr sz="3800" spc="-70" dirty="0"/>
              <a:t> </a:t>
            </a:r>
            <a:r>
              <a:rPr sz="3800" dirty="0"/>
              <a:t>system</a:t>
            </a:r>
            <a:r>
              <a:rPr sz="3800" spc="-35" dirty="0"/>
              <a:t> </a:t>
            </a:r>
            <a:r>
              <a:rPr sz="3800" dirty="0"/>
              <a:t>call</a:t>
            </a:r>
            <a:endParaRPr sz="3800"/>
          </a:p>
        </p:txBody>
      </p:sp>
      <p:sp>
        <p:nvSpPr>
          <p:cNvPr id="3" name="object 3"/>
          <p:cNvSpPr/>
          <p:nvPr/>
        </p:nvSpPr>
        <p:spPr>
          <a:xfrm>
            <a:off x="2133600" y="685800"/>
            <a:ext cx="7924800" cy="5562600"/>
          </a:xfrm>
          <a:custGeom>
            <a:avLst/>
            <a:gdLst/>
            <a:ahLst/>
            <a:cxnLst/>
            <a:rect l="l" t="t" r="r" b="b"/>
            <a:pathLst>
              <a:path w="7924800" h="5562600">
                <a:moveTo>
                  <a:pt x="0" y="5562600"/>
                </a:moveTo>
                <a:lnTo>
                  <a:pt x="7924800" y="5562600"/>
                </a:lnTo>
                <a:lnTo>
                  <a:pt x="7924800" y="0"/>
                </a:lnTo>
                <a:lnTo>
                  <a:pt x="0" y="0"/>
                </a:lnTo>
                <a:lnTo>
                  <a:pt x="0" y="5562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12340" y="642875"/>
            <a:ext cx="6275070" cy="5513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b="1" spc="-5" dirty="0">
                <a:latin typeface="Courier New"/>
                <a:cs typeface="Courier New"/>
              </a:rPr>
              <a:t>//fork2.c</a:t>
            </a:r>
            <a:endParaRPr sz="2000">
              <a:latin typeface="Courier New"/>
              <a:cs typeface="Courier New"/>
            </a:endParaRPr>
          </a:p>
          <a:p>
            <a:pPr marL="12700"/>
            <a:r>
              <a:rPr sz="2000" i="1" spc="-5" dirty="0">
                <a:latin typeface="Courier New"/>
                <a:cs typeface="Courier New"/>
              </a:rPr>
              <a:t>int</a:t>
            </a:r>
            <a:r>
              <a:rPr sz="2000" i="1" spc="-55" dirty="0">
                <a:latin typeface="Courier New"/>
                <a:cs typeface="Courier New"/>
              </a:rPr>
              <a:t> </a:t>
            </a:r>
            <a:r>
              <a:rPr sz="2000" i="1" spc="-5" dirty="0">
                <a:latin typeface="Courier New"/>
                <a:cs typeface="Courier New"/>
              </a:rPr>
              <a:t>main()</a:t>
            </a:r>
            <a:endParaRPr sz="2000">
              <a:latin typeface="Courier New"/>
              <a:cs typeface="Courier New"/>
            </a:endParaRPr>
          </a:p>
          <a:p>
            <a:pPr marL="12700"/>
            <a:r>
              <a:rPr sz="2000" i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55600" marR="3319145"/>
            <a:r>
              <a:rPr sz="2000" i="1" spc="-5" dirty="0">
                <a:latin typeface="Courier New"/>
                <a:cs typeface="Courier New"/>
              </a:rPr>
              <a:t>int</a:t>
            </a:r>
            <a:r>
              <a:rPr sz="2000" i="1" spc="-30" dirty="0">
                <a:latin typeface="Courier New"/>
                <a:cs typeface="Courier New"/>
              </a:rPr>
              <a:t> </a:t>
            </a:r>
            <a:r>
              <a:rPr sz="2000" i="1" spc="-5" dirty="0">
                <a:latin typeface="Courier New"/>
                <a:cs typeface="Courier New"/>
              </a:rPr>
              <a:t>cpid,</a:t>
            </a:r>
            <a:r>
              <a:rPr sz="2000" i="1" spc="-25" dirty="0">
                <a:latin typeface="Courier New"/>
                <a:cs typeface="Courier New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Courier New"/>
                <a:cs typeface="Courier New"/>
              </a:rPr>
              <a:t>status</a:t>
            </a:r>
            <a:r>
              <a:rPr sz="2000" i="1" spc="-5" dirty="0">
                <a:latin typeface="Courier New"/>
                <a:cs typeface="Courier New"/>
              </a:rPr>
              <a:t>; </a:t>
            </a:r>
            <a:r>
              <a:rPr sz="2000" i="1" spc="-1185" dirty="0">
                <a:latin typeface="Courier New"/>
                <a:cs typeface="Courier New"/>
              </a:rPr>
              <a:t> </a:t>
            </a:r>
            <a:r>
              <a:rPr sz="2000" i="1" spc="-5" dirty="0">
                <a:latin typeface="Courier New"/>
                <a:cs typeface="Courier New"/>
              </a:rPr>
              <a:t>cpid</a:t>
            </a:r>
            <a:r>
              <a:rPr sz="2000" i="1" spc="-20" dirty="0">
                <a:latin typeface="Courier New"/>
                <a:cs typeface="Courier New"/>
              </a:rPr>
              <a:t> </a:t>
            </a:r>
            <a:r>
              <a:rPr sz="2000" i="1" dirty="0">
                <a:latin typeface="Courier New"/>
                <a:cs typeface="Courier New"/>
              </a:rPr>
              <a:t>=</a:t>
            </a:r>
            <a:r>
              <a:rPr sz="2000" i="1" spc="-20" dirty="0">
                <a:latin typeface="Courier New"/>
                <a:cs typeface="Courier New"/>
              </a:rPr>
              <a:t> </a:t>
            </a:r>
            <a:r>
              <a:rPr sz="2000" i="1" spc="-5" dirty="0">
                <a:latin typeface="Courier New"/>
                <a:cs typeface="Courier New"/>
              </a:rPr>
              <a:t>fork();</a:t>
            </a:r>
            <a:endParaRPr sz="2000">
              <a:latin typeface="Courier New"/>
              <a:cs typeface="Courier New"/>
            </a:endParaRPr>
          </a:p>
          <a:p>
            <a:pPr marL="355600"/>
            <a:r>
              <a:rPr sz="2000" i="1" spc="-5" dirty="0">
                <a:latin typeface="Courier New"/>
                <a:cs typeface="Courier New"/>
              </a:rPr>
              <a:t>if</a:t>
            </a:r>
            <a:r>
              <a:rPr sz="2000" i="1" spc="-20" dirty="0">
                <a:latin typeface="Courier New"/>
                <a:cs typeface="Courier New"/>
              </a:rPr>
              <a:t> </a:t>
            </a:r>
            <a:r>
              <a:rPr sz="2000" i="1" spc="-5" dirty="0">
                <a:latin typeface="Courier New"/>
                <a:cs typeface="Courier New"/>
              </a:rPr>
              <a:t>(cpid</a:t>
            </a:r>
            <a:r>
              <a:rPr sz="2000" i="1" spc="-20" dirty="0">
                <a:latin typeface="Courier New"/>
                <a:cs typeface="Courier New"/>
              </a:rPr>
              <a:t> </a:t>
            </a:r>
            <a:r>
              <a:rPr sz="2000" i="1" spc="-5" dirty="0">
                <a:latin typeface="Courier New"/>
                <a:cs typeface="Courier New"/>
              </a:rPr>
              <a:t>==</a:t>
            </a:r>
            <a:r>
              <a:rPr sz="2000" i="1" spc="-15" dirty="0">
                <a:latin typeface="Courier New"/>
                <a:cs typeface="Courier New"/>
              </a:rPr>
              <a:t> </a:t>
            </a:r>
            <a:r>
              <a:rPr sz="2000" i="1" spc="-5" dirty="0">
                <a:latin typeface="Courier New"/>
                <a:cs typeface="Courier New"/>
              </a:rPr>
              <a:t>-1)</a:t>
            </a:r>
            <a:endParaRPr sz="2000">
              <a:latin typeface="Courier New"/>
              <a:cs typeface="Courier New"/>
            </a:endParaRPr>
          </a:p>
          <a:p>
            <a:pPr marL="355600"/>
            <a:r>
              <a:rPr sz="2000" i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927100" marR="1224280"/>
            <a:r>
              <a:rPr sz="2000" i="1" spc="-5" dirty="0">
                <a:latin typeface="Courier New"/>
                <a:cs typeface="Courier New"/>
              </a:rPr>
              <a:t>printf (“\nFork failed\n”); </a:t>
            </a:r>
            <a:r>
              <a:rPr sz="2000" i="1" spc="-1190" dirty="0">
                <a:latin typeface="Courier New"/>
                <a:cs typeface="Courier New"/>
              </a:rPr>
              <a:t> </a:t>
            </a:r>
            <a:r>
              <a:rPr sz="2000" i="1" spc="-5" dirty="0">
                <a:latin typeface="Courier New"/>
                <a:cs typeface="Courier New"/>
              </a:rPr>
              <a:t>exit</a:t>
            </a:r>
            <a:r>
              <a:rPr sz="2000" i="1" spc="-10" dirty="0">
                <a:latin typeface="Courier New"/>
                <a:cs typeface="Courier New"/>
              </a:rPr>
              <a:t> </a:t>
            </a:r>
            <a:r>
              <a:rPr sz="2000" i="1" spc="-5" dirty="0">
                <a:latin typeface="Courier New"/>
                <a:cs typeface="Courier New"/>
              </a:rPr>
              <a:t>(1);</a:t>
            </a:r>
            <a:endParaRPr sz="2000">
              <a:latin typeface="Courier New"/>
              <a:cs typeface="Courier New"/>
            </a:endParaRPr>
          </a:p>
          <a:p>
            <a:pPr marL="355600"/>
            <a:r>
              <a:rPr sz="2000" i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355600">
              <a:spcBef>
                <a:spcPts val="5"/>
              </a:spcBef>
            </a:pPr>
            <a:r>
              <a:rPr sz="2000" i="1" spc="-5" dirty="0">
                <a:latin typeface="Courier New"/>
                <a:cs typeface="Courier New"/>
              </a:rPr>
              <a:t>if</a:t>
            </a:r>
            <a:r>
              <a:rPr sz="2000" i="1" spc="-25" dirty="0">
                <a:latin typeface="Courier New"/>
                <a:cs typeface="Courier New"/>
              </a:rPr>
              <a:t> </a:t>
            </a:r>
            <a:r>
              <a:rPr sz="2000" i="1" spc="-5" dirty="0">
                <a:latin typeface="Courier New"/>
                <a:cs typeface="Courier New"/>
              </a:rPr>
              <a:t>(cpid</a:t>
            </a:r>
            <a:r>
              <a:rPr sz="2000" i="1" spc="-20" dirty="0">
                <a:latin typeface="Courier New"/>
                <a:cs typeface="Courier New"/>
              </a:rPr>
              <a:t> </a:t>
            </a:r>
            <a:r>
              <a:rPr sz="2000" i="1" spc="-5" dirty="0">
                <a:latin typeface="Courier New"/>
                <a:cs typeface="Courier New"/>
              </a:rPr>
              <a:t>==</a:t>
            </a:r>
            <a:r>
              <a:rPr sz="2000" i="1" spc="-15" dirty="0">
                <a:latin typeface="Courier New"/>
                <a:cs typeface="Courier New"/>
              </a:rPr>
              <a:t> </a:t>
            </a:r>
            <a:r>
              <a:rPr sz="2000" i="1" spc="-5" dirty="0">
                <a:latin typeface="Courier New"/>
                <a:cs typeface="Courier New"/>
              </a:rPr>
              <a:t>0){</a:t>
            </a:r>
            <a:endParaRPr sz="2000">
              <a:latin typeface="Courier New"/>
              <a:cs typeface="Courier New"/>
            </a:endParaRPr>
          </a:p>
          <a:p>
            <a:pPr marL="927100" marR="157480"/>
            <a:r>
              <a:rPr sz="2000" i="1" spc="-5" dirty="0">
                <a:latin typeface="Courier New"/>
                <a:cs typeface="Courier New"/>
              </a:rPr>
              <a:t>printf (“\n Hello </a:t>
            </a:r>
            <a:r>
              <a:rPr sz="2000" i="1" dirty="0">
                <a:latin typeface="Courier New"/>
                <a:cs typeface="Courier New"/>
              </a:rPr>
              <a:t>I </a:t>
            </a:r>
            <a:r>
              <a:rPr sz="2000" i="1" spc="-5" dirty="0">
                <a:latin typeface="Courier New"/>
                <a:cs typeface="Courier New"/>
              </a:rPr>
              <a:t>am child \n”); </a:t>
            </a:r>
            <a:r>
              <a:rPr sz="2000" i="1" spc="-1190" dirty="0">
                <a:latin typeface="Courier New"/>
                <a:cs typeface="Courier New"/>
              </a:rPr>
              <a:t> </a:t>
            </a:r>
            <a:r>
              <a:rPr sz="2000" i="1" spc="-5" dirty="0">
                <a:latin typeface="Courier New"/>
                <a:cs typeface="Courier New"/>
              </a:rPr>
              <a:t>exit(0);</a:t>
            </a:r>
            <a:endParaRPr sz="2000">
              <a:latin typeface="Courier New"/>
              <a:cs typeface="Courier New"/>
            </a:endParaRPr>
          </a:p>
          <a:p>
            <a:pPr marL="927100"/>
            <a:r>
              <a:rPr sz="2000" i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355600"/>
            <a:r>
              <a:rPr sz="2000" i="1" spc="-5" dirty="0">
                <a:latin typeface="Courier New"/>
                <a:cs typeface="Courier New"/>
              </a:rPr>
              <a:t>else</a:t>
            </a:r>
            <a:r>
              <a:rPr sz="2000" i="1" spc="-60" dirty="0">
                <a:latin typeface="Courier New"/>
                <a:cs typeface="Courier New"/>
              </a:rPr>
              <a:t> </a:t>
            </a:r>
            <a:r>
              <a:rPr sz="2000" i="1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927100"/>
            <a:r>
              <a:rPr sz="2000" b="1" i="1" spc="-5" dirty="0">
                <a:solidFill>
                  <a:srgbClr val="FF0000"/>
                </a:solidFill>
                <a:latin typeface="Courier New"/>
                <a:cs typeface="Courier New"/>
              </a:rPr>
              <a:t>wait(&amp;status);</a:t>
            </a:r>
            <a:endParaRPr sz="2000">
              <a:latin typeface="Courier New"/>
              <a:cs typeface="Courier New"/>
            </a:endParaRPr>
          </a:p>
          <a:p>
            <a:pPr marL="927100"/>
            <a:r>
              <a:rPr sz="2000" i="1" spc="-5" dirty="0">
                <a:latin typeface="Courier New"/>
                <a:cs typeface="Courier New"/>
              </a:rPr>
              <a:t>printf</a:t>
            </a:r>
            <a:r>
              <a:rPr sz="2000" i="1" spc="-10" dirty="0">
                <a:latin typeface="Courier New"/>
                <a:cs typeface="Courier New"/>
              </a:rPr>
              <a:t> </a:t>
            </a:r>
            <a:r>
              <a:rPr sz="2000" i="1" spc="-5" dirty="0">
                <a:latin typeface="Courier New"/>
                <a:cs typeface="Courier New"/>
              </a:rPr>
              <a:t>(“\n Hello </a:t>
            </a:r>
            <a:r>
              <a:rPr sz="2000" i="1" dirty="0">
                <a:latin typeface="Courier New"/>
                <a:cs typeface="Courier New"/>
              </a:rPr>
              <a:t>I</a:t>
            </a:r>
            <a:r>
              <a:rPr sz="2000" i="1" spc="-5" dirty="0">
                <a:latin typeface="Courier New"/>
                <a:cs typeface="Courier New"/>
              </a:rPr>
              <a:t> am parent</a:t>
            </a:r>
            <a:r>
              <a:rPr sz="2000" i="1" dirty="0">
                <a:latin typeface="Courier New"/>
                <a:cs typeface="Courier New"/>
              </a:rPr>
              <a:t> </a:t>
            </a:r>
            <a:r>
              <a:rPr sz="2000" i="1" spc="-5" dirty="0">
                <a:latin typeface="Courier New"/>
                <a:cs typeface="Courier New"/>
              </a:rPr>
              <a:t>\n”);</a:t>
            </a:r>
            <a:endParaRPr sz="2000">
              <a:latin typeface="Courier New"/>
              <a:cs typeface="Courier New"/>
            </a:endParaRPr>
          </a:p>
          <a:p>
            <a:pPr marL="12700"/>
            <a:r>
              <a:rPr sz="2000" i="1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21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62932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8314" y="95504"/>
            <a:ext cx="4286885" cy="605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System</a:t>
            </a:r>
            <a:r>
              <a:rPr sz="3800" spc="-50" dirty="0"/>
              <a:t> </a:t>
            </a:r>
            <a:r>
              <a:rPr sz="3800" dirty="0"/>
              <a:t>Call</a:t>
            </a:r>
            <a:r>
              <a:rPr sz="3800" spc="-55" dirty="0"/>
              <a:t> </a:t>
            </a:r>
            <a:r>
              <a:rPr sz="3800" spc="-5" dirty="0"/>
              <a:t>exec()</a:t>
            </a:r>
            <a:endParaRPr sz="3800"/>
          </a:p>
        </p:txBody>
      </p:sp>
      <p:sp>
        <p:nvSpPr>
          <p:cNvPr id="3" name="object 3"/>
          <p:cNvSpPr/>
          <p:nvPr/>
        </p:nvSpPr>
        <p:spPr>
          <a:xfrm>
            <a:off x="1646237" y="3948049"/>
            <a:ext cx="8959850" cy="2205355"/>
          </a:xfrm>
          <a:custGeom>
            <a:avLst/>
            <a:gdLst/>
            <a:ahLst/>
            <a:cxnLst/>
            <a:rect l="l" t="t" r="r" b="b"/>
            <a:pathLst>
              <a:path w="8959850" h="2205354">
                <a:moveTo>
                  <a:pt x="14287" y="0"/>
                </a:moveTo>
                <a:lnTo>
                  <a:pt x="14287" y="2205101"/>
                </a:lnTo>
              </a:path>
              <a:path w="8959850" h="2205354">
                <a:moveTo>
                  <a:pt x="8945562" y="0"/>
                </a:moveTo>
                <a:lnTo>
                  <a:pt x="8945562" y="2205101"/>
                </a:lnTo>
              </a:path>
              <a:path w="8959850" h="2205354">
                <a:moveTo>
                  <a:pt x="0" y="14350"/>
                </a:moveTo>
                <a:lnTo>
                  <a:pt x="8959786" y="14350"/>
                </a:lnTo>
              </a:path>
              <a:path w="8959850" h="2205354">
                <a:moveTo>
                  <a:pt x="0" y="2190813"/>
                </a:moveTo>
                <a:lnTo>
                  <a:pt x="8959786" y="219081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39290" y="711453"/>
            <a:ext cx="8765540" cy="54296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0840" marR="342265" indent="-342900">
              <a:spcBef>
                <a:spcPts val="100"/>
              </a:spcBef>
              <a:buChar char="•"/>
              <a:tabLst>
                <a:tab pos="370840" algn="l"/>
                <a:tab pos="371475" algn="l"/>
              </a:tabLst>
            </a:pPr>
            <a:r>
              <a:rPr sz="2400" spc="-20" dirty="0">
                <a:latin typeface="Arial MT"/>
                <a:cs typeface="Arial MT"/>
              </a:rPr>
              <a:t>Typically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exec()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 </a:t>
            </a:r>
            <a:r>
              <a:rPr sz="2400" spc="-5" dirty="0">
                <a:latin typeface="Arial MT"/>
                <a:cs typeface="Arial MT"/>
              </a:rPr>
              <a:t>call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after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fork()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 the two</a:t>
            </a:r>
            <a:r>
              <a:rPr sz="2400" spc="-5" dirty="0">
                <a:latin typeface="Arial MT"/>
                <a:cs typeface="Arial MT"/>
              </a:rPr>
              <a:t> processes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replace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process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memory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space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new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executable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program.</a:t>
            </a:r>
            <a:endParaRPr sz="2400">
              <a:latin typeface="Arial MT"/>
              <a:cs typeface="Arial MT"/>
            </a:endParaRPr>
          </a:p>
          <a:p>
            <a:pPr marL="370840" marR="819785" indent="-342900">
              <a:spcBef>
                <a:spcPts val="575"/>
              </a:spcBef>
              <a:buChar char="•"/>
              <a:tabLst>
                <a:tab pos="370840" algn="l"/>
                <a:tab pos="371475" algn="l"/>
              </a:tabLst>
            </a:pP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new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image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constructed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ordinary,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executable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file.</a:t>
            </a:r>
            <a:endParaRPr sz="2400">
              <a:latin typeface="Arial MT"/>
              <a:cs typeface="Arial MT"/>
            </a:endParaRPr>
          </a:p>
          <a:p>
            <a:pPr marL="370840" marR="662305" indent="-342900">
              <a:spcBef>
                <a:spcPts val="580"/>
              </a:spcBef>
              <a:buChar char="•"/>
              <a:tabLst>
                <a:tab pos="370840" algn="l"/>
                <a:tab pos="371475" algn="l"/>
              </a:tabLst>
            </a:pPr>
            <a:r>
              <a:rPr sz="2400" spc="-5" dirty="0">
                <a:latin typeface="Arial MT"/>
                <a:cs typeface="Arial MT"/>
              </a:rPr>
              <a:t>There can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return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successful </a:t>
            </a:r>
            <a:r>
              <a:rPr sz="2400" spc="-5" dirty="0">
                <a:latin typeface="Arial MT"/>
                <a:cs typeface="Arial MT"/>
              </a:rPr>
              <a:t>exec()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because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 calling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image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overlaid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new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process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image.</a:t>
            </a:r>
            <a:endParaRPr sz="2400">
              <a:latin typeface="Arial MT"/>
              <a:cs typeface="Arial MT"/>
            </a:endParaRPr>
          </a:p>
          <a:p>
            <a:pPr marL="12700">
              <a:spcBef>
                <a:spcPts val="1615"/>
              </a:spcBef>
            </a:pPr>
            <a:r>
              <a:rPr sz="2000" b="1" dirty="0">
                <a:latin typeface="Arial"/>
                <a:cs typeface="Arial"/>
              </a:rPr>
              <a:t>#include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&lt;unistd.h&gt;</a:t>
            </a:r>
            <a:endParaRPr sz="2000">
              <a:latin typeface="Arial"/>
              <a:cs typeface="Arial"/>
            </a:endParaRPr>
          </a:p>
          <a:p>
            <a:pPr marL="12700">
              <a:spcBef>
                <a:spcPts val="480"/>
              </a:spcBef>
            </a:pPr>
            <a:r>
              <a:rPr sz="2000" b="1" dirty="0">
                <a:latin typeface="Arial"/>
                <a:cs typeface="Arial"/>
              </a:rPr>
              <a:t>int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execlp(const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char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*file,const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char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*arg0,...,const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char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*argn,(char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*)0);</a:t>
            </a:r>
            <a:endParaRPr sz="2000">
              <a:latin typeface="Arial"/>
              <a:cs typeface="Arial"/>
            </a:endParaRPr>
          </a:p>
          <a:p>
            <a:pPr marL="205740" indent="-193675">
              <a:spcBef>
                <a:spcPts val="254"/>
              </a:spcBef>
              <a:buFont typeface="Arial MT"/>
              <a:buChar char="•"/>
              <a:tabLst>
                <a:tab pos="206375" algn="l"/>
              </a:tabLst>
            </a:pPr>
            <a:r>
              <a:rPr sz="1600" spc="-5" dirty="0">
                <a:latin typeface="Courier New"/>
                <a:cs typeface="Courier New"/>
              </a:rPr>
              <a:t>file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is </a:t>
            </a:r>
            <a:r>
              <a:rPr sz="1600" b="1" spc="-5" dirty="0">
                <a:latin typeface="Courier New"/>
                <a:cs typeface="Courier New"/>
              </a:rPr>
              <a:t>the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path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name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of </a:t>
            </a:r>
            <a:r>
              <a:rPr sz="1600" b="1" spc="-5" dirty="0">
                <a:latin typeface="Courier New"/>
                <a:cs typeface="Courier New"/>
              </a:rPr>
              <a:t>executable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file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which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is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going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to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override</a:t>
            </a:r>
            <a:endParaRPr sz="1600">
              <a:latin typeface="Courier New"/>
              <a:cs typeface="Courier New"/>
            </a:endParaRPr>
          </a:p>
          <a:p>
            <a:pPr marL="12700"/>
            <a:r>
              <a:rPr sz="1600" b="1" spc="-5" dirty="0">
                <a:latin typeface="Courier New"/>
                <a:cs typeface="Courier New"/>
              </a:rPr>
              <a:t>the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caller</a:t>
            </a:r>
            <a:r>
              <a:rPr sz="1600" b="1" spc="-2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process</a:t>
            </a:r>
            <a:endParaRPr sz="1600">
              <a:latin typeface="Courier New"/>
              <a:cs typeface="Courier New"/>
            </a:endParaRPr>
          </a:p>
          <a:p>
            <a:pPr marL="205740" indent="-193675">
              <a:spcBef>
                <a:spcPts val="385"/>
              </a:spcBef>
              <a:buFont typeface="Arial MT"/>
              <a:buChar char="•"/>
              <a:tabLst>
                <a:tab pos="206375" algn="l"/>
              </a:tabLst>
            </a:pPr>
            <a:r>
              <a:rPr sz="1600" b="1" spc="-5" dirty="0">
                <a:latin typeface="Courier New"/>
                <a:cs typeface="Courier New"/>
              </a:rPr>
              <a:t>arg0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spc="5" dirty="0">
                <a:latin typeface="Courier New"/>
                <a:cs typeface="Courier New"/>
              </a:rPr>
              <a:t>is</a:t>
            </a:r>
            <a:r>
              <a:rPr sz="1600" b="1" spc="-5" dirty="0">
                <a:latin typeface="Courier New"/>
                <a:cs typeface="Courier New"/>
              </a:rPr>
              <a:t> the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name given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to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child process.</a:t>
            </a:r>
            <a:endParaRPr sz="1600">
              <a:latin typeface="Courier New"/>
              <a:cs typeface="Courier New"/>
            </a:endParaRPr>
          </a:p>
          <a:p>
            <a:pPr marL="205740" indent="-193675">
              <a:spcBef>
                <a:spcPts val="385"/>
              </a:spcBef>
              <a:buFont typeface="Arial MT"/>
              <a:buChar char="•"/>
              <a:tabLst>
                <a:tab pos="206375" algn="l"/>
              </a:tabLst>
            </a:pPr>
            <a:r>
              <a:rPr sz="1600" b="1" spc="-5" dirty="0">
                <a:latin typeface="Courier New"/>
                <a:cs typeface="Courier New"/>
              </a:rPr>
              <a:t>arg1 </a:t>
            </a:r>
            <a:r>
              <a:rPr sz="1600" b="1" dirty="0">
                <a:latin typeface="Courier New"/>
                <a:cs typeface="Courier New"/>
              </a:rPr>
              <a:t>may</a:t>
            </a:r>
            <a:r>
              <a:rPr sz="1600" b="1" spc="-5" dirty="0">
                <a:latin typeface="Courier New"/>
                <a:cs typeface="Courier New"/>
              </a:rPr>
              <a:t> be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the options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passed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to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the process.</a:t>
            </a:r>
            <a:endParaRPr sz="1600">
              <a:latin typeface="Courier New"/>
              <a:cs typeface="Courier New"/>
            </a:endParaRPr>
          </a:p>
          <a:p>
            <a:pPr marL="205740" indent="-193675">
              <a:spcBef>
                <a:spcPts val="384"/>
              </a:spcBef>
              <a:buFont typeface="Arial MT"/>
              <a:buChar char="•"/>
              <a:tabLst>
                <a:tab pos="206375" algn="l"/>
              </a:tabLst>
            </a:pPr>
            <a:r>
              <a:rPr sz="1600" b="1" spc="-5" dirty="0">
                <a:latin typeface="Courier New"/>
                <a:cs typeface="Courier New"/>
              </a:rPr>
              <a:t>Last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argument is null pointer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5" dirty="0">
                <a:latin typeface="Courier New"/>
                <a:cs typeface="Courier New"/>
              </a:rPr>
              <a:t>‘\0’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22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47341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3033" y="0"/>
            <a:ext cx="5799455" cy="1258570"/>
          </a:xfrm>
          <a:prstGeom prst="rect">
            <a:avLst/>
          </a:prstGeom>
        </p:spPr>
        <p:txBody>
          <a:bodyPr vert="horz" wrap="square" lIns="0" tIns="144145" rIns="0" bIns="0" rtlCol="0" anchor="ctr">
            <a:spAutoFit/>
          </a:bodyPr>
          <a:lstStyle/>
          <a:p>
            <a:pPr marL="347980">
              <a:lnSpc>
                <a:spcPct val="100000"/>
              </a:lnSpc>
              <a:spcBef>
                <a:spcPts val="1135"/>
              </a:spcBef>
            </a:pPr>
            <a:r>
              <a:rPr sz="3800" dirty="0"/>
              <a:t>System</a:t>
            </a:r>
            <a:r>
              <a:rPr sz="3800" spc="-40" dirty="0"/>
              <a:t> </a:t>
            </a:r>
            <a:r>
              <a:rPr sz="3800" dirty="0"/>
              <a:t>Call</a:t>
            </a:r>
            <a:r>
              <a:rPr sz="3800" spc="-50" dirty="0"/>
              <a:t> </a:t>
            </a:r>
            <a:r>
              <a:rPr sz="3800" spc="-5" dirty="0"/>
              <a:t>exec()</a:t>
            </a:r>
            <a:endParaRPr sz="3800"/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4509135" algn="l"/>
              </a:tabLst>
            </a:pPr>
            <a:r>
              <a:rPr sz="2800" spc="-10" dirty="0">
                <a:latin typeface="Courier New"/>
                <a:cs typeface="Courier New"/>
              </a:rPr>
              <a:t>Pare</a:t>
            </a:r>
            <a:r>
              <a:rPr sz="2800" spc="-20" dirty="0">
                <a:latin typeface="Courier New"/>
                <a:cs typeface="Courier New"/>
              </a:rPr>
              <a:t>n</a:t>
            </a:r>
            <a:r>
              <a:rPr sz="2800" spc="-5" dirty="0">
                <a:latin typeface="Courier New"/>
                <a:cs typeface="Courier New"/>
              </a:rPr>
              <a:t>t</a:t>
            </a:r>
            <a:r>
              <a:rPr sz="2800" dirty="0">
                <a:latin typeface="Courier New"/>
                <a:cs typeface="Courier New"/>
              </a:rPr>
              <a:t>	</a:t>
            </a:r>
            <a:r>
              <a:rPr sz="2800" spc="-10" dirty="0">
                <a:latin typeface="Courier New"/>
                <a:cs typeface="Courier New"/>
              </a:rPr>
              <a:t>Pare</a:t>
            </a:r>
            <a:r>
              <a:rPr sz="2800" spc="-20" dirty="0">
                <a:latin typeface="Courier New"/>
                <a:cs typeface="Courier New"/>
              </a:rPr>
              <a:t>n</a:t>
            </a:r>
            <a:r>
              <a:rPr sz="2800" spc="-5" dirty="0">
                <a:latin typeface="Courier New"/>
                <a:cs typeface="Courier New"/>
              </a:rPr>
              <a:t>t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05200" y="1312925"/>
            <a:ext cx="1371600" cy="3962400"/>
          </a:xfrm>
          <a:custGeom>
            <a:avLst/>
            <a:gdLst/>
            <a:ahLst/>
            <a:cxnLst/>
            <a:rect l="l" t="t" r="r" b="b"/>
            <a:pathLst>
              <a:path w="1371600" h="3962400">
                <a:moveTo>
                  <a:pt x="76200" y="609600"/>
                </a:moveTo>
                <a:lnTo>
                  <a:pt x="77976" y="564104"/>
                </a:lnTo>
                <a:lnTo>
                  <a:pt x="83221" y="519516"/>
                </a:lnTo>
                <a:lnTo>
                  <a:pt x="91811" y="475955"/>
                </a:lnTo>
                <a:lnTo>
                  <a:pt x="103619" y="433537"/>
                </a:lnTo>
                <a:lnTo>
                  <a:pt x="118521" y="392382"/>
                </a:lnTo>
                <a:lnTo>
                  <a:pt x="136391" y="352606"/>
                </a:lnTo>
                <a:lnTo>
                  <a:pt x="157105" y="314327"/>
                </a:lnTo>
                <a:lnTo>
                  <a:pt x="180537" y="277664"/>
                </a:lnTo>
                <a:lnTo>
                  <a:pt x="206562" y="242734"/>
                </a:lnTo>
                <a:lnTo>
                  <a:pt x="235054" y="209655"/>
                </a:lnTo>
                <a:lnTo>
                  <a:pt x="265890" y="178546"/>
                </a:lnTo>
                <a:lnTo>
                  <a:pt x="298943" y="149523"/>
                </a:lnTo>
                <a:lnTo>
                  <a:pt x="334088" y="122704"/>
                </a:lnTo>
                <a:lnTo>
                  <a:pt x="371201" y="98209"/>
                </a:lnTo>
                <a:lnTo>
                  <a:pt x="410155" y="76154"/>
                </a:lnTo>
                <a:lnTo>
                  <a:pt x="450826" y="56657"/>
                </a:lnTo>
                <a:lnTo>
                  <a:pt x="493089" y="39836"/>
                </a:lnTo>
                <a:lnTo>
                  <a:pt x="536819" y="25809"/>
                </a:lnTo>
                <a:lnTo>
                  <a:pt x="581890" y="14694"/>
                </a:lnTo>
                <a:lnTo>
                  <a:pt x="628177" y="6609"/>
                </a:lnTo>
                <a:lnTo>
                  <a:pt x="675555" y="1672"/>
                </a:lnTo>
                <a:lnTo>
                  <a:pt x="723900" y="0"/>
                </a:lnTo>
                <a:lnTo>
                  <a:pt x="772244" y="1672"/>
                </a:lnTo>
                <a:lnTo>
                  <a:pt x="819622" y="6609"/>
                </a:lnTo>
                <a:lnTo>
                  <a:pt x="865909" y="14694"/>
                </a:lnTo>
                <a:lnTo>
                  <a:pt x="910980" y="25809"/>
                </a:lnTo>
                <a:lnTo>
                  <a:pt x="954710" y="39836"/>
                </a:lnTo>
                <a:lnTo>
                  <a:pt x="996973" y="56657"/>
                </a:lnTo>
                <a:lnTo>
                  <a:pt x="1037644" y="76154"/>
                </a:lnTo>
                <a:lnTo>
                  <a:pt x="1076598" y="98209"/>
                </a:lnTo>
                <a:lnTo>
                  <a:pt x="1113711" y="122704"/>
                </a:lnTo>
                <a:lnTo>
                  <a:pt x="1148856" y="149523"/>
                </a:lnTo>
                <a:lnTo>
                  <a:pt x="1181909" y="178546"/>
                </a:lnTo>
                <a:lnTo>
                  <a:pt x="1212745" y="209655"/>
                </a:lnTo>
                <a:lnTo>
                  <a:pt x="1241237" y="242734"/>
                </a:lnTo>
                <a:lnTo>
                  <a:pt x="1267262" y="277664"/>
                </a:lnTo>
                <a:lnTo>
                  <a:pt x="1290694" y="314327"/>
                </a:lnTo>
                <a:lnTo>
                  <a:pt x="1311408" y="352606"/>
                </a:lnTo>
                <a:lnTo>
                  <a:pt x="1329278" y="392382"/>
                </a:lnTo>
                <a:lnTo>
                  <a:pt x="1344180" y="433537"/>
                </a:lnTo>
                <a:lnTo>
                  <a:pt x="1355988" y="475955"/>
                </a:lnTo>
                <a:lnTo>
                  <a:pt x="1364578" y="519516"/>
                </a:lnTo>
                <a:lnTo>
                  <a:pt x="1369823" y="564104"/>
                </a:lnTo>
                <a:lnTo>
                  <a:pt x="1371600" y="609600"/>
                </a:lnTo>
                <a:lnTo>
                  <a:pt x="1369823" y="655079"/>
                </a:lnTo>
                <a:lnTo>
                  <a:pt x="1364578" y="699654"/>
                </a:lnTo>
                <a:lnTo>
                  <a:pt x="1355988" y="743205"/>
                </a:lnTo>
                <a:lnTo>
                  <a:pt x="1344180" y="785615"/>
                </a:lnTo>
                <a:lnTo>
                  <a:pt x="1329278" y="826766"/>
                </a:lnTo>
                <a:lnTo>
                  <a:pt x="1311408" y="866538"/>
                </a:lnTo>
                <a:lnTo>
                  <a:pt x="1290694" y="904815"/>
                </a:lnTo>
                <a:lnTo>
                  <a:pt x="1267262" y="941479"/>
                </a:lnTo>
                <a:lnTo>
                  <a:pt x="1241237" y="976410"/>
                </a:lnTo>
                <a:lnTo>
                  <a:pt x="1212745" y="1009492"/>
                </a:lnTo>
                <a:lnTo>
                  <a:pt x="1181909" y="1040606"/>
                </a:lnTo>
                <a:lnTo>
                  <a:pt x="1148856" y="1069633"/>
                </a:lnTo>
                <a:lnTo>
                  <a:pt x="1113711" y="1096457"/>
                </a:lnTo>
                <a:lnTo>
                  <a:pt x="1076598" y="1120958"/>
                </a:lnTo>
                <a:lnTo>
                  <a:pt x="1037644" y="1143019"/>
                </a:lnTo>
                <a:lnTo>
                  <a:pt x="996973" y="1162522"/>
                </a:lnTo>
                <a:lnTo>
                  <a:pt x="954710" y="1179348"/>
                </a:lnTo>
                <a:lnTo>
                  <a:pt x="910980" y="1193380"/>
                </a:lnTo>
                <a:lnTo>
                  <a:pt x="865909" y="1204499"/>
                </a:lnTo>
                <a:lnTo>
                  <a:pt x="819622" y="1212587"/>
                </a:lnTo>
                <a:lnTo>
                  <a:pt x="772244" y="1217527"/>
                </a:lnTo>
                <a:lnTo>
                  <a:pt x="723900" y="1219200"/>
                </a:lnTo>
                <a:lnTo>
                  <a:pt x="675555" y="1217527"/>
                </a:lnTo>
                <a:lnTo>
                  <a:pt x="628177" y="1212587"/>
                </a:lnTo>
                <a:lnTo>
                  <a:pt x="581890" y="1204499"/>
                </a:lnTo>
                <a:lnTo>
                  <a:pt x="536819" y="1193380"/>
                </a:lnTo>
                <a:lnTo>
                  <a:pt x="493089" y="1179348"/>
                </a:lnTo>
                <a:lnTo>
                  <a:pt x="450826" y="1162522"/>
                </a:lnTo>
                <a:lnTo>
                  <a:pt x="410155" y="1143019"/>
                </a:lnTo>
                <a:lnTo>
                  <a:pt x="371201" y="1120958"/>
                </a:lnTo>
                <a:lnTo>
                  <a:pt x="334088" y="1096457"/>
                </a:lnTo>
                <a:lnTo>
                  <a:pt x="298943" y="1069633"/>
                </a:lnTo>
                <a:lnTo>
                  <a:pt x="265890" y="1040606"/>
                </a:lnTo>
                <a:lnTo>
                  <a:pt x="235054" y="1009492"/>
                </a:lnTo>
                <a:lnTo>
                  <a:pt x="206562" y="976410"/>
                </a:lnTo>
                <a:lnTo>
                  <a:pt x="180537" y="941479"/>
                </a:lnTo>
                <a:lnTo>
                  <a:pt x="157105" y="904815"/>
                </a:lnTo>
                <a:lnTo>
                  <a:pt x="136391" y="866538"/>
                </a:lnTo>
                <a:lnTo>
                  <a:pt x="118521" y="826766"/>
                </a:lnTo>
                <a:lnTo>
                  <a:pt x="103619" y="785615"/>
                </a:lnTo>
                <a:lnTo>
                  <a:pt x="91811" y="743205"/>
                </a:lnTo>
                <a:lnTo>
                  <a:pt x="83221" y="699654"/>
                </a:lnTo>
                <a:lnTo>
                  <a:pt x="77976" y="655079"/>
                </a:lnTo>
                <a:lnTo>
                  <a:pt x="76200" y="609600"/>
                </a:lnTo>
                <a:close/>
              </a:path>
              <a:path w="1371600" h="3962400">
                <a:moveTo>
                  <a:pt x="0" y="3352800"/>
                </a:moveTo>
                <a:lnTo>
                  <a:pt x="1776" y="3307304"/>
                </a:lnTo>
                <a:lnTo>
                  <a:pt x="7021" y="3262716"/>
                </a:lnTo>
                <a:lnTo>
                  <a:pt x="15611" y="3219155"/>
                </a:lnTo>
                <a:lnTo>
                  <a:pt x="27419" y="3176737"/>
                </a:lnTo>
                <a:lnTo>
                  <a:pt x="42321" y="3135582"/>
                </a:lnTo>
                <a:lnTo>
                  <a:pt x="60191" y="3095806"/>
                </a:lnTo>
                <a:lnTo>
                  <a:pt x="80905" y="3057527"/>
                </a:lnTo>
                <a:lnTo>
                  <a:pt x="104337" y="3020864"/>
                </a:lnTo>
                <a:lnTo>
                  <a:pt x="130362" y="2985934"/>
                </a:lnTo>
                <a:lnTo>
                  <a:pt x="158854" y="2952855"/>
                </a:lnTo>
                <a:lnTo>
                  <a:pt x="189690" y="2921746"/>
                </a:lnTo>
                <a:lnTo>
                  <a:pt x="222743" y="2892723"/>
                </a:lnTo>
                <a:lnTo>
                  <a:pt x="257888" y="2865904"/>
                </a:lnTo>
                <a:lnTo>
                  <a:pt x="295001" y="2841409"/>
                </a:lnTo>
                <a:lnTo>
                  <a:pt x="333955" y="2819354"/>
                </a:lnTo>
                <a:lnTo>
                  <a:pt x="374626" y="2799857"/>
                </a:lnTo>
                <a:lnTo>
                  <a:pt x="416889" y="2783036"/>
                </a:lnTo>
                <a:lnTo>
                  <a:pt x="460619" y="2769009"/>
                </a:lnTo>
                <a:lnTo>
                  <a:pt x="505690" y="2757894"/>
                </a:lnTo>
                <a:lnTo>
                  <a:pt x="551977" y="2749809"/>
                </a:lnTo>
                <a:lnTo>
                  <a:pt x="599355" y="2744872"/>
                </a:lnTo>
                <a:lnTo>
                  <a:pt x="647700" y="2743200"/>
                </a:lnTo>
                <a:lnTo>
                  <a:pt x="696044" y="2744872"/>
                </a:lnTo>
                <a:lnTo>
                  <a:pt x="743422" y="2749809"/>
                </a:lnTo>
                <a:lnTo>
                  <a:pt x="789709" y="2757894"/>
                </a:lnTo>
                <a:lnTo>
                  <a:pt x="834780" y="2769009"/>
                </a:lnTo>
                <a:lnTo>
                  <a:pt x="878510" y="2783036"/>
                </a:lnTo>
                <a:lnTo>
                  <a:pt x="920773" y="2799857"/>
                </a:lnTo>
                <a:lnTo>
                  <a:pt x="961444" y="2819354"/>
                </a:lnTo>
                <a:lnTo>
                  <a:pt x="1000398" y="2841409"/>
                </a:lnTo>
                <a:lnTo>
                  <a:pt x="1037511" y="2865904"/>
                </a:lnTo>
                <a:lnTo>
                  <a:pt x="1072656" y="2892723"/>
                </a:lnTo>
                <a:lnTo>
                  <a:pt x="1105709" y="2921746"/>
                </a:lnTo>
                <a:lnTo>
                  <a:pt x="1136545" y="2952855"/>
                </a:lnTo>
                <a:lnTo>
                  <a:pt x="1165037" y="2985934"/>
                </a:lnTo>
                <a:lnTo>
                  <a:pt x="1191062" y="3020864"/>
                </a:lnTo>
                <a:lnTo>
                  <a:pt x="1214494" y="3057527"/>
                </a:lnTo>
                <a:lnTo>
                  <a:pt x="1235208" y="3095806"/>
                </a:lnTo>
                <a:lnTo>
                  <a:pt x="1253078" y="3135582"/>
                </a:lnTo>
                <a:lnTo>
                  <a:pt x="1267980" y="3176737"/>
                </a:lnTo>
                <a:lnTo>
                  <a:pt x="1279788" y="3219155"/>
                </a:lnTo>
                <a:lnTo>
                  <a:pt x="1288378" y="3262716"/>
                </a:lnTo>
                <a:lnTo>
                  <a:pt x="1293623" y="3307304"/>
                </a:lnTo>
                <a:lnTo>
                  <a:pt x="1295400" y="3352800"/>
                </a:lnTo>
                <a:lnTo>
                  <a:pt x="1293623" y="3398279"/>
                </a:lnTo>
                <a:lnTo>
                  <a:pt x="1288378" y="3442854"/>
                </a:lnTo>
                <a:lnTo>
                  <a:pt x="1279788" y="3486405"/>
                </a:lnTo>
                <a:lnTo>
                  <a:pt x="1267980" y="3528815"/>
                </a:lnTo>
                <a:lnTo>
                  <a:pt x="1253078" y="3569966"/>
                </a:lnTo>
                <a:lnTo>
                  <a:pt x="1235208" y="3609738"/>
                </a:lnTo>
                <a:lnTo>
                  <a:pt x="1214494" y="3648015"/>
                </a:lnTo>
                <a:lnTo>
                  <a:pt x="1191062" y="3684679"/>
                </a:lnTo>
                <a:lnTo>
                  <a:pt x="1165037" y="3719610"/>
                </a:lnTo>
                <a:lnTo>
                  <a:pt x="1136545" y="3752692"/>
                </a:lnTo>
                <a:lnTo>
                  <a:pt x="1105709" y="3783806"/>
                </a:lnTo>
                <a:lnTo>
                  <a:pt x="1072656" y="3812833"/>
                </a:lnTo>
                <a:lnTo>
                  <a:pt x="1037511" y="3839657"/>
                </a:lnTo>
                <a:lnTo>
                  <a:pt x="1000398" y="3864158"/>
                </a:lnTo>
                <a:lnTo>
                  <a:pt x="961444" y="3886219"/>
                </a:lnTo>
                <a:lnTo>
                  <a:pt x="920773" y="3905722"/>
                </a:lnTo>
                <a:lnTo>
                  <a:pt x="878510" y="3922548"/>
                </a:lnTo>
                <a:lnTo>
                  <a:pt x="834780" y="3936580"/>
                </a:lnTo>
                <a:lnTo>
                  <a:pt x="789709" y="3947699"/>
                </a:lnTo>
                <a:lnTo>
                  <a:pt x="743422" y="3955787"/>
                </a:lnTo>
                <a:lnTo>
                  <a:pt x="696044" y="3960727"/>
                </a:lnTo>
                <a:lnTo>
                  <a:pt x="647700" y="3962400"/>
                </a:lnTo>
                <a:lnTo>
                  <a:pt x="599355" y="3960727"/>
                </a:lnTo>
                <a:lnTo>
                  <a:pt x="551977" y="3955787"/>
                </a:lnTo>
                <a:lnTo>
                  <a:pt x="505690" y="3947699"/>
                </a:lnTo>
                <a:lnTo>
                  <a:pt x="460619" y="3936580"/>
                </a:lnTo>
                <a:lnTo>
                  <a:pt x="416889" y="3922548"/>
                </a:lnTo>
                <a:lnTo>
                  <a:pt x="374626" y="3905722"/>
                </a:lnTo>
                <a:lnTo>
                  <a:pt x="333955" y="3886219"/>
                </a:lnTo>
                <a:lnTo>
                  <a:pt x="295001" y="3864158"/>
                </a:lnTo>
                <a:lnTo>
                  <a:pt x="257888" y="3839657"/>
                </a:lnTo>
                <a:lnTo>
                  <a:pt x="222743" y="3812833"/>
                </a:lnTo>
                <a:lnTo>
                  <a:pt x="189690" y="3783806"/>
                </a:lnTo>
                <a:lnTo>
                  <a:pt x="158854" y="3752692"/>
                </a:lnTo>
                <a:lnTo>
                  <a:pt x="130362" y="3719610"/>
                </a:lnTo>
                <a:lnTo>
                  <a:pt x="104337" y="3684679"/>
                </a:lnTo>
                <a:lnTo>
                  <a:pt x="80905" y="3648015"/>
                </a:lnTo>
                <a:lnTo>
                  <a:pt x="60191" y="3609738"/>
                </a:lnTo>
                <a:lnTo>
                  <a:pt x="42321" y="3569966"/>
                </a:lnTo>
                <a:lnTo>
                  <a:pt x="27419" y="3528815"/>
                </a:lnTo>
                <a:lnTo>
                  <a:pt x="15611" y="3486405"/>
                </a:lnTo>
                <a:lnTo>
                  <a:pt x="7021" y="3442854"/>
                </a:lnTo>
                <a:lnTo>
                  <a:pt x="1776" y="3398279"/>
                </a:lnTo>
                <a:lnTo>
                  <a:pt x="0" y="3352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91153" y="4382465"/>
            <a:ext cx="5238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200" spc="-5" dirty="0">
                <a:latin typeface="Arial MT"/>
                <a:cs typeface="Arial MT"/>
              </a:rPr>
              <a:t>P2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24326" y="2531998"/>
            <a:ext cx="2200275" cy="2200910"/>
          </a:xfrm>
          <a:custGeom>
            <a:avLst/>
            <a:gdLst/>
            <a:ahLst/>
            <a:cxnLst/>
            <a:rect l="l" t="t" r="r" b="b"/>
            <a:pathLst>
              <a:path w="2200275" h="2200910">
                <a:moveTo>
                  <a:pt x="133350" y="1390650"/>
                </a:moveTo>
                <a:lnTo>
                  <a:pt x="88900" y="1390650"/>
                </a:lnTo>
                <a:lnTo>
                  <a:pt x="88900" y="0"/>
                </a:lnTo>
                <a:lnTo>
                  <a:pt x="44450" y="0"/>
                </a:lnTo>
                <a:lnTo>
                  <a:pt x="44450" y="1390650"/>
                </a:lnTo>
                <a:lnTo>
                  <a:pt x="0" y="1390650"/>
                </a:lnTo>
                <a:lnTo>
                  <a:pt x="66675" y="1524000"/>
                </a:lnTo>
                <a:lnTo>
                  <a:pt x="122237" y="1412875"/>
                </a:lnTo>
                <a:lnTo>
                  <a:pt x="133350" y="1390650"/>
                </a:lnTo>
                <a:close/>
              </a:path>
              <a:path w="2200275" h="2200910">
                <a:moveTo>
                  <a:pt x="2200275" y="2111375"/>
                </a:moveTo>
                <a:lnTo>
                  <a:pt x="885825" y="2111502"/>
                </a:lnTo>
                <a:lnTo>
                  <a:pt x="885825" y="2067052"/>
                </a:lnTo>
                <a:lnTo>
                  <a:pt x="752475" y="2133727"/>
                </a:lnTo>
                <a:lnTo>
                  <a:pt x="885825" y="2200402"/>
                </a:lnTo>
                <a:lnTo>
                  <a:pt x="885825" y="2155952"/>
                </a:lnTo>
                <a:lnTo>
                  <a:pt x="2200275" y="2155825"/>
                </a:lnTo>
                <a:lnTo>
                  <a:pt x="2200275" y="2111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45789" y="5268264"/>
            <a:ext cx="10909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spc="-10" dirty="0">
                <a:latin typeface="Courier New"/>
                <a:cs typeface="Courier New"/>
              </a:rPr>
              <a:t>Child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99709" y="4264532"/>
            <a:ext cx="756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latin typeface="Courier New"/>
                <a:cs typeface="Courier New"/>
              </a:rPr>
              <a:t>exec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24600" y="4360863"/>
            <a:ext cx="609600" cy="588623"/>
          </a:xfrm>
          <a:prstGeom prst="rect">
            <a:avLst/>
          </a:prstGeom>
          <a:ln w="44450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39700">
              <a:spcBef>
                <a:spcPts val="270"/>
              </a:spcBef>
            </a:pPr>
            <a:r>
              <a:rPr sz="3600" dirty="0">
                <a:latin typeface="Arial MT"/>
                <a:cs typeface="Arial MT"/>
              </a:rPr>
              <a:t>ls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001000" y="1312925"/>
            <a:ext cx="1295400" cy="1219200"/>
          </a:xfrm>
          <a:custGeom>
            <a:avLst/>
            <a:gdLst/>
            <a:ahLst/>
            <a:cxnLst/>
            <a:rect l="l" t="t" r="r" b="b"/>
            <a:pathLst>
              <a:path w="1295400" h="1219200">
                <a:moveTo>
                  <a:pt x="0" y="609600"/>
                </a:moveTo>
                <a:lnTo>
                  <a:pt x="1776" y="564104"/>
                </a:lnTo>
                <a:lnTo>
                  <a:pt x="7021" y="519516"/>
                </a:lnTo>
                <a:lnTo>
                  <a:pt x="15611" y="475955"/>
                </a:lnTo>
                <a:lnTo>
                  <a:pt x="27419" y="433537"/>
                </a:lnTo>
                <a:lnTo>
                  <a:pt x="42321" y="392382"/>
                </a:lnTo>
                <a:lnTo>
                  <a:pt x="60191" y="352606"/>
                </a:lnTo>
                <a:lnTo>
                  <a:pt x="80905" y="314327"/>
                </a:lnTo>
                <a:lnTo>
                  <a:pt x="104337" y="277664"/>
                </a:lnTo>
                <a:lnTo>
                  <a:pt x="130362" y="242734"/>
                </a:lnTo>
                <a:lnTo>
                  <a:pt x="158854" y="209655"/>
                </a:lnTo>
                <a:lnTo>
                  <a:pt x="189690" y="178546"/>
                </a:lnTo>
                <a:lnTo>
                  <a:pt x="222743" y="149523"/>
                </a:lnTo>
                <a:lnTo>
                  <a:pt x="257888" y="122704"/>
                </a:lnTo>
                <a:lnTo>
                  <a:pt x="295001" y="98209"/>
                </a:lnTo>
                <a:lnTo>
                  <a:pt x="333955" y="76154"/>
                </a:lnTo>
                <a:lnTo>
                  <a:pt x="374626" y="56657"/>
                </a:lnTo>
                <a:lnTo>
                  <a:pt x="416889" y="39836"/>
                </a:lnTo>
                <a:lnTo>
                  <a:pt x="460619" y="25809"/>
                </a:lnTo>
                <a:lnTo>
                  <a:pt x="505690" y="14694"/>
                </a:lnTo>
                <a:lnTo>
                  <a:pt x="551977" y="6609"/>
                </a:lnTo>
                <a:lnTo>
                  <a:pt x="599355" y="1672"/>
                </a:lnTo>
                <a:lnTo>
                  <a:pt x="647700" y="0"/>
                </a:lnTo>
                <a:lnTo>
                  <a:pt x="696044" y="1672"/>
                </a:lnTo>
                <a:lnTo>
                  <a:pt x="743422" y="6609"/>
                </a:lnTo>
                <a:lnTo>
                  <a:pt x="789709" y="14694"/>
                </a:lnTo>
                <a:lnTo>
                  <a:pt x="834780" y="25809"/>
                </a:lnTo>
                <a:lnTo>
                  <a:pt x="878510" y="39836"/>
                </a:lnTo>
                <a:lnTo>
                  <a:pt x="920773" y="56657"/>
                </a:lnTo>
                <a:lnTo>
                  <a:pt x="961444" y="76154"/>
                </a:lnTo>
                <a:lnTo>
                  <a:pt x="1000398" y="98209"/>
                </a:lnTo>
                <a:lnTo>
                  <a:pt x="1037511" y="122704"/>
                </a:lnTo>
                <a:lnTo>
                  <a:pt x="1072656" y="149523"/>
                </a:lnTo>
                <a:lnTo>
                  <a:pt x="1105709" y="178546"/>
                </a:lnTo>
                <a:lnTo>
                  <a:pt x="1136545" y="209655"/>
                </a:lnTo>
                <a:lnTo>
                  <a:pt x="1165037" y="242734"/>
                </a:lnTo>
                <a:lnTo>
                  <a:pt x="1191062" y="277664"/>
                </a:lnTo>
                <a:lnTo>
                  <a:pt x="1214494" y="314327"/>
                </a:lnTo>
                <a:lnTo>
                  <a:pt x="1235208" y="352606"/>
                </a:lnTo>
                <a:lnTo>
                  <a:pt x="1253078" y="392382"/>
                </a:lnTo>
                <a:lnTo>
                  <a:pt x="1267980" y="433537"/>
                </a:lnTo>
                <a:lnTo>
                  <a:pt x="1279788" y="475955"/>
                </a:lnTo>
                <a:lnTo>
                  <a:pt x="1288378" y="519516"/>
                </a:lnTo>
                <a:lnTo>
                  <a:pt x="1293623" y="564104"/>
                </a:lnTo>
                <a:lnTo>
                  <a:pt x="1295400" y="609600"/>
                </a:lnTo>
                <a:lnTo>
                  <a:pt x="1293623" y="655079"/>
                </a:lnTo>
                <a:lnTo>
                  <a:pt x="1288378" y="699654"/>
                </a:lnTo>
                <a:lnTo>
                  <a:pt x="1279788" y="743205"/>
                </a:lnTo>
                <a:lnTo>
                  <a:pt x="1267980" y="785615"/>
                </a:lnTo>
                <a:lnTo>
                  <a:pt x="1253078" y="826766"/>
                </a:lnTo>
                <a:lnTo>
                  <a:pt x="1235208" y="866538"/>
                </a:lnTo>
                <a:lnTo>
                  <a:pt x="1214494" y="904815"/>
                </a:lnTo>
                <a:lnTo>
                  <a:pt x="1191062" y="941479"/>
                </a:lnTo>
                <a:lnTo>
                  <a:pt x="1165037" y="976410"/>
                </a:lnTo>
                <a:lnTo>
                  <a:pt x="1136545" y="1009492"/>
                </a:lnTo>
                <a:lnTo>
                  <a:pt x="1105709" y="1040606"/>
                </a:lnTo>
                <a:lnTo>
                  <a:pt x="1072656" y="1069633"/>
                </a:lnTo>
                <a:lnTo>
                  <a:pt x="1037511" y="1096457"/>
                </a:lnTo>
                <a:lnTo>
                  <a:pt x="1000398" y="1120958"/>
                </a:lnTo>
                <a:lnTo>
                  <a:pt x="961444" y="1143019"/>
                </a:lnTo>
                <a:lnTo>
                  <a:pt x="920773" y="1162522"/>
                </a:lnTo>
                <a:lnTo>
                  <a:pt x="878510" y="1179348"/>
                </a:lnTo>
                <a:lnTo>
                  <a:pt x="834780" y="1193380"/>
                </a:lnTo>
                <a:lnTo>
                  <a:pt x="789709" y="1204499"/>
                </a:lnTo>
                <a:lnTo>
                  <a:pt x="743422" y="1212587"/>
                </a:lnTo>
                <a:lnTo>
                  <a:pt x="696044" y="1217527"/>
                </a:lnTo>
                <a:lnTo>
                  <a:pt x="647700" y="1219200"/>
                </a:lnTo>
                <a:lnTo>
                  <a:pt x="599355" y="1217527"/>
                </a:lnTo>
                <a:lnTo>
                  <a:pt x="551977" y="1212587"/>
                </a:lnTo>
                <a:lnTo>
                  <a:pt x="505690" y="1204499"/>
                </a:lnTo>
                <a:lnTo>
                  <a:pt x="460619" y="1193380"/>
                </a:lnTo>
                <a:lnTo>
                  <a:pt x="416889" y="1179348"/>
                </a:lnTo>
                <a:lnTo>
                  <a:pt x="374626" y="1162522"/>
                </a:lnTo>
                <a:lnTo>
                  <a:pt x="333955" y="1143019"/>
                </a:lnTo>
                <a:lnTo>
                  <a:pt x="295001" y="1120958"/>
                </a:lnTo>
                <a:lnTo>
                  <a:pt x="257888" y="1096457"/>
                </a:lnTo>
                <a:lnTo>
                  <a:pt x="222743" y="1069633"/>
                </a:lnTo>
                <a:lnTo>
                  <a:pt x="189690" y="1040606"/>
                </a:lnTo>
                <a:lnTo>
                  <a:pt x="158854" y="1009492"/>
                </a:lnTo>
                <a:lnTo>
                  <a:pt x="130362" y="976410"/>
                </a:lnTo>
                <a:lnTo>
                  <a:pt x="104337" y="941479"/>
                </a:lnTo>
                <a:lnTo>
                  <a:pt x="80905" y="904815"/>
                </a:lnTo>
                <a:lnTo>
                  <a:pt x="60191" y="866538"/>
                </a:lnTo>
                <a:lnTo>
                  <a:pt x="42321" y="826766"/>
                </a:lnTo>
                <a:lnTo>
                  <a:pt x="27419" y="785615"/>
                </a:lnTo>
                <a:lnTo>
                  <a:pt x="15611" y="743205"/>
                </a:lnTo>
                <a:lnTo>
                  <a:pt x="7021" y="699654"/>
                </a:lnTo>
                <a:lnTo>
                  <a:pt x="1776" y="655079"/>
                </a:lnTo>
                <a:lnTo>
                  <a:pt x="0" y="609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967352" y="1638758"/>
            <a:ext cx="4944110" cy="18729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4432935" algn="l"/>
              </a:tabLst>
            </a:pPr>
            <a:r>
              <a:rPr sz="3200" spc="-5" dirty="0">
                <a:latin typeface="Arial MT"/>
                <a:cs typeface="Arial MT"/>
              </a:rPr>
              <a:t>P</a:t>
            </a:r>
            <a:r>
              <a:rPr sz="3200" dirty="0">
                <a:latin typeface="Arial MT"/>
                <a:cs typeface="Arial MT"/>
              </a:rPr>
              <a:t>1	</a:t>
            </a:r>
            <a:r>
              <a:rPr sz="3200" spc="-5" dirty="0">
                <a:latin typeface="Arial MT"/>
                <a:cs typeface="Arial MT"/>
              </a:rPr>
              <a:t>P</a:t>
            </a:r>
            <a:r>
              <a:rPr sz="3200" dirty="0">
                <a:latin typeface="Arial MT"/>
                <a:cs typeface="Arial MT"/>
              </a:rPr>
              <a:t>1</a:t>
            </a:r>
            <a:endParaRPr sz="3200">
              <a:latin typeface="Arial MT"/>
              <a:cs typeface="Arial MT"/>
            </a:endParaRPr>
          </a:p>
          <a:p>
            <a:pPr>
              <a:spcBef>
                <a:spcPts val="55"/>
              </a:spcBef>
            </a:pPr>
            <a:endParaRPr sz="5200">
              <a:latin typeface="Arial MT"/>
              <a:cs typeface="Arial MT"/>
            </a:endParaRPr>
          </a:p>
          <a:p>
            <a:pPr marL="391795"/>
            <a:r>
              <a:rPr sz="3600" b="1" spc="-5" dirty="0">
                <a:latin typeface="Courier New"/>
                <a:cs typeface="Courier New"/>
              </a:rPr>
              <a:t>fork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924800" y="4056126"/>
            <a:ext cx="1295400" cy="1219200"/>
          </a:xfrm>
          <a:custGeom>
            <a:avLst/>
            <a:gdLst/>
            <a:ahLst/>
            <a:cxnLst/>
            <a:rect l="l" t="t" r="r" b="b"/>
            <a:pathLst>
              <a:path w="1295400" h="1219200">
                <a:moveTo>
                  <a:pt x="0" y="609600"/>
                </a:moveTo>
                <a:lnTo>
                  <a:pt x="1776" y="564104"/>
                </a:lnTo>
                <a:lnTo>
                  <a:pt x="7021" y="519516"/>
                </a:lnTo>
                <a:lnTo>
                  <a:pt x="15611" y="475955"/>
                </a:lnTo>
                <a:lnTo>
                  <a:pt x="27419" y="433537"/>
                </a:lnTo>
                <a:lnTo>
                  <a:pt x="42321" y="392382"/>
                </a:lnTo>
                <a:lnTo>
                  <a:pt x="60191" y="352606"/>
                </a:lnTo>
                <a:lnTo>
                  <a:pt x="80905" y="314327"/>
                </a:lnTo>
                <a:lnTo>
                  <a:pt x="104337" y="277664"/>
                </a:lnTo>
                <a:lnTo>
                  <a:pt x="130362" y="242734"/>
                </a:lnTo>
                <a:lnTo>
                  <a:pt x="158854" y="209655"/>
                </a:lnTo>
                <a:lnTo>
                  <a:pt x="189690" y="178546"/>
                </a:lnTo>
                <a:lnTo>
                  <a:pt x="222743" y="149523"/>
                </a:lnTo>
                <a:lnTo>
                  <a:pt x="257888" y="122704"/>
                </a:lnTo>
                <a:lnTo>
                  <a:pt x="295001" y="98209"/>
                </a:lnTo>
                <a:lnTo>
                  <a:pt x="333955" y="76154"/>
                </a:lnTo>
                <a:lnTo>
                  <a:pt x="374626" y="56657"/>
                </a:lnTo>
                <a:lnTo>
                  <a:pt x="416889" y="39836"/>
                </a:lnTo>
                <a:lnTo>
                  <a:pt x="460619" y="25809"/>
                </a:lnTo>
                <a:lnTo>
                  <a:pt x="505690" y="14694"/>
                </a:lnTo>
                <a:lnTo>
                  <a:pt x="551977" y="6609"/>
                </a:lnTo>
                <a:lnTo>
                  <a:pt x="599355" y="1672"/>
                </a:lnTo>
                <a:lnTo>
                  <a:pt x="647700" y="0"/>
                </a:lnTo>
                <a:lnTo>
                  <a:pt x="696044" y="1672"/>
                </a:lnTo>
                <a:lnTo>
                  <a:pt x="743422" y="6609"/>
                </a:lnTo>
                <a:lnTo>
                  <a:pt x="789709" y="14694"/>
                </a:lnTo>
                <a:lnTo>
                  <a:pt x="834780" y="25809"/>
                </a:lnTo>
                <a:lnTo>
                  <a:pt x="878510" y="39836"/>
                </a:lnTo>
                <a:lnTo>
                  <a:pt x="920773" y="56657"/>
                </a:lnTo>
                <a:lnTo>
                  <a:pt x="961444" y="76154"/>
                </a:lnTo>
                <a:lnTo>
                  <a:pt x="1000398" y="98209"/>
                </a:lnTo>
                <a:lnTo>
                  <a:pt x="1037511" y="122704"/>
                </a:lnTo>
                <a:lnTo>
                  <a:pt x="1072656" y="149523"/>
                </a:lnTo>
                <a:lnTo>
                  <a:pt x="1105709" y="178546"/>
                </a:lnTo>
                <a:lnTo>
                  <a:pt x="1136545" y="209655"/>
                </a:lnTo>
                <a:lnTo>
                  <a:pt x="1165037" y="242734"/>
                </a:lnTo>
                <a:lnTo>
                  <a:pt x="1191062" y="277664"/>
                </a:lnTo>
                <a:lnTo>
                  <a:pt x="1214494" y="314327"/>
                </a:lnTo>
                <a:lnTo>
                  <a:pt x="1235208" y="352606"/>
                </a:lnTo>
                <a:lnTo>
                  <a:pt x="1253078" y="392382"/>
                </a:lnTo>
                <a:lnTo>
                  <a:pt x="1267980" y="433537"/>
                </a:lnTo>
                <a:lnTo>
                  <a:pt x="1279788" y="475955"/>
                </a:lnTo>
                <a:lnTo>
                  <a:pt x="1288378" y="519516"/>
                </a:lnTo>
                <a:lnTo>
                  <a:pt x="1293623" y="564104"/>
                </a:lnTo>
                <a:lnTo>
                  <a:pt x="1295400" y="609600"/>
                </a:lnTo>
                <a:lnTo>
                  <a:pt x="1293623" y="655079"/>
                </a:lnTo>
                <a:lnTo>
                  <a:pt x="1288378" y="699654"/>
                </a:lnTo>
                <a:lnTo>
                  <a:pt x="1279788" y="743205"/>
                </a:lnTo>
                <a:lnTo>
                  <a:pt x="1267980" y="785615"/>
                </a:lnTo>
                <a:lnTo>
                  <a:pt x="1253078" y="826766"/>
                </a:lnTo>
                <a:lnTo>
                  <a:pt x="1235208" y="866538"/>
                </a:lnTo>
                <a:lnTo>
                  <a:pt x="1214494" y="904815"/>
                </a:lnTo>
                <a:lnTo>
                  <a:pt x="1191062" y="941479"/>
                </a:lnTo>
                <a:lnTo>
                  <a:pt x="1165037" y="976410"/>
                </a:lnTo>
                <a:lnTo>
                  <a:pt x="1136545" y="1009492"/>
                </a:lnTo>
                <a:lnTo>
                  <a:pt x="1105709" y="1040606"/>
                </a:lnTo>
                <a:lnTo>
                  <a:pt x="1072656" y="1069633"/>
                </a:lnTo>
                <a:lnTo>
                  <a:pt x="1037511" y="1096457"/>
                </a:lnTo>
                <a:lnTo>
                  <a:pt x="1000398" y="1120958"/>
                </a:lnTo>
                <a:lnTo>
                  <a:pt x="961444" y="1143019"/>
                </a:lnTo>
                <a:lnTo>
                  <a:pt x="920773" y="1162522"/>
                </a:lnTo>
                <a:lnTo>
                  <a:pt x="878510" y="1179348"/>
                </a:lnTo>
                <a:lnTo>
                  <a:pt x="834780" y="1193380"/>
                </a:lnTo>
                <a:lnTo>
                  <a:pt x="789709" y="1204499"/>
                </a:lnTo>
                <a:lnTo>
                  <a:pt x="743422" y="1212587"/>
                </a:lnTo>
                <a:lnTo>
                  <a:pt x="696044" y="1217527"/>
                </a:lnTo>
                <a:lnTo>
                  <a:pt x="647700" y="1219200"/>
                </a:lnTo>
                <a:lnTo>
                  <a:pt x="599355" y="1217527"/>
                </a:lnTo>
                <a:lnTo>
                  <a:pt x="551977" y="1212587"/>
                </a:lnTo>
                <a:lnTo>
                  <a:pt x="505690" y="1204499"/>
                </a:lnTo>
                <a:lnTo>
                  <a:pt x="460619" y="1193380"/>
                </a:lnTo>
                <a:lnTo>
                  <a:pt x="416889" y="1179348"/>
                </a:lnTo>
                <a:lnTo>
                  <a:pt x="374626" y="1162522"/>
                </a:lnTo>
                <a:lnTo>
                  <a:pt x="333955" y="1143019"/>
                </a:lnTo>
                <a:lnTo>
                  <a:pt x="295001" y="1120958"/>
                </a:lnTo>
                <a:lnTo>
                  <a:pt x="257888" y="1096457"/>
                </a:lnTo>
                <a:lnTo>
                  <a:pt x="222743" y="1069633"/>
                </a:lnTo>
                <a:lnTo>
                  <a:pt x="189690" y="1040606"/>
                </a:lnTo>
                <a:lnTo>
                  <a:pt x="158854" y="1009492"/>
                </a:lnTo>
                <a:lnTo>
                  <a:pt x="130362" y="976410"/>
                </a:lnTo>
                <a:lnTo>
                  <a:pt x="104337" y="941479"/>
                </a:lnTo>
                <a:lnTo>
                  <a:pt x="80905" y="904815"/>
                </a:lnTo>
                <a:lnTo>
                  <a:pt x="60191" y="866538"/>
                </a:lnTo>
                <a:lnTo>
                  <a:pt x="42321" y="826766"/>
                </a:lnTo>
                <a:lnTo>
                  <a:pt x="27419" y="785615"/>
                </a:lnTo>
                <a:lnTo>
                  <a:pt x="15611" y="743205"/>
                </a:lnTo>
                <a:lnTo>
                  <a:pt x="7021" y="699654"/>
                </a:lnTo>
                <a:lnTo>
                  <a:pt x="1776" y="655079"/>
                </a:lnTo>
                <a:lnTo>
                  <a:pt x="0" y="609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413750" y="4382465"/>
            <a:ext cx="3187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200" spc="-5" dirty="0">
                <a:latin typeface="Arial MT"/>
                <a:cs typeface="Arial MT"/>
              </a:rPr>
              <a:t>ls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543925" y="2531998"/>
            <a:ext cx="133350" cy="1524000"/>
          </a:xfrm>
          <a:custGeom>
            <a:avLst/>
            <a:gdLst/>
            <a:ahLst/>
            <a:cxnLst/>
            <a:rect l="l" t="t" r="r" b="b"/>
            <a:pathLst>
              <a:path w="133350" h="1524000">
                <a:moveTo>
                  <a:pt x="44450" y="1390650"/>
                </a:moveTo>
                <a:lnTo>
                  <a:pt x="0" y="1390650"/>
                </a:lnTo>
                <a:lnTo>
                  <a:pt x="66675" y="1524000"/>
                </a:lnTo>
                <a:lnTo>
                  <a:pt x="122237" y="1412875"/>
                </a:lnTo>
                <a:lnTo>
                  <a:pt x="44450" y="1412875"/>
                </a:lnTo>
                <a:lnTo>
                  <a:pt x="44450" y="1390650"/>
                </a:lnTo>
                <a:close/>
              </a:path>
              <a:path w="133350" h="1524000">
                <a:moveTo>
                  <a:pt x="88900" y="0"/>
                </a:moveTo>
                <a:lnTo>
                  <a:pt x="44450" y="0"/>
                </a:lnTo>
                <a:lnTo>
                  <a:pt x="44450" y="1412875"/>
                </a:lnTo>
                <a:lnTo>
                  <a:pt x="88900" y="1412875"/>
                </a:lnTo>
                <a:lnTo>
                  <a:pt x="88900" y="0"/>
                </a:lnTo>
                <a:close/>
              </a:path>
              <a:path w="133350" h="1524000">
                <a:moveTo>
                  <a:pt x="133350" y="1390650"/>
                </a:moveTo>
                <a:lnTo>
                  <a:pt x="88900" y="1390650"/>
                </a:lnTo>
                <a:lnTo>
                  <a:pt x="88900" y="1412875"/>
                </a:lnTo>
                <a:lnTo>
                  <a:pt x="122237" y="1412875"/>
                </a:lnTo>
                <a:lnTo>
                  <a:pt x="133350" y="1390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066278" y="5268264"/>
            <a:ext cx="10909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b="1" spc="-10" dirty="0">
                <a:latin typeface="Courier New"/>
                <a:cs typeface="Courier New"/>
              </a:rPr>
              <a:t>Child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23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97009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5382" y="19304"/>
            <a:ext cx="7396480" cy="6051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Example</a:t>
            </a:r>
            <a:r>
              <a:rPr sz="3800" spc="-35" dirty="0"/>
              <a:t> </a:t>
            </a:r>
            <a:r>
              <a:rPr sz="3800" dirty="0"/>
              <a:t>3</a:t>
            </a:r>
            <a:r>
              <a:rPr sz="3800" spc="-20" dirty="0"/>
              <a:t> </a:t>
            </a:r>
            <a:r>
              <a:rPr sz="3800" dirty="0"/>
              <a:t>-</a:t>
            </a:r>
            <a:r>
              <a:rPr sz="3800" spc="-15" dirty="0"/>
              <a:t> </a:t>
            </a:r>
            <a:r>
              <a:rPr sz="3800" spc="-5" dirty="0"/>
              <a:t>execlp()</a:t>
            </a:r>
            <a:r>
              <a:rPr sz="3800" spc="-30" dirty="0"/>
              <a:t> </a:t>
            </a:r>
            <a:r>
              <a:rPr sz="3800" dirty="0"/>
              <a:t>system</a:t>
            </a:r>
            <a:r>
              <a:rPr sz="3800" spc="-30" dirty="0"/>
              <a:t> </a:t>
            </a:r>
            <a:r>
              <a:rPr sz="3800" dirty="0"/>
              <a:t>call</a:t>
            </a:r>
            <a:endParaRPr sz="3800"/>
          </a:p>
        </p:txBody>
      </p:sp>
      <p:sp>
        <p:nvSpPr>
          <p:cNvPr id="4" name="object 4"/>
          <p:cNvSpPr/>
          <p:nvPr/>
        </p:nvSpPr>
        <p:spPr>
          <a:xfrm>
            <a:off x="2133600" y="609598"/>
            <a:ext cx="7924800" cy="6172200"/>
          </a:xfrm>
          <a:custGeom>
            <a:avLst/>
            <a:gdLst/>
            <a:ahLst/>
            <a:cxnLst/>
            <a:rect l="l" t="t" r="r" b="b"/>
            <a:pathLst>
              <a:path w="7924800" h="6172200">
                <a:moveTo>
                  <a:pt x="0" y="6172200"/>
                </a:moveTo>
                <a:lnTo>
                  <a:pt x="7924800" y="6172200"/>
                </a:lnTo>
                <a:lnTo>
                  <a:pt x="7924800" y="0"/>
                </a:lnTo>
                <a:lnTo>
                  <a:pt x="0" y="0"/>
                </a:lnTo>
                <a:lnTo>
                  <a:pt x="0" y="6172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12340" y="573989"/>
            <a:ext cx="7493000" cy="578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0" dirty="0">
                <a:latin typeface="Courier New"/>
                <a:cs typeface="Courier New"/>
              </a:rPr>
              <a:t>//fork3.c</a:t>
            </a:r>
            <a:endParaRPr>
              <a:latin typeface="Courier New"/>
              <a:cs typeface="Courier New"/>
            </a:endParaRPr>
          </a:p>
          <a:p>
            <a:pPr marL="12700"/>
            <a:r>
              <a:rPr i="1" spc="-5" dirty="0">
                <a:latin typeface="Courier New"/>
                <a:cs typeface="Courier New"/>
              </a:rPr>
              <a:t>int</a:t>
            </a:r>
            <a:r>
              <a:rPr i="1" spc="-65" dirty="0"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2700"/>
            <a:r>
              <a:rPr i="1"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55600" marR="4808220"/>
            <a:r>
              <a:rPr i="1" spc="-5" dirty="0">
                <a:latin typeface="Courier New"/>
                <a:cs typeface="Courier New"/>
              </a:rPr>
              <a:t>int</a:t>
            </a:r>
            <a:r>
              <a:rPr i="1" spc="-55" dirty="0"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cpid,</a:t>
            </a:r>
            <a:r>
              <a:rPr i="1" spc="-50" dirty="0"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status; </a:t>
            </a:r>
            <a:r>
              <a:rPr i="1" spc="-1065" dirty="0"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cpid</a:t>
            </a:r>
            <a:r>
              <a:rPr i="1" spc="1060" dirty="0">
                <a:latin typeface="Courier New"/>
                <a:cs typeface="Courier New"/>
              </a:rPr>
              <a:t> </a:t>
            </a:r>
            <a:r>
              <a:rPr i="1" dirty="0">
                <a:latin typeface="Courier New"/>
                <a:cs typeface="Courier New"/>
              </a:rPr>
              <a:t>=</a:t>
            </a:r>
            <a:r>
              <a:rPr i="1" spc="1080" dirty="0"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fork(); </a:t>
            </a:r>
            <a:r>
              <a:rPr i="1" spc="-1065" dirty="0">
                <a:latin typeface="Courier New"/>
                <a:cs typeface="Courier New"/>
              </a:rPr>
              <a:t> </a:t>
            </a:r>
            <a:r>
              <a:rPr i="1" spc="-5" dirty="0">
                <a:latin typeface="Courier New"/>
                <a:cs typeface="Courier New"/>
              </a:rPr>
              <a:t>if</a:t>
            </a:r>
            <a:r>
              <a:rPr i="1" spc="-35" dirty="0">
                <a:latin typeface="Courier New"/>
                <a:cs typeface="Courier New"/>
              </a:rPr>
              <a:t> </a:t>
            </a:r>
            <a:r>
              <a:rPr i="1" spc="-5" dirty="0">
                <a:latin typeface="Courier New"/>
                <a:cs typeface="Courier New"/>
              </a:rPr>
              <a:t>(cpid</a:t>
            </a:r>
            <a:r>
              <a:rPr i="1" spc="-35" dirty="0"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==</a:t>
            </a:r>
            <a:r>
              <a:rPr i="1" spc="-30" dirty="0">
                <a:latin typeface="Courier New"/>
                <a:cs typeface="Courier New"/>
              </a:rPr>
              <a:t> </a:t>
            </a:r>
            <a:r>
              <a:rPr i="1" spc="-5" dirty="0">
                <a:latin typeface="Courier New"/>
                <a:cs typeface="Courier New"/>
              </a:rPr>
              <a:t>-1)</a:t>
            </a:r>
            <a:endParaRPr>
              <a:latin typeface="Courier New"/>
              <a:cs typeface="Courier New"/>
            </a:endParaRPr>
          </a:p>
          <a:p>
            <a:pPr marL="355600">
              <a:spcBef>
                <a:spcPts val="5"/>
              </a:spcBef>
            </a:pPr>
            <a:r>
              <a:rPr i="1"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927100" marR="2870200"/>
            <a:r>
              <a:rPr i="1" spc="-10" dirty="0">
                <a:latin typeface="Courier New"/>
                <a:cs typeface="Courier New"/>
              </a:rPr>
              <a:t>printf (“\nFork failed\n”); </a:t>
            </a:r>
            <a:r>
              <a:rPr i="1" spc="-1070" dirty="0"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exit</a:t>
            </a:r>
            <a:r>
              <a:rPr i="1" spc="-20" dirty="0"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(1);</a:t>
            </a:r>
            <a:endParaRPr>
              <a:latin typeface="Courier New"/>
              <a:cs typeface="Courier New"/>
            </a:endParaRPr>
          </a:p>
          <a:p>
            <a:pPr marL="355600"/>
            <a:r>
              <a:rPr i="1"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355600"/>
            <a:r>
              <a:rPr i="1" spc="-5" dirty="0">
                <a:latin typeface="Courier New"/>
                <a:cs typeface="Courier New"/>
              </a:rPr>
              <a:t>if</a:t>
            </a:r>
            <a:r>
              <a:rPr i="1" spc="-45" dirty="0">
                <a:latin typeface="Courier New"/>
                <a:cs typeface="Courier New"/>
              </a:rPr>
              <a:t> </a:t>
            </a:r>
            <a:r>
              <a:rPr i="1" spc="-5" dirty="0">
                <a:latin typeface="Courier New"/>
                <a:cs typeface="Courier New"/>
              </a:rPr>
              <a:t>(cpid</a:t>
            </a:r>
            <a:r>
              <a:rPr i="1" spc="-40" dirty="0"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==</a:t>
            </a:r>
            <a:r>
              <a:rPr i="1" spc="-40" dirty="0">
                <a:latin typeface="Courier New"/>
                <a:cs typeface="Courier New"/>
              </a:rPr>
              <a:t> </a:t>
            </a:r>
            <a:r>
              <a:rPr i="1" spc="-5" dirty="0">
                <a:latin typeface="Courier New"/>
                <a:cs typeface="Courier New"/>
              </a:rPr>
              <a:t>0){</a:t>
            </a:r>
            <a:endParaRPr>
              <a:latin typeface="Courier New"/>
              <a:cs typeface="Courier New"/>
            </a:endParaRPr>
          </a:p>
          <a:p>
            <a:pPr marL="927100"/>
            <a:r>
              <a:rPr i="1" spc="-10" dirty="0">
                <a:latin typeface="Courier New"/>
                <a:cs typeface="Courier New"/>
              </a:rPr>
              <a:t>execlp(“/bin/ls”,</a:t>
            </a:r>
            <a:r>
              <a:rPr i="1" spc="-20" dirty="0"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“ls”,</a:t>
            </a:r>
            <a:r>
              <a:rPr i="1" spc="-15" dirty="0"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‘\0’);</a:t>
            </a:r>
            <a:endParaRPr>
              <a:latin typeface="Courier New"/>
              <a:cs typeface="Courier New"/>
            </a:endParaRPr>
          </a:p>
          <a:p>
            <a:pPr marL="927100"/>
            <a:r>
              <a:rPr i="1" spc="-10" dirty="0">
                <a:solidFill>
                  <a:srgbClr val="7E7E7E"/>
                </a:solidFill>
                <a:latin typeface="Courier New"/>
                <a:cs typeface="Courier New"/>
              </a:rPr>
              <a:t>//execlp(“/bin/ls”,</a:t>
            </a:r>
            <a:r>
              <a:rPr i="1" spc="-2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i="1" spc="-10" dirty="0">
                <a:solidFill>
                  <a:srgbClr val="7E7E7E"/>
                </a:solidFill>
                <a:latin typeface="Courier New"/>
                <a:cs typeface="Courier New"/>
              </a:rPr>
              <a:t>“ls”,</a:t>
            </a:r>
            <a:r>
              <a:rPr i="1" spc="-2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i="1" spc="-10" dirty="0">
                <a:solidFill>
                  <a:srgbClr val="7E7E7E"/>
                </a:solidFill>
                <a:latin typeface="Courier New"/>
                <a:cs typeface="Courier New"/>
              </a:rPr>
              <a:t>“-la”,</a:t>
            </a:r>
            <a:r>
              <a:rPr i="1" spc="-3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i="1" spc="-10" dirty="0">
                <a:solidFill>
                  <a:srgbClr val="7E7E7E"/>
                </a:solidFill>
                <a:latin typeface="Courier New"/>
                <a:cs typeface="Courier New"/>
              </a:rPr>
              <a:t>‘\0’);</a:t>
            </a:r>
            <a:endParaRPr>
              <a:latin typeface="Courier New"/>
              <a:cs typeface="Courier New"/>
            </a:endParaRPr>
          </a:p>
          <a:p>
            <a:pPr marL="927100"/>
            <a:r>
              <a:rPr i="1" spc="-10" dirty="0">
                <a:solidFill>
                  <a:srgbClr val="7E7E7E"/>
                </a:solidFill>
                <a:latin typeface="Courier New"/>
                <a:cs typeface="Courier New"/>
              </a:rPr>
              <a:t>//execlp(“less”,</a:t>
            </a:r>
            <a:r>
              <a:rPr i="1" spc="-2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i="1" spc="-10" dirty="0">
                <a:solidFill>
                  <a:srgbClr val="7E7E7E"/>
                </a:solidFill>
                <a:latin typeface="Courier New"/>
                <a:cs typeface="Courier New"/>
              </a:rPr>
              <a:t>“myless”,</a:t>
            </a:r>
            <a:r>
              <a:rPr i="1" spc="-2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i="1" spc="-10" dirty="0">
                <a:solidFill>
                  <a:srgbClr val="7E7E7E"/>
                </a:solidFill>
                <a:latin typeface="Courier New"/>
                <a:cs typeface="Courier New"/>
              </a:rPr>
              <a:t>“/etc/passwd”,</a:t>
            </a:r>
            <a:r>
              <a:rPr i="1" spc="-15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i="1" spc="-10" dirty="0">
                <a:solidFill>
                  <a:srgbClr val="7E7E7E"/>
                </a:solidFill>
                <a:latin typeface="Courier New"/>
                <a:cs typeface="Courier New"/>
              </a:rPr>
              <a:t>‘\0’);</a:t>
            </a:r>
            <a:endParaRPr>
              <a:latin typeface="Courier New"/>
              <a:cs typeface="Courier New"/>
            </a:endParaRPr>
          </a:p>
          <a:p>
            <a:pPr marL="927100" marR="1917700"/>
            <a:r>
              <a:rPr i="1" spc="-10" dirty="0">
                <a:solidFill>
                  <a:srgbClr val="7E7E7E"/>
                </a:solidFill>
                <a:latin typeface="Courier New"/>
                <a:cs typeface="Courier New"/>
              </a:rPr>
              <a:t>//execlp(“/bin/cal”, “cal”, ‘\0’); </a:t>
            </a:r>
            <a:r>
              <a:rPr i="1" spc="-107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exit(0);</a:t>
            </a:r>
            <a:endParaRPr>
              <a:latin typeface="Courier New"/>
              <a:cs typeface="Courier New"/>
            </a:endParaRPr>
          </a:p>
          <a:p>
            <a:pPr marL="355600">
              <a:spcBef>
                <a:spcPts val="5"/>
              </a:spcBef>
            </a:pPr>
            <a:r>
              <a:rPr i="1"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355600"/>
            <a:r>
              <a:rPr i="1" spc="-10" dirty="0">
                <a:latin typeface="Courier New"/>
                <a:cs typeface="Courier New"/>
              </a:rPr>
              <a:t>else</a:t>
            </a:r>
            <a:r>
              <a:rPr i="1" spc="-70" dirty="0">
                <a:latin typeface="Courier New"/>
                <a:cs typeface="Courier New"/>
              </a:rPr>
              <a:t> </a:t>
            </a:r>
            <a:r>
              <a:rPr i="1"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927100"/>
            <a:r>
              <a:rPr i="1" spc="-10" dirty="0">
                <a:latin typeface="Courier New"/>
                <a:cs typeface="Courier New"/>
              </a:rPr>
              <a:t>wait(&amp;status);</a:t>
            </a:r>
            <a:endParaRPr>
              <a:latin typeface="Courier New"/>
              <a:cs typeface="Courier New"/>
            </a:endParaRPr>
          </a:p>
          <a:p>
            <a:pPr marL="927100"/>
            <a:r>
              <a:rPr i="1" spc="-10" dirty="0">
                <a:latin typeface="Courier New"/>
                <a:cs typeface="Courier New"/>
              </a:rPr>
              <a:t>printf (“\n</a:t>
            </a:r>
            <a:r>
              <a:rPr i="1" spc="-20" dirty="0"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Hello </a:t>
            </a:r>
            <a:r>
              <a:rPr i="1" dirty="0">
                <a:latin typeface="Courier New"/>
                <a:cs typeface="Courier New"/>
              </a:rPr>
              <a:t>I</a:t>
            </a:r>
            <a:r>
              <a:rPr i="1" spc="-20" dirty="0"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am</a:t>
            </a:r>
            <a:r>
              <a:rPr i="1" spc="-25" dirty="0"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parent</a:t>
            </a:r>
            <a:r>
              <a:rPr i="1" spc="-15" dirty="0">
                <a:latin typeface="Courier New"/>
                <a:cs typeface="Courier New"/>
              </a:rPr>
              <a:t> </a:t>
            </a:r>
            <a:r>
              <a:rPr i="1" spc="-10" dirty="0">
                <a:latin typeface="Courier New"/>
                <a:cs typeface="Courier New"/>
              </a:rPr>
              <a:t>\n”);</a:t>
            </a:r>
            <a:endParaRPr>
              <a:latin typeface="Courier New"/>
              <a:cs typeface="Courier New"/>
            </a:endParaRPr>
          </a:p>
          <a:p>
            <a:pPr marL="422909"/>
            <a:r>
              <a:rPr i="1"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4CC3C-52B3-4CB3-8A65-0F0CF4D6EAB9}" type="slidenum">
              <a:rPr lang="en-PK" smtClean="0"/>
              <a:t>24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960530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S UMT fin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S UMT final" id="{CBCE36D3-05F5-44F6-A4CC-389087D412BE}" vid="{0986A359-476F-454E-A987-D9FB90AED5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 UMT final</Template>
  <TotalTime>1556</TotalTime>
  <Words>1864</Words>
  <Application>Microsoft Office PowerPoint</Application>
  <PresentationFormat>Widescreen</PresentationFormat>
  <Paragraphs>299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Arial</vt:lpstr>
      <vt:lpstr>Arial MT</vt:lpstr>
      <vt:lpstr>Calibri</vt:lpstr>
      <vt:lpstr>Courier New</vt:lpstr>
      <vt:lpstr>Times New Roman</vt:lpstr>
      <vt:lpstr>Tw Cen MT</vt:lpstr>
      <vt:lpstr>Tw Cen MT Condensed</vt:lpstr>
      <vt:lpstr>Tw Cen MT Condensed (Headings)</vt:lpstr>
      <vt:lpstr>Wingdings</vt:lpstr>
      <vt:lpstr>Wingdings 2</vt:lpstr>
      <vt:lpstr>Wingdings 3</vt:lpstr>
      <vt:lpstr>OS UMT final</vt:lpstr>
      <vt:lpstr>Process Creation </vt:lpstr>
      <vt:lpstr>Process Creation</vt:lpstr>
      <vt:lpstr>Process Creation</vt:lpstr>
      <vt:lpstr>Process Creation (cont…)</vt:lpstr>
      <vt:lpstr>Process Creation (cont…)</vt:lpstr>
      <vt:lpstr>PowerPoint Presentation</vt:lpstr>
      <vt:lpstr>PowerPoint Presentation</vt:lpstr>
      <vt:lpstr>Process Management in UNIX/Linux</vt:lpstr>
      <vt:lpstr>fork()</vt:lpstr>
      <vt:lpstr>fork()—Sample Code</vt:lpstr>
      <vt:lpstr>System Call - fork() ...</vt:lpstr>
      <vt:lpstr>fork()—Reasons for Failure</vt:lpstr>
      <vt:lpstr>Using fork() &amp; exit() system call</vt:lpstr>
      <vt:lpstr>Using fork() &amp; exit() system call</vt:lpstr>
      <vt:lpstr>Using fork() &amp; exit() system call</vt:lpstr>
      <vt:lpstr>Example 1 -fork() &amp; exit()</vt:lpstr>
      <vt:lpstr>Process Termination</vt:lpstr>
      <vt:lpstr>Process Termination (cont…)</vt:lpstr>
      <vt:lpstr>System Call - wait()</vt:lpstr>
      <vt:lpstr>System Call - wait()</vt:lpstr>
      <vt:lpstr>Example 2 - wait() system call</vt:lpstr>
      <vt:lpstr>System Call exec()</vt:lpstr>
      <vt:lpstr>System Call exec() Parent Parent</vt:lpstr>
      <vt:lpstr>Example 3 - execlp() system call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Creation</dc:title>
  <dc:creator>Ayesha Asmat</dc:creator>
  <cp:lastModifiedBy>Ayesha Asmat</cp:lastModifiedBy>
  <cp:revision>20</cp:revision>
  <dcterms:created xsi:type="dcterms:W3CDTF">2021-11-03T08:20:03Z</dcterms:created>
  <dcterms:modified xsi:type="dcterms:W3CDTF">2026-04-06T05:05:02Z</dcterms:modified>
</cp:coreProperties>
</file>