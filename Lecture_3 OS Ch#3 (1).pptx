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4316" r:id="rId1"/>
  </p:sldMasterIdLst>
  <p:notesMasterIdLst>
    <p:notesMasterId r:id="rId22"/>
  </p:notesMasterIdLst>
  <p:handoutMasterIdLst>
    <p:handoutMasterId r:id="rId23"/>
  </p:handoutMasterIdLst>
  <p:sldIdLst>
    <p:sldId id="330" r:id="rId2"/>
    <p:sldId id="413" r:id="rId3"/>
    <p:sldId id="414" r:id="rId4"/>
    <p:sldId id="535" r:id="rId5"/>
    <p:sldId id="468" r:id="rId6"/>
    <p:sldId id="415" r:id="rId7"/>
    <p:sldId id="416" r:id="rId8"/>
    <p:sldId id="417" r:id="rId9"/>
    <p:sldId id="421" r:id="rId10"/>
    <p:sldId id="422" r:id="rId11"/>
    <p:sldId id="423" r:id="rId12"/>
    <p:sldId id="500" r:id="rId13"/>
    <p:sldId id="501" r:id="rId14"/>
    <p:sldId id="302" r:id="rId15"/>
    <p:sldId id="528" r:id="rId16"/>
    <p:sldId id="529" r:id="rId17"/>
    <p:sldId id="530" r:id="rId18"/>
    <p:sldId id="531" r:id="rId19"/>
    <p:sldId id="532" r:id="rId20"/>
    <p:sldId id="533" r:id="rId21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 userDrawn="1">
          <p15:clr>
            <a:srgbClr val="A4A3A4"/>
          </p15:clr>
        </p15:guide>
        <p15:guide id="2" pos="5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10" autoAdjust="0"/>
    <p:restoredTop sz="94635"/>
  </p:normalViewPr>
  <p:slideViewPr>
    <p:cSldViewPr snapToGrid="0">
      <p:cViewPr varScale="1">
        <p:scale>
          <a:sx n="66" d="100"/>
          <a:sy n="66" d="100"/>
        </p:scale>
        <p:origin x="192" y="78"/>
      </p:cViewPr>
      <p:guideLst>
        <p:guide orient="horz" pos="816"/>
        <p:guide pos="587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4" d="100"/>
        <a:sy n="94" d="100"/>
      </p:scale>
      <p:origin x="0" y="-9058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17.xml"/><Relationship Id="rId2" Type="http://schemas.openxmlformats.org/officeDocument/2006/relationships/slide" Target="slides/slide16.xml"/><Relationship Id="rId1" Type="http://schemas.openxmlformats.org/officeDocument/2006/relationships/slide" Target="slides/slide15.xml"/><Relationship Id="rId6" Type="http://schemas.openxmlformats.org/officeDocument/2006/relationships/slide" Target="slides/slide20.xml"/><Relationship Id="rId5" Type="http://schemas.openxmlformats.org/officeDocument/2006/relationships/slide" Target="slides/slide19.xml"/><Relationship Id="rId4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7BA12DC8-9922-4E6E-BC02-F6A63767218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ctr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6E72947A-FE2E-4445-85D8-C03306D26DD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ctr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C64A7CC0-6DD4-4720-82BF-E4908F4AFFA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b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6BE9BEEC-119C-420C-8C74-AFCA5FA1C4C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charset="0"/>
                <a:ea typeface="MS PGothic" charset="-128"/>
              </a:defRPr>
            </a:lvl1pPr>
          </a:lstStyle>
          <a:p>
            <a:pPr>
              <a:defRPr/>
            </a:pPr>
            <a:fld id="{896B91AD-C34E-4B05-8D9C-1014E5F01E33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715B35B-6971-4CC0-B4FB-95B01BCF426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A02FF1F-3F52-47A2-B35E-EBB0E228297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2612CE7-EF94-4293-9356-A0763F4E73E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7988" y="698500"/>
            <a:ext cx="61960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43BD7482-5C58-44F9-A08E-BFE34494D0D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5AC6369B-F957-4079-90E1-CA217ED505C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D62366FD-3440-43D4-A730-7A55A662E4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charset="0"/>
                <a:ea typeface="MS PGothic" charset="-128"/>
              </a:defRPr>
            </a:lvl1pPr>
          </a:lstStyle>
          <a:p>
            <a:pPr>
              <a:defRPr/>
            </a:pPr>
            <a:fld id="{73B872E8-FDB0-4502-A51A-B7A4A00AC4E7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CDEF1EC1-A032-4256-A5B8-82331B81B1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3B6FBBD-AF90-4377-83FA-2F3819AD38A1}" type="slidenum">
              <a:rPr lang="en-US" altLang="en-US" smtClean="0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1DCEB876-7853-4EC8-86DE-2233D519AA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1317CDD3-494C-45D9-A8EF-4B0E12327A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730F164-3563-441D-A2BB-9ECF873C6B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58081F0E-1362-4F6F-BE70-E88D6BFB0B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55D7E6C-E4BC-4E16-83B1-ED424A3548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96D47F81-B4E3-449F-BAFA-037C273646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19113" y="946150"/>
            <a:ext cx="8596312" cy="48355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30275" y="3373438"/>
            <a:ext cx="7435850" cy="2760662"/>
          </a:xfrm>
          <a:prstGeom prst="rect">
            <a:avLst/>
          </a:prstGeom>
        </p:spPr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3B872E8-FDB0-4502-A51A-B7A4A00AC4E7}" type="slidenum">
              <a:rPr lang="en-US" altLang="x-none" smtClean="0"/>
              <a:pPr>
                <a:defRPr/>
              </a:pPr>
              <a:t>4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415125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FB97593-0041-4772-A59B-E780BE22DF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677EF500-B7A4-4BC7-84F3-DC9FCA5B57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9F52C5D-9955-47A2-9EA6-38FEB66EF3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E6218432-9C5A-4AD0-9E05-B779659723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42EA566-EA1E-431B-9110-DD679A87E3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1C1B7D9C-8A76-4C14-A850-8C9DC9F5D5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DF878B3E-8479-4A7F-B924-0DB8314B23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2282D934-92EA-49D5-A68F-69E0FE5307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3D975521-C031-44A8-80BF-39B38B75F0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1A3DECD5-2795-49AC-8BF6-9DFEFF419D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CBB1EDE5-9E4C-42E1-B87C-545C7237B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24A6F99-D8AD-44C9-8834-3BFC2627FE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8A783162-EACC-46A4-B314-BFAA15B50D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DCB06C7-C4C1-4DF4-AE1C-75C2D1E2FA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D19DD103-275F-46A0-BEB3-576DC18D62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E9ADCDDC-7641-41D4-AAB2-2DC5DA9547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DFCFEC24-8D51-4AAB-8657-81C9877509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4FAB513B-E127-4650-9171-574B0AF722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38600" y="1171525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136642" y="312860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dirty="0"/>
              <a:t>Ayesha Asmat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4237923" y="1445845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Image result for umt logo">
            <a:extLst>
              <a:ext uri="{FF2B5EF4-FFF2-40B4-BE49-F238E27FC236}">
                <a16:creationId xmlns:a16="http://schemas.microsoft.com/office/drawing/2014/main" id="{253E27E3-48B1-4D5D-899A-017DAC31E65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4192" y="1241948"/>
            <a:ext cx="2843409" cy="215293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35900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356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00" y="1712254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36933" y="3702664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Ayesha Asmat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4319810" y="1986574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Image result for umt logo">
            <a:extLst>
              <a:ext uri="{FF2B5EF4-FFF2-40B4-BE49-F238E27FC236}">
                <a16:creationId xmlns:a16="http://schemas.microsoft.com/office/drawing/2014/main" id="{4D2EEAFE-E713-4623-9201-47216875D92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9340" y="1556102"/>
            <a:ext cx="2834995" cy="21465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32590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4762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9315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133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029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6944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0341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038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8147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203512" y="1928646"/>
            <a:ext cx="7642745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Image result for umt logo">
            <a:extLst>
              <a:ext uri="{FF2B5EF4-FFF2-40B4-BE49-F238E27FC236}">
                <a16:creationId xmlns:a16="http://schemas.microsoft.com/office/drawing/2014/main" id="{3FFFB8F1-AE55-4891-9DA1-CBAFA455F53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5671" y="1928646"/>
            <a:ext cx="2809490" cy="2127250"/>
          </a:xfrm>
          <a:prstGeom prst="rect">
            <a:avLst/>
          </a:prstGeom>
          <a:noFill/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64282BF-FBAF-4E94-835C-01FA473C0CF9}"/>
              </a:ext>
            </a:extLst>
          </p:cNvPr>
          <p:cNvCxnSpPr/>
          <p:nvPr userDrawn="1"/>
        </p:nvCxnSpPr>
        <p:spPr>
          <a:xfrm flipV="1">
            <a:off x="4210629" y="2514600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7722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070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7" r:id="rId1"/>
    <p:sldLayoutId id="2147484318" r:id="rId2"/>
    <p:sldLayoutId id="2147484319" r:id="rId3"/>
    <p:sldLayoutId id="2147484320" r:id="rId4"/>
    <p:sldLayoutId id="2147484321" r:id="rId5"/>
    <p:sldLayoutId id="2147484322" r:id="rId6"/>
    <p:sldLayoutId id="2147484323" r:id="rId7"/>
    <p:sldLayoutId id="2147484324" r:id="rId8"/>
    <p:sldLayoutId id="2147484325" r:id="rId9"/>
    <p:sldLayoutId id="2147484326" r:id="rId10"/>
    <p:sldLayoutId id="2147484327" r:id="rId11"/>
    <p:sldLayoutId id="2147484328" r:id="rId12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9BD8569B-4861-4CBE-8902-C2DD5C49C83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328959" y="2421910"/>
            <a:ext cx="8458200" cy="1143000"/>
          </a:xfrm>
          <a:noFill/>
        </p:spPr>
        <p:txBody>
          <a:bodyPr/>
          <a:lstStyle/>
          <a:p>
            <a:pPr eaLnBrk="1" hangingPunct="1"/>
            <a:r>
              <a:rPr lang="en-US" altLang="en-US" dirty="0"/>
              <a:t>Chapter 3:  Processes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7E8AE27-E50C-40A0-B477-CFFEC3475E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00388" y="222251"/>
            <a:ext cx="6107112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Process Concept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5D446FCF-843C-4B0E-B66C-D60BED2777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06129" y="1206500"/>
            <a:ext cx="10132142" cy="56514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200" dirty="0"/>
              <a:t>An operating system executes a variety of programs that run as a process.</a:t>
            </a:r>
          </a:p>
          <a:p>
            <a:pPr>
              <a:lnSpc>
                <a:spcPct val="90000"/>
              </a:lnSpc>
            </a:pPr>
            <a:r>
              <a:rPr lang="en-US" altLang="en-US" sz="3200" b="1" dirty="0">
                <a:solidFill>
                  <a:srgbClr val="006699"/>
                </a:solidFill>
                <a:latin typeface="+mj-lt"/>
              </a:rPr>
              <a:t>Process</a:t>
            </a:r>
            <a:r>
              <a:rPr lang="en-US" altLang="en-US" sz="3200" dirty="0"/>
              <a:t> – a program in execution</a:t>
            </a:r>
          </a:p>
          <a:p>
            <a:pPr>
              <a:lnSpc>
                <a:spcPct val="90000"/>
              </a:lnSpc>
            </a:pPr>
            <a:r>
              <a:rPr lang="en-US" altLang="en-US" sz="3200" dirty="0"/>
              <a:t>Multiple parts</a:t>
            </a:r>
          </a:p>
          <a:p>
            <a:pPr lvl="1"/>
            <a:r>
              <a:rPr lang="en-US" altLang="en-US" sz="2800" dirty="0"/>
              <a:t>The program code, also called </a:t>
            </a:r>
            <a:r>
              <a:rPr lang="en-US" altLang="en-US" sz="2800" b="1" dirty="0">
                <a:solidFill>
                  <a:srgbClr val="006699"/>
                </a:solidFill>
                <a:latin typeface="+mj-lt"/>
              </a:rPr>
              <a:t>text</a:t>
            </a:r>
            <a:r>
              <a:rPr lang="en-US" altLang="en-US" sz="2800" b="1" dirty="0">
                <a:solidFill>
                  <a:srgbClr val="3366FF"/>
                </a:solidFill>
              </a:rPr>
              <a:t> </a:t>
            </a:r>
            <a:r>
              <a:rPr lang="en-US" altLang="en-US" sz="2800" b="1" dirty="0">
                <a:solidFill>
                  <a:srgbClr val="006699"/>
                </a:solidFill>
                <a:latin typeface="+mj-lt"/>
              </a:rPr>
              <a:t>section</a:t>
            </a:r>
          </a:p>
          <a:p>
            <a:pPr lvl="1"/>
            <a:r>
              <a:rPr lang="en-US" altLang="en-US" sz="2800" b="1" dirty="0" smtClean="0">
                <a:solidFill>
                  <a:srgbClr val="006699"/>
                </a:solidFill>
                <a:latin typeface="+mj-lt"/>
              </a:rPr>
              <a:t>Stack</a:t>
            </a:r>
            <a:r>
              <a:rPr lang="en-US" altLang="en-US" sz="2800" b="1" dirty="0" smtClean="0"/>
              <a:t> </a:t>
            </a:r>
            <a:r>
              <a:rPr lang="en-US" altLang="en-US" sz="2800" dirty="0"/>
              <a:t>containing temporary data</a:t>
            </a:r>
          </a:p>
          <a:p>
            <a:pPr lvl="2"/>
            <a:r>
              <a:rPr lang="en-US" altLang="en-US" sz="2000" dirty="0"/>
              <a:t>Function parameters, return addresses, local variables</a:t>
            </a:r>
          </a:p>
          <a:p>
            <a:pPr lvl="1"/>
            <a:r>
              <a:rPr lang="en-US" altLang="en-US" sz="2800" b="1" dirty="0">
                <a:solidFill>
                  <a:srgbClr val="006699"/>
                </a:solidFill>
                <a:latin typeface="+mj-lt"/>
              </a:rPr>
              <a:t>Data</a:t>
            </a:r>
            <a:r>
              <a:rPr lang="en-US" altLang="en-US" sz="2800" b="1" dirty="0">
                <a:solidFill>
                  <a:srgbClr val="3366FF"/>
                </a:solidFill>
              </a:rPr>
              <a:t> </a:t>
            </a:r>
            <a:r>
              <a:rPr lang="en-US" altLang="en-US" sz="2800" b="1" dirty="0">
                <a:solidFill>
                  <a:srgbClr val="006699"/>
                </a:solidFill>
                <a:latin typeface="+mj-lt"/>
              </a:rPr>
              <a:t>section</a:t>
            </a:r>
            <a:r>
              <a:rPr lang="en-US" altLang="en-US" sz="2800" b="1" dirty="0"/>
              <a:t> </a:t>
            </a:r>
            <a:r>
              <a:rPr lang="en-US" altLang="en-US" sz="2800" dirty="0"/>
              <a:t>containing global variables</a:t>
            </a:r>
          </a:p>
          <a:p>
            <a:pPr lvl="1"/>
            <a:r>
              <a:rPr lang="en-US" altLang="en-US" sz="2800" b="1" dirty="0">
                <a:solidFill>
                  <a:srgbClr val="006699"/>
                </a:solidFill>
                <a:latin typeface="+mj-lt"/>
              </a:rPr>
              <a:t>Heap</a:t>
            </a:r>
            <a:r>
              <a:rPr lang="en-US" altLang="en-US" sz="2800" b="1" dirty="0"/>
              <a:t> </a:t>
            </a:r>
            <a:r>
              <a:rPr lang="en-US" altLang="en-US" sz="2800" dirty="0"/>
              <a:t>containing memory dynamically allocated during run time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47EAB8-B4FF-42C0-9967-B38991E92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0AFA67C-5037-4199-ADB3-2B949804BC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41529" y="344331"/>
            <a:ext cx="5308942" cy="576263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/>
              <a:t>Process in Memory</a:t>
            </a:r>
          </a:p>
        </p:txBody>
      </p:sp>
      <p:pic>
        <p:nvPicPr>
          <p:cNvPr id="15363" name="Picture 1">
            <a:extLst>
              <a:ext uri="{FF2B5EF4-FFF2-40B4-BE49-F238E27FC236}">
                <a16:creationId xmlns:a16="http://schemas.microsoft.com/office/drawing/2014/main" id="{56913459-B2A5-4780-A47A-63C55AF8C3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9601" y="1383898"/>
            <a:ext cx="3212076" cy="5139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1D9995-84EE-47EF-9F12-7114672FD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5F0918BC-EE47-4B64-B75C-97D41C08DC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98057" y="196398"/>
            <a:ext cx="8077200" cy="576263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Memory Layout of a C Program</a:t>
            </a:r>
          </a:p>
        </p:txBody>
      </p:sp>
      <p:pic>
        <p:nvPicPr>
          <p:cNvPr id="17411" name="Picture 1">
            <a:extLst>
              <a:ext uri="{FF2B5EF4-FFF2-40B4-BE49-F238E27FC236}">
                <a16:creationId xmlns:a16="http://schemas.microsoft.com/office/drawing/2014/main" id="{E58EFC16-5ABF-4B34-B546-50AB9FB81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728" y="1510072"/>
            <a:ext cx="10843695" cy="5151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49043" y="4650737"/>
            <a:ext cx="14291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02124"/>
                </a:solidFill>
                <a:latin typeface="arial" panose="020B0604020202020204" pitchFamily="34" charset="0"/>
              </a:rPr>
              <a:t>compiled program code</a:t>
            </a:r>
            <a:endParaRPr lang="en-US" dirty="0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1567543" y="5080000"/>
            <a:ext cx="1117600" cy="12192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4067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39FB78B1-A72C-494F-9718-8FF44F750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00388" y="230188"/>
            <a:ext cx="610711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Process Concept (Cont.)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B99AC1A-7079-467A-A88A-5DCC86E364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74839" y="1415844"/>
            <a:ext cx="9615947" cy="5211968"/>
          </a:xfrm>
        </p:spPr>
        <p:txBody>
          <a:bodyPr/>
          <a:lstStyle/>
          <a:p>
            <a:r>
              <a:rPr lang="en-US" altLang="en-US" sz="3600" dirty="0"/>
              <a:t>Program is </a:t>
            </a:r>
            <a:r>
              <a:rPr lang="en-US" altLang="en-US" sz="3600" b="1" dirty="0"/>
              <a:t>passive</a:t>
            </a:r>
            <a:r>
              <a:rPr lang="en-US" altLang="en-US" sz="3600" dirty="0"/>
              <a:t> entity stored on disk (</a:t>
            </a:r>
            <a:r>
              <a:rPr lang="en-US" altLang="en-US" sz="3600" b="1" dirty="0">
                <a:solidFill>
                  <a:srgbClr val="006699"/>
                </a:solidFill>
                <a:latin typeface="+mj-lt"/>
              </a:rPr>
              <a:t>executable</a:t>
            </a:r>
            <a:r>
              <a:rPr lang="en-US" altLang="en-US" sz="3600" b="1" dirty="0">
                <a:solidFill>
                  <a:srgbClr val="3366FF"/>
                </a:solidFill>
              </a:rPr>
              <a:t> </a:t>
            </a:r>
            <a:r>
              <a:rPr lang="en-US" altLang="en-US" sz="3600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sz="3600" dirty="0"/>
              <a:t>); process is </a:t>
            </a:r>
            <a:r>
              <a:rPr lang="en-US" altLang="en-US" sz="3600" b="1" dirty="0"/>
              <a:t>active</a:t>
            </a:r>
            <a:r>
              <a:rPr lang="en-US" altLang="en-US" sz="3600" b="1" i="1" dirty="0"/>
              <a:t> </a:t>
            </a:r>
          </a:p>
          <a:p>
            <a:pPr lvl="1"/>
            <a:r>
              <a:rPr lang="en-US" altLang="en-US" sz="3200" dirty="0"/>
              <a:t>Program becomes process when an executable file is loaded into memory</a:t>
            </a:r>
          </a:p>
          <a:p>
            <a:r>
              <a:rPr lang="en-US" altLang="en-US" sz="3600" dirty="0"/>
              <a:t>Execution of program started via GUI mouse clicks, command line entry of its name, etc.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7AECD4-CE72-4584-9AC9-E2399887E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890CFA9-9E5C-4419-8C0A-3AE15BC758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23702" y="494072"/>
            <a:ext cx="6251575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Process State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024CBB90-3DD4-48C6-830E-D5B680DA86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81665" y="1519084"/>
            <a:ext cx="10618838" cy="3598606"/>
          </a:xfrm>
        </p:spPr>
        <p:txBody>
          <a:bodyPr>
            <a:normAutofit/>
          </a:bodyPr>
          <a:lstStyle/>
          <a:p>
            <a:r>
              <a:rPr lang="en-US" altLang="en-US" sz="3600" dirty="0"/>
              <a:t>As a process executes, it changes </a:t>
            </a:r>
            <a:r>
              <a:rPr lang="en-US" altLang="en-US" sz="3600" b="1" dirty="0">
                <a:solidFill>
                  <a:srgbClr val="006699"/>
                </a:solidFill>
                <a:latin typeface="+mj-lt"/>
              </a:rPr>
              <a:t>state</a:t>
            </a:r>
          </a:p>
          <a:p>
            <a:pPr lvl="1"/>
            <a:r>
              <a:rPr lang="en-US" altLang="en-US" sz="3200" b="1" dirty="0"/>
              <a:t>New</a:t>
            </a:r>
            <a:r>
              <a:rPr lang="en-US" altLang="en-US" sz="3200" dirty="0"/>
              <a:t>:  The process is being created</a:t>
            </a:r>
          </a:p>
          <a:p>
            <a:pPr lvl="1"/>
            <a:r>
              <a:rPr lang="en-US" altLang="en-US" sz="3200" b="1" dirty="0"/>
              <a:t>Running</a:t>
            </a:r>
            <a:r>
              <a:rPr lang="en-US" altLang="en-US" sz="3200" dirty="0"/>
              <a:t>:  Instructions are being executed</a:t>
            </a:r>
          </a:p>
          <a:p>
            <a:pPr lvl="1"/>
            <a:r>
              <a:rPr lang="en-US" altLang="en-US" sz="3200" b="1" dirty="0"/>
              <a:t>Waiting</a:t>
            </a:r>
            <a:r>
              <a:rPr lang="en-US" altLang="en-US" sz="3200" dirty="0"/>
              <a:t>:  The process is waiting for some event to occur</a:t>
            </a:r>
          </a:p>
          <a:p>
            <a:pPr lvl="1"/>
            <a:r>
              <a:rPr lang="en-US" altLang="en-US" sz="3200" b="1" dirty="0"/>
              <a:t>Ready</a:t>
            </a:r>
            <a:r>
              <a:rPr lang="en-US" altLang="en-US" sz="3200" dirty="0"/>
              <a:t>:  The process is waiting to be assigned to a processor</a:t>
            </a:r>
          </a:p>
          <a:p>
            <a:pPr lvl="1"/>
            <a:r>
              <a:rPr lang="en-US" altLang="en-US" sz="3200" b="1" dirty="0"/>
              <a:t>Terminated</a:t>
            </a:r>
            <a:r>
              <a:rPr lang="en-US" altLang="en-US" sz="3200" dirty="0"/>
              <a:t>:  The process has finished execution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612181-326E-4536-AC1D-6EA2A8161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03351C7C-1AE3-4532-A2F7-C7EB33BCDB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47234" y="317091"/>
            <a:ext cx="7947025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Diagram of Process State</a:t>
            </a:r>
          </a:p>
        </p:txBody>
      </p:sp>
      <p:pic>
        <p:nvPicPr>
          <p:cNvPr id="20483" name="Picture 1">
            <a:extLst>
              <a:ext uri="{FF2B5EF4-FFF2-40B4-BE49-F238E27FC236}">
                <a16:creationId xmlns:a16="http://schemas.microsoft.com/office/drawing/2014/main" id="{C48543A4-67CA-450C-8237-41432A1A6B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169" y="1817098"/>
            <a:ext cx="10017755" cy="3905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44F9F7-E5EE-4896-BAD0-6B119E248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FC14ED24-AEFF-4F38-8076-4F8FF58C3F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90814" y="193903"/>
            <a:ext cx="75199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Process Control Block (PCB)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DEEAF946-6112-4200-8913-ED1F42CE1E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3458" y="1756677"/>
            <a:ext cx="7606655" cy="4484473"/>
          </a:xfrm>
        </p:spPr>
        <p:txBody>
          <a:bodyPr>
            <a:normAutofit lnSpcReduction="10000"/>
          </a:bodyPr>
          <a:lstStyle/>
          <a:p>
            <a:r>
              <a:rPr lang="en-US" altLang="en-US" sz="2400" dirty="0"/>
              <a:t>Process state – running, waiting, etc.</a:t>
            </a:r>
          </a:p>
          <a:p>
            <a:r>
              <a:rPr lang="en-US" altLang="en-US" sz="2400" dirty="0"/>
              <a:t>Program counter – location of instruction to next execute</a:t>
            </a:r>
          </a:p>
          <a:p>
            <a:r>
              <a:rPr lang="en-US" altLang="en-US" sz="2400" dirty="0"/>
              <a:t>CPU registers – contents of all process-centric registers</a:t>
            </a:r>
          </a:p>
          <a:p>
            <a:r>
              <a:rPr lang="en-US" altLang="en-US" sz="2400" dirty="0"/>
              <a:t>CPU scheduling information- priorities, scheduling queue pointers</a:t>
            </a:r>
          </a:p>
          <a:p>
            <a:r>
              <a:rPr lang="en-US" altLang="en-US" sz="2400" dirty="0"/>
              <a:t>Memory-management information – memory allocated to the process</a:t>
            </a:r>
          </a:p>
          <a:p>
            <a:r>
              <a:rPr lang="en-US" altLang="en-US" sz="2400" dirty="0"/>
              <a:t>Accounting information – CPU used, clock time elapsed since start, time limits</a:t>
            </a:r>
          </a:p>
          <a:p>
            <a:r>
              <a:rPr lang="en-US" altLang="en-US" sz="2400" dirty="0"/>
              <a:t>I/O status information – I/O devices allocated to process, list of open files</a:t>
            </a:r>
          </a:p>
          <a:p>
            <a:endParaRPr lang="en-US" altLang="en-US" sz="4400" dirty="0"/>
          </a:p>
        </p:txBody>
      </p:sp>
      <p:pic>
        <p:nvPicPr>
          <p:cNvPr id="22532" name="Picture 1">
            <a:extLst>
              <a:ext uri="{FF2B5EF4-FFF2-40B4-BE49-F238E27FC236}">
                <a16:creationId xmlns:a16="http://schemas.microsoft.com/office/drawing/2014/main" id="{4C1B42D7-9239-4535-8C25-EF8AF0D926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5935" y="1788361"/>
            <a:ext cx="2780826" cy="4518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7519650-4D5E-45C9-BCF6-B2C0554D33E2}"/>
              </a:ext>
            </a:extLst>
          </p:cNvPr>
          <p:cNvSpPr txBox="1"/>
          <p:nvPr/>
        </p:nvSpPr>
        <p:spPr>
          <a:xfrm>
            <a:off x="383459" y="988142"/>
            <a:ext cx="982734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dirty="0"/>
              <a:t>Information associated with each process(also called </a:t>
            </a:r>
            <a:r>
              <a:rPr kumimoji="1" lang="en-US" altLang="en-US" sz="2800" b="1" dirty="0">
                <a:solidFill>
                  <a:srgbClr val="006699"/>
                </a:solidFill>
                <a:latin typeface="+mj-lt"/>
              </a:rPr>
              <a:t>task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kumimoji="1" lang="en-US" altLang="en-US" sz="2800" b="1" dirty="0">
                <a:solidFill>
                  <a:srgbClr val="006699"/>
                </a:solidFill>
                <a:latin typeface="+mj-lt"/>
              </a:rPr>
              <a:t>control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kumimoji="1" lang="en-US" altLang="en-US" sz="2800" b="1" dirty="0">
                <a:solidFill>
                  <a:srgbClr val="006699"/>
                </a:solidFill>
                <a:latin typeface="+mj-lt"/>
              </a:rPr>
              <a:t>block</a:t>
            </a:r>
            <a:r>
              <a:rPr lang="en-US" altLang="en-US" sz="2400" dirty="0"/>
              <a:t>)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 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2BAD3D-6943-433F-9F9F-FCC6336A0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76D14E00-AC36-46B6-804B-3B1E61B7A1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03500" y="172132"/>
            <a:ext cx="76454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Process Scheduling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CD9E4484-1299-4947-B075-F0D9269BBD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12955" y="1371600"/>
            <a:ext cx="11076039" cy="5147187"/>
          </a:xfrm>
        </p:spPr>
        <p:txBody>
          <a:bodyPr>
            <a:normAutofit/>
          </a:bodyPr>
          <a:lstStyle/>
          <a:p>
            <a:r>
              <a:rPr lang="en-US" altLang="en-US" sz="3200" b="1" kern="1200" dirty="0">
                <a:solidFill>
                  <a:srgbClr val="006699"/>
                </a:solidFill>
                <a:latin typeface="+mj-lt"/>
                <a:cs typeface="+mn-cs"/>
              </a:rPr>
              <a:t>Process</a:t>
            </a:r>
            <a:r>
              <a:rPr lang="en-US" altLang="en-US" sz="3200" b="1" dirty="0">
                <a:solidFill>
                  <a:srgbClr val="3366FF"/>
                </a:solidFill>
              </a:rPr>
              <a:t> </a:t>
            </a:r>
            <a:r>
              <a:rPr lang="en-US" altLang="en-US" sz="3200" b="1" kern="1200" dirty="0">
                <a:solidFill>
                  <a:srgbClr val="006699"/>
                </a:solidFill>
                <a:latin typeface="+mj-lt"/>
                <a:cs typeface="+mn-cs"/>
              </a:rPr>
              <a:t>scheduler</a:t>
            </a:r>
            <a:r>
              <a:rPr lang="en-US" altLang="en-US" sz="3200" b="1" dirty="0">
                <a:solidFill>
                  <a:srgbClr val="3366FF"/>
                </a:solidFill>
              </a:rPr>
              <a:t> </a:t>
            </a:r>
            <a:r>
              <a:rPr lang="en-US" altLang="en-US" sz="3200" dirty="0"/>
              <a:t>selects among available processes for next execution on CPU core</a:t>
            </a:r>
          </a:p>
          <a:p>
            <a:r>
              <a:rPr lang="en-US" altLang="en-US" sz="3200" dirty="0"/>
              <a:t>Goal -- Maximize CPU use, quickly switch processes onto CPU core</a:t>
            </a:r>
          </a:p>
          <a:p>
            <a:r>
              <a:rPr lang="en-US" altLang="en-US" sz="3200" dirty="0"/>
              <a:t>Maintains </a:t>
            </a:r>
            <a:r>
              <a:rPr lang="en-US" altLang="en-US" sz="3200" b="1" kern="1200" dirty="0">
                <a:solidFill>
                  <a:srgbClr val="006699"/>
                </a:solidFill>
                <a:latin typeface="+mj-lt"/>
                <a:cs typeface="+mn-cs"/>
              </a:rPr>
              <a:t>scheduling</a:t>
            </a:r>
            <a:r>
              <a:rPr lang="en-US" altLang="en-US" sz="3200" b="1" dirty="0">
                <a:solidFill>
                  <a:srgbClr val="3366FF"/>
                </a:solidFill>
              </a:rPr>
              <a:t> </a:t>
            </a:r>
            <a:r>
              <a:rPr lang="en-US" altLang="en-US" sz="3200" b="1" kern="1200" dirty="0">
                <a:solidFill>
                  <a:srgbClr val="006699"/>
                </a:solidFill>
                <a:latin typeface="+mj-lt"/>
                <a:cs typeface="+mn-cs"/>
              </a:rPr>
              <a:t>queues</a:t>
            </a:r>
            <a:r>
              <a:rPr lang="en-US" altLang="en-US" sz="3200" b="1" dirty="0">
                <a:solidFill>
                  <a:srgbClr val="3366FF"/>
                </a:solidFill>
              </a:rPr>
              <a:t> </a:t>
            </a:r>
            <a:r>
              <a:rPr lang="en-US" altLang="en-US" sz="3200" dirty="0"/>
              <a:t>of processes</a:t>
            </a:r>
          </a:p>
          <a:p>
            <a:pPr lvl="1"/>
            <a:r>
              <a:rPr lang="en-US" altLang="en-US" sz="2800" b="1" kern="1200" dirty="0">
                <a:solidFill>
                  <a:srgbClr val="006699"/>
                </a:solidFill>
                <a:latin typeface="+mj-lt"/>
                <a:cs typeface="+mn-cs"/>
              </a:rPr>
              <a:t>Ready</a:t>
            </a:r>
            <a:r>
              <a:rPr lang="en-US" altLang="en-US" sz="2800" b="1" dirty="0">
                <a:solidFill>
                  <a:srgbClr val="3366FF"/>
                </a:solidFill>
              </a:rPr>
              <a:t> </a:t>
            </a:r>
            <a:r>
              <a:rPr lang="en-US" altLang="en-US" sz="2800" b="1" kern="1200" dirty="0">
                <a:solidFill>
                  <a:srgbClr val="006699"/>
                </a:solidFill>
                <a:latin typeface="+mj-lt"/>
                <a:cs typeface="+mn-cs"/>
              </a:rPr>
              <a:t>queue</a:t>
            </a:r>
            <a:r>
              <a:rPr lang="en-US" altLang="en-US" sz="2800" b="1" dirty="0">
                <a:solidFill>
                  <a:srgbClr val="3366FF"/>
                </a:solidFill>
              </a:rPr>
              <a:t> </a:t>
            </a:r>
            <a:r>
              <a:rPr lang="en-US" altLang="en-US" sz="2800" dirty="0"/>
              <a:t>– set of all processes residing in main memory, ready and waiting to execute</a:t>
            </a:r>
          </a:p>
          <a:p>
            <a:pPr lvl="1"/>
            <a:r>
              <a:rPr lang="en-US" altLang="en-US" sz="2800" b="1" kern="1200" dirty="0">
                <a:solidFill>
                  <a:srgbClr val="006699"/>
                </a:solidFill>
                <a:latin typeface="+mj-lt"/>
                <a:cs typeface="+mn-cs"/>
              </a:rPr>
              <a:t>Wait</a:t>
            </a:r>
            <a:r>
              <a:rPr lang="en-US" altLang="en-US" sz="2800" b="1" dirty="0">
                <a:solidFill>
                  <a:srgbClr val="3366FF"/>
                </a:solidFill>
              </a:rPr>
              <a:t> </a:t>
            </a:r>
            <a:r>
              <a:rPr lang="en-US" altLang="en-US" sz="2800" b="1" kern="1200" dirty="0">
                <a:solidFill>
                  <a:srgbClr val="006699"/>
                </a:solidFill>
                <a:latin typeface="+mj-lt"/>
                <a:cs typeface="+mn-cs"/>
              </a:rPr>
              <a:t>queues</a:t>
            </a:r>
            <a:r>
              <a:rPr lang="en-US" altLang="en-US" sz="2800" b="1" dirty="0">
                <a:solidFill>
                  <a:srgbClr val="3366FF"/>
                </a:solidFill>
              </a:rPr>
              <a:t> </a:t>
            </a:r>
            <a:r>
              <a:rPr lang="en-US" altLang="en-US" sz="2800" dirty="0"/>
              <a:t>– set of processes waiting for an event (i.e., I/O)</a:t>
            </a:r>
          </a:p>
          <a:p>
            <a:pPr lvl="1"/>
            <a:r>
              <a:rPr lang="en-US" altLang="en-US" sz="2800" dirty="0"/>
              <a:t>Processes migrate among the various queues</a:t>
            </a:r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BBC0CF-E5F5-4799-B40D-34AA84C22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C79FFB59-5D7F-4075-B911-2B593B5173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98726" y="349250"/>
            <a:ext cx="7591425" cy="457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Ready and Wait Queues</a:t>
            </a:r>
          </a:p>
        </p:txBody>
      </p:sp>
      <p:pic>
        <p:nvPicPr>
          <p:cNvPr id="29699" name="Picture 1">
            <a:extLst>
              <a:ext uri="{FF2B5EF4-FFF2-40B4-BE49-F238E27FC236}">
                <a16:creationId xmlns:a16="http://schemas.microsoft.com/office/drawing/2014/main" id="{BCBD9C55-CB2E-45AE-A528-0022312EC9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5030" y="1259042"/>
            <a:ext cx="8825803" cy="5249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DEA919-C4FA-4771-BBD2-462E34FE4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38DB7F06-1635-4E8A-B106-08B7519EA7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11413" y="2270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Representation of Process Scheduling</a:t>
            </a:r>
          </a:p>
        </p:txBody>
      </p:sp>
      <p:pic>
        <p:nvPicPr>
          <p:cNvPr id="31747" name="Picture 2">
            <a:extLst>
              <a:ext uri="{FF2B5EF4-FFF2-40B4-BE49-F238E27FC236}">
                <a16:creationId xmlns:a16="http://schemas.microsoft.com/office/drawing/2014/main" id="{A0A8D57B-B011-4BA3-A330-AE3AFD4CB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450" y="1026908"/>
            <a:ext cx="9337285" cy="5388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55F270-D30A-4694-B404-8DF8E4666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4294884C-D89B-43C5-8278-E1AFFD1E5D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66963" y="228601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CPU Switch From Process to Process</a:t>
            </a:r>
          </a:p>
        </p:txBody>
      </p:sp>
      <p:sp>
        <p:nvSpPr>
          <p:cNvPr id="33795" name="TextBox 1">
            <a:extLst>
              <a:ext uri="{FF2B5EF4-FFF2-40B4-BE49-F238E27FC236}">
                <a16:creationId xmlns:a16="http://schemas.microsoft.com/office/drawing/2014/main" id="{2AC6A249-89C1-4E3A-A92E-5E91F7A23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458" y="1150373"/>
            <a:ext cx="1066308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Verdana" panose="020B0604030504040204" pitchFamily="34" charset="0"/>
              </a:rPr>
              <a:t>A </a:t>
            </a:r>
            <a:r>
              <a:rPr kumimoji="0" lang="en-US" altLang="en-US" sz="2400" b="1" dirty="0">
                <a:latin typeface="Verdana" panose="020B0604030504040204" pitchFamily="34" charset="0"/>
              </a:rPr>
              <a:t>context switch </a:t>
            </a:r>
            <a:r>
              <a:rPr kumimoji="0" lang="en-US" altLang="en-US" sz="2400" dirty="0">
                <a:latin typeface="Verdana" panose="020B0604030504040204" pitchFamily="34" charset="0"/>
              </a:rPr>
              <a:t>occurs when the CPU  switches from one process to another.</a:t>
            </a:r>
          </a:p>
        </p:txBody>
      </p:sp>
      <p:pic>
        <p:nvPicPr>
          <p:cNvPr id="33796" name="Picture 1">
            <a:extLst>
              <a:ext uri="{FF2B5EF4-FFF2-40B4-BE49-F238E27FC236}">
                <a16:creationId xmlns:a16="http://schemas.microsoft.com/office/drawing/2014/main" id="{81BF3499-8F25-4834-B5FB-DDAE904111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214" y="1780486"/>
            <a:ext cx="7713406" cy="5114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16FF47-C9EC-407D-805A-A3617FC55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69EF2C8-62D9-4AD3-A3DB-7E8B03141F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62400" y="328400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Context Switch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BFE77FD9-7213-4CFD-BE76-B9508F46FB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16194" y="1150373"/>
            <a:ext cx="10884309" cy="5840361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When CPU switches to another process, the system must </a:t>
            </a:r>
            <a:r>
              <a:rPr lang="en-US" altLang="en-US" sz="3200" b="1" kern="1200" dirty="0">
                <a:solidFill>
                  <a:srgbClr val="006699"/>
                </a:solidFill>
                <a:latin typeface="+mj-lt"/>
                <a:cs typeface="+mn-cs"/>
              </a:rPr>
              <a:t>save</a:t>
            </a:r>
            <a:r>
              <a:rPr lang="en-US" altLang="en-US" sz="3200" b="1" dirty="0">
                <a:solidFill>
                  <a:srgbClr val="3366FF"/>
                </a:solidFill>
              </a:rPr>
              <a:t> </a:t>
            </a:r>
            <a:r>
              <a:rPr lang="en-US" altLang="en-US" sz="3200" b="1" kern="1200" dirty="0">
                <a:solidFill>
                  <a:srgbClr val="006699"/>
                </a:solidFill>
                <a:latin typeface="+mj-lt"/>
                <a:cs typeface="+mn-cs"/>
              </a:rPr>
              <a:t>the</a:t>
            </a:r>
            <a:r>
              <a:rPr lang="en-US" altLang="en-US" sz="3200" b="1" dirty="0">
                <a:solidFill>
                  <a:srgbClr val="3366FF"/>
                </a:solidFill>
              </a:rPr>
              <a:t> </a:t>
            </a:r>
            <a:r>
              <a:rPr lang="en-US" altLang="en-US" sz="3200" b="1" kern="1200" dirty="0">
                <a:solidFill>
                  <a:srgbClr val="006699"/>
                </a:solidFill>
                <a:latin typeface="+mj-lt"/>
                <a:cs typeface="+mn-cs"/>
              </a:rPr>
              <a:t>state</a:t>
            </a:r>
            <a:r>
              <a:rPr lang="en-US" altLang="en-US" sz="3200" b="1" dirty="0">
                <a:solidFill>
                  <a:srgbClr val="3366FF"/>
                </a:solidFill>
              </a:rPr>
              <a:t> </a:t>
            </a:r>
            <a:r>
              <a:rPr lang="en-US" altLang="en-US" sz="3200" dirty="0"/>
              <a:t>of the old process and load the </a:t>
            </a:r>
            <a:r>
              <a:rPr lang="en-US" altLang="en-US" sz="3200" b="1" kern="1200" dirty="0">
                <a:solidFill>
                  <a:srgbClr val="006699"/>
                </a:solidFill>
                <a:latin typeface="+mj-lt"/>
                <a:cs typeface="+mn-cs"/>
              </a:rPr>
              <a:t>saved</a:t>
            </a:r>
            <a:r>
              <a:rPr lang="en-US" altLang="en-US" sz="3200" b="1" dirty="0">
                <a:solidFill>
                  <a:srgbClr val="3366FF"/>
                </a:solidFill>
              </a:rPr>
              <a:t> </a:t>
            </a:r>
            <a:r>
              <a:rPr lang="en-US" altLang="en-US" sz="3200" b="1" kern="1200" dirty="0">
                <a:solidFill>
                  <a:srgbClr val="006699"/>
                </a:solidFill>
                <a:latin typeface="+mj-lt"/>
                <a:cs typeface="+mn-cs"/>
              </a:rPr>
              <a:t>state</a:t>
            </a:r>
            <a:r>
              <a:rPr lang="en-US" altLang="en-US" sz="3200" b="1" dirty="0">
                <a:solidFill>
                  <a:srgbClr val="3366FF"/>
                </a:solidFill>
              </a:rPr>
              <a:t> </a:t>
            </a:r>
            <a:r>
              <a:rPr lang="en-US" altLang="en-US" sz="3200" dirty="0"/>
              <a:t>for the new process via a </a:t>
            </a:r>
            <a:r>
              <a:rPr lang="en-US" altLang="en-US" sz="3200" b="1" kern="1200" dirty="0">
                <a:solidFill>
                  <a:srgbClr val="006699"/>
                </a:solidFill>
                <a:latin typeface="+mj-lt"/>
                <a:cs typeface="+mn-cs"/>
              </a:rPr>
              <a:t>context</a:t>
            </a:r>
            <a:r>
              <a:rPr lang="en-US" altLang="en-US" sz="3200" b="1" dirty="0">
                <a:solidFill>
                  <a:srgbClr val="3366FF"/>
                </a:solidFill>
              </a:rPr>
              <a:t> </a:t>
            </a:r>
            <a:r>
              <a:rPr lang="en-US" altLang="en-US" sz="3200" b="1" kern="1200" dirty="0">
                <a:solidFill>
                  <a:srgbClr val="006699"/>
                </a:solidFill>
                <a:latin typeface="+mj-lt"/>
                <a:cs typeface="+mn-cs"/>
              </a:rPr>
              <a:t>switch</a:t>
            </a:r>
          </a:p>
          <a:p>
            <a:r>
              <a:rPr lang="en-US" altLang="en-US" sz="3200" b="1" kern="1200" dirty="0">
                <a:solidFill>
                  <a:srgbClr val="006699"/>
                </a:solidFill>
                <a:latin typeface="+mj-lt"/>
                <a:cs typeface="+mn-cs"/>
              </a:rPr>
              <a:t>Context</a:t>
            </a:r>
            <a:r>
              <a:rPr lang="en-US" altLang="en-US" sz="3200" b="1" dirty="0">
                <a:solidFill>
                  <a:srgbClr val="3366FF"/>
                </a:solidFill>
              </a:rPr>
              <a:t> </a:t>
            </a:r>
            <a:r>
              <a:rPr lang="en-US" altLang="en-US" sz="3200" dirty="0"/>
              <a:t>of a process represented in the PCB</a:t>
            </a:r>
          </a:p>
          <a:p>
            <a:r>
              <a:rPr lang="en-US" altLang="en-US" sz="3200" dirty="0"/>
              <a:t>Context-switch time is pure overhead; the system does no useful work while switching</a:t>
            </a:r>
          </a:p>
          <a:p>
            <a:pPr lvl="1"/>
            <a:r>
              <a:rPr lang="en-US" altLang="en-US" sz="2800" dirty="0"/>
              <a:t>The more complex the OS and the PCB </a:t>
            </a:r>
            <a:r>
              <a:rPr lang="en-US" altLang="en-US" sz="2800" dirty="0">
                <a:sym typeface="Wingdings" panose="05000000000000000000" pitchFamily="2" charset="2"/>
              </a:rPr>
              <a:t> the </a:t>
            </a:r>
            <a:r>
              <a:rPr lang="en-US" altLang="en-US" sz="2800" dirty="0"/>
              <a:t>longer the context switch</a:t>
            </a:r>
          </a:p>
          <a:p>
            <a:r>
              <a:rPr lang="en-US" altLang="en-US" sz="3200" dirty="0"/>
              <a:t>Time dependent on hardware support</a:t>
            </a:r>
          </a:p>
          <a:p>
            <a:pPr lvl="1"/>
            <a:r>
              <a:rPr lang="en-US" altLang="en-US" sz="2800" dirty="0"/>
              <a:t>Some hardware provides multiple sets of registers per CPU </a:t>
            </a:r>
            <a:r>
              <a:rPr lang="en-US" altLang="en-US" sz="2800" dirty="0">
                <a:sym typeface="Wingdings" panose="05000000000000000000" pitchFamily="2" charset="2"/>
              </a:rPr>
              <a:t></a:t>
            </a:r>
            <a:r>
              <a:rPr lang="en-US" altLang="en-US" sz="2800" dirty="0"/>
              <a:t> multiple contexts loaded at once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5A9157-1818-4A6F-B7ED-27563969F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39096" y="274639"/>
            <a:ext cx="9571703" cy="1401762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4500" dirty="0"/>
              <a:t>Process Scheduling Queues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870155" y="1676401"/>
            <a:ext cx="9340645" cy="483076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Process migration between the various queues.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Job queue – set of all processes in the system.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Ready queue – set of all processes residing in main memory, ready and waiting to execute.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Device queues – set of processes waiting for I/O devices</a:t>
            </a:r>
            <a:r>
              <a:rPr lang="en-US" sz="2400" dirty="0"/>
              <a:t>.</a:t>
            </a:r>
          </a:p>
          <a:p>
            <a:pPr>
              <a:lnSpc>
                <a:spcPct val="90000"/>
              </a:lnSpc>
              <a:buClr>
                <a:srgbClr val="00FFFF"/>
              </a:buClr>
            </a:pPr>
            <a:endParaRPr lang="en-US" sz="2400" dirty="0">
              <a:ea typeface="新細明體" charset="-12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60A6A2-1E4A-4F0F-A5E9-C6B88A6EC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29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 bldLvl="2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167148" y="193573"/>
            <a:ext cx="82296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9F9F9"/>
              </a:buClr>
              <a:buSzPct val="65000"/>
              <a:buFont typeface="Wingdings 2" panose="05020102010507070707" pitchFamily="18" charset="2"/>
              <a:buChar char="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80000"/>
              <a:buFont typeface="Wingdings 2" panose="05020102010507070707" pitchFamily="18" charset="2"/>
              <a:buChar char="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"/>
              <a:defRPr sz="2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  <a:defRPr/>
            </a:pPr>
            <a:r>
              <a:rPr lang="en-US" sz="4500" dirty="0">
                <a:latin typeface="Tw Cen MT Condensed (Headings)"/>
              </a:rPr>
              <a:t>Queues in a Computer System</a:t>
            </a:r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" t="14200" r="777" b="14200"/>
          <a:stretch>
            <a:fillRect/>
          </a:stretch>
        </p:blipFill>
        <p:spPr bwMode="auto">
          <a:xfrm>
            <a:off x="1828800" y="1600200"/>
            <a:ext cx="9070258" cy="5102020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F64CB8-8C9F-4599-B849-C6DE4C0DF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92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9F9F9"/>
              </a:buClr>
              <a:buSzPct val="65000"/>
              <a:buFont typeface="Wingdings 2" panose="05020102010507070707" pitchFamily="18" charset="2"/>
              <a:buChar char="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80000"/>
              <a:buFont typeface="Wingdings 2" panose="05020102010507070707" pitchFamily="18" charset="2"/>
              <a:buChar char="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"/>
              <a:defRPr sz="2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  <a:defRPr/>
            </a:pPr>
            <a:r>
              <a:rPr lang="en-US" sz="4500" dirty="0">
                <a:latin typeface="Tw Cen MT Condensed (Headings)"/>
              </a:rPr>
              <a:t>Schedulers</a:t>
            </a: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1981200" y="1600201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9F9F9"/>
              </a:buClr>
              <a:buSzPct val="65000"/>
              <a:buFont typeface="Wingdings 2" panose="05020102010507070707" pitchFamily="18" charset="2"/>
              <a:buChar char="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80000"/>
              <a:buFont typeface="Wingdings 2" panose="05020102010507070707" pitchFamily="18" charset="2"/>
              <a:buChar char="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"/>
              <a:defRPr sz="2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</a:rPr>
              <a:t>Long term scheduler</a:t>
            </a:r>
          </a:p>
          <a:p>
            <a:pPr eaLnBrk="1" hangingPunct="1"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endParaRPr lang="en-US" sz="2400" dirty="0">
              <a:latin typeface="Arial" panose="020B0604020202020204" pitchFamily="34" charset="0"/>
            </a:endParaRPr>
          </a:p>
          <a:p>
            <a:pPr eaLnBrk="1" hangingPunct="1"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</a:rPr>
              <a:t>Short term scheduler</a:t>
            </a:r>
          </a:p>
          <a:p>
            <a:pPr eaLnBrk="1" hangingPunct="1"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endParaRPr lang="en-US" sz="2400" dirty="0">
              <a:latin typeface="Arial" panose="020B0604020202020204" pitchFamily="34" charset="0"/>
            </a:endParaRPr>
          </a:p>
          <a:p>
            <a:pPr eaLnBrk="1" hangingPunct="1"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</a:rPr>
              <a:t>Medium term scheduler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2873F6-B4C6-4D68-9DC1-40478E89D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8030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9F9F9"/>
              </a:buClr>
              <a:buSzPct val="65000"/>
              <a:buFont typeface="Wingdings 2" panose="05020102010507070707" pitchFamily="18" charset="2"/>
              <a:buChar char="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80000"/>
              <a:buFont typeface="Wingdings 2" panose="05020102010507070707" pitchFamily="18" charset="2"/>
              <a:buChar char="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"/>
              <a:defRPr sz="2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  <a:defRPr/>
            </a:pPr>
            <a:r>
              <a:rPr lang="en-US" sz="4500" dirty="0">
                <a:latin typeface="Tw Cen MT Condensed (Headings)"/>
              </a:rPr>
              <a:t>Long Term Scheduler</a:t>
            </a: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973393" y="1600200"/>
            <a:ext cx="10132141" cy="4712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9F9F9"/>
              </a:buClr>
              <a:buSzPct val="65000"/>
              <a:buFont typeface="Wingdings 2" panose="05020102010507070707" pitchFamily="18" charset="2"/>
              <a:buChar char="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80000"/>
              <a:buFont typeface="Wingdings 2" panose="05020102010507070707" pitchFamily="18" charset="2"/>
              <a:buChar char="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"/>
              <a:defRPr sz="2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accent1"/>
              </a:buClr>
              <a:buSzTx/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Long-term scheduler (or job scheduler) – selects processes from the job pool to be brought into the ready queue.</a:t>
            </a:r>
            <a:endParaRPr lang="en-US" dirty="0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Clr>
                <a:schemeClr val="accent1"/>
              </a:buClr>
              <a:buSzTx/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sym typeface="Symbol" panose="05050102010706020507" pitchFamily="18" charset="2"/>
              </a:rPr>
              <a:t>Long-term scheduler is invoked very infrequently (seconds, minutes)  (may be slow).</a:t>
            </a:r>
          </a:p>
          <a:p>
            <a:pPr lvl="1" eaLnBrk="1" hangingPunct="1">
              <a:lnSpc>
                <a:spcPct val="90000"/>
              </a:lnSpc>
              <a:buClr>
                <a:schemeClr val="accent1"/>
              </a:buClr>
              <a:buSzTx/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sym typeface="Symbol" panose="05050102010706020507" pitchFamily="18" charset="2"/>
              </a:rPr>
              <a:t>The long-term scheduler controls the </a:t>
            </a:r>
            <a:r>
              <a:rPr lang="en-US" sz="2800" i="1" dirty="0">
                <a:latin typeface="Arial" panose="020B0604020202020204" pitchFamily="34" charset="0"/>
                <a:sym typeface="Symbol" panose="05050102010706020507" pitchFamily="18" charset="2"/>
              </a:rPr>
              <a:t>degree of multiprogramming.</a:t>
            </a:r>
          </a:p>
          <a:p>
            <a:pPr lvl="1" eaLnBrk="1" hangingPunct="1">
              <a:lnSpc>
                <a:spcPct val="90000"/>
              </a:lnSpc>
              <a:buClr>
                <a:schemeClr val="accent1"/>
              </a:buClr>
              <a:buSzTx/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</a:rPr>
              <a:t>More processes, smaller percentage of time each process is executed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79A4A4-C180-4317-9811-7257EF84D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10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1981200" y="274638"/>
            <a:ext cx="8229600" cy="86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9F9F9"/>
              </a:buClr>
              <a:buSzPct val="65000"/>
              <a:buFont typeface="Wingdings 2" panose="05020102010507070707" pitchFamily="18" charset="2"/>
              <a:buChar char="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80000"/>
              <a:buFont typeface="Wingdings 2" panose="05020102010507070707" pitchFamily="18" charset="2"/>
              <a:buChar char="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"/>
              <a:defRPr sz="2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  <a:defRPr/>
            </a:pPr>
            <a:r>
              <a:rPr lang="en-US" sz="4500" dirty="0">
                <a:latin typeface="Tw Cen MT Condensed (Headings)"/>
              </a:rPr>
              <a:t>Short Term Scheduler</a:t>
            </a: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1219199" y="1096962"/>
            <a:ext cx="10033819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9F9F9"/>
              </a:buClr>
              <a:buSzPct val="65000"/>
              <a:buFont typeface="Wingdings 2" panose="05020102010507070707" pitchFamily="18" charset="2"/>
              <a:buChar char="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80000"/>
              <a:buFont typeface="Wingdings 2" panose="05020102010507070707" pitchFamily="18" charset="2"/>
              <a:buChar char="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"/>
              <a:defRPr sz="2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accent1"/>
              </a:buClr>
              <a:buSzTx/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Short-term scheduler (or CPU scheduler) – selects which process should be executed next and allocates it the CPU through the </a:t>
            </a:r>
            <a:r>
              <a:rPr lang="en-US" b="1" dirty="0">
                <a:latin typeface="Arial" panose="020B0604020202020204" pitchFamily="34" charset="0"/>
              </a:rPr>
              <a:t>dispatcher</a:t>
            </a:r>
            <a:r>
              <a:rPr lang="en-US" dirty="0">
                <a:latin typeface="Arial" panose="020B0604020202020204" pitchFamily="34" charset="0"/>
              </a:rPr>
              <a:t>. </a:t>
            </a:r>
            <a:endParaRPr lang="en-US" dirty="0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Clr>
                <a:schemeClr val="accent1"/>
              </a:buClr>
              <a:buSzTx/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</a:rPr>
              <a:t>Short-term scheduler is invoked very frequently (milliseconds) </a:t>
            </a:r>
            <a:r>
              <a:rPr lang="en-US" sz="2800" dirty="0">
                <a:latin typeface="Arial" panose="020B0604020202020204" pitchFamily="34" charset="0"/>
                <a:sym typeface="Symbol" panose="05050102010706020507" pitchFamily="18" charset="2"/>
              </a:rPr>
              <a:t> (must be fast).</a:t>
            </a:r>
          </a:p>
          <a:p>
            <a:pPr lvl="1" eaLnBrk="1" hangingPunct="1">
              <a:lnSpc>
                <a:spcPct val="90000"/>
              </a:lnSpc>
              <a:buClr>
                <a:schemeClr val="accent1"/>
              </a:buClr>
              <a:buSzTx/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sym typeface="Symbol" panose="05050102010706020507" pitchFamily="18" charset="2"/>
              </a:rPr>
              <a:t>Invoked when following events occur</a:t>
            </a:r>
          </a:p>
          <a:p>
            <a:pPr lvl="2" eaLnBrk="1" hangingPunct="1">
              <a:lnSpc>
                <a:spcPct val="90000"/>
              </a:lnSpc>
              <a:buClr>
                <a:schemeClr val="accent1"/>
              </a:buClr>
              <a:buSzTx/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sym typeface="Symbol" panose="05050102010706020507" pitchFamily="18" charset="2"/>
              </a:rPr>
              <a:t>CPU slice of the current process finishes</a:t>
            </a:r>
          </a:p>
          <a:p>
            <a:pPr lvl="2" eaLnBrk="1" hangingPunct="1">
              <a:lnSpc>
                <a:spcPct val="90000"/>
              </a:lnSpc>
              <a:buClr>
                <a:schemeClr val="accent1"/>
              </a:buClr>
              <a:buSzTx/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sym typeface="Symbol" panose="05050102010706020507" pitchFamily="18" charset="2"/>
              </a:rPr>
              <a:t>Current process needs to wait for an event</a:t>
            </a:r>
          </a:p>
          <a:p>
            <a:pPr lvl="2" eaLnBrk="1" hangingPunct="1">
              <a:lnSpc>
                <a:spcPct val="90000"/>
              </a:lnSpc>
              <a:buClr>
                <a:schemeClr val="accent1"/>
              </a:buClr>
              <a:buSzTx/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sym typeface="Symbol" panose="05050102010706020507" pitchFamily="18" charset="2"/>
              </a:rPr>
              <a:t>Clock interrupt</a:t>
            </a:r>
          </a:p>
          <a:p>
            <a:pPr lvl="2" eaLnBrk="1" hangingPunct="1">
              <a:lnSpc>
                <a:spcPct val="90000"/>
              </a:lnSpc>
              <a:buClr>
                <a:schemeClr val="accent1"/>
              </a:buClr>
              <a:buSzTx/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sym typeface="Symbol" panose="05050102010706020507" pitchFamily="18" charset="2"/>
              </a:rPr>
              <a:t>I/O interrupt</a:t>
            </a:r>
          </a:p>
          <a:p>
            <a:pPr lvl="2" eaLnBrk="1" hangingPunct="1">
              <a:lnSpc>
                <a:spcPct val="90000"/>
              </a:lnSpc>
              <a:buClr>
                <a:schemeClr val="accent1"/>
              </a:buClr>
              <a:buSzTx/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sym typeface="Symbol" panose="05050102010706020507" pitchFamily="18" charset="2"/>
              </a:rPr>
              <a:t>System call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A067F0-6ECD-4FEA-B849-7F4B24C8B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2354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1981200" y="274638"/>
            <a:ext cx="8229600" cy="1401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9F9F9"/>
              </a:buClr>
              <a:buSzPct val="65000"/>
              <a:buFont typeface="Wingdings 2" panose="05020102010507070707" pitchFamily="18" charset="2"/>
              <a:buChar char="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80000"/>
              <a:buFont typeface="Wingdings 2" panose="05020102010507070707" pitchFamily="18" charset="2"/>
              <a:buChar char="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"/>
              <a:defRPr sz="2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  <a:defRPr/>
            </a:pPr>
            <a:r>
              <a:rPr lang="en-US" sz="4500" dirty="0">
                <a:latin typeface="Tw Cen MT Condensed (Headings)"/>
              </a:rPr>
              <a:t>Medium Term Scheduler</a:t>
            </a:r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1981200" y="1828800"/>
            <a:ext cx="9375058" cy="4586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9F9F9"/>
              </a:buClr>
              <a:buSzPct val="65000"/>
              <a:buFont typeface="Wingdings 2" panose="05020102010507070707" pitchFamily="18" charset="2"/>
              <a:buChar char="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80000"/>
              <a:buFont typeface="Wingdings 2" panose="05020102010507070707" pitchFamily="18" charset="2"/>
              <a:buChar char="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"/>
              <a:defRPr sz="2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buClr>
                <a:schemeClr val="accent1"/>
              </a:buClr>
              <a:buSzTx/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Also known as </a:t>
            </a:r>
            <a:r>
              <a:rPr lang="en-US" b="1" dirty="0">
                <a:latin typeface="Arial" panose="020B0604020202020204" pitchFamily="34" charset="0"/>
              </a:rPr>
              <a:t>swapper</a:t>
            </a:r>
          </a:p>
          <a:p>
            <a:pPr eaLnBrk="1" hangingPunct="1">
              <a:buClr>
                <a:schemeClr val="accent1"/>
              </a:buClr>
              <a:buSzTx/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Selects an in-memory process and swaps it out to the disk temporarily</a:t>
            </a:r>
          </a:p>
          <a:p>
            <a:pPr eaLnBrk="1" hangingPunct="1">
              <a:buClr>
                <a:schemeClr val="accent1"/>
              </a:buClr>
              <a:buSzTx/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Swapping decision is based on several factors</a:t>
            </a:r>
          </a:p>
          <a:p>
            <a:pPr lvl="1" eaLnBrk="1" hangingPunct="1">
              <a:buClr>
                <a:schemeClr val="accent1"/>
              </a:buClr>
              <a:buSzTx/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</a:rPr>
              <a:t>Arrival of a higher priority process but no memory available</a:t>
            </a:r>
          </a:p>
          <a:p>
            <a:pPr lvl="1" eaLnBrk="1" hangingPunct="1">
              <a:buClr>
                <a:schemeClr val="accent1"/>
              </a:buClr>
              <a:buSzTx/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</a:rPr>
              <a:t>Poor mix of jobs</a:t>
            </a:r>
          </a:p>
          <a:p>
            <a:pPr lvl="1" eaLnBrk="1" hangingPunct="1">
              <a:buClr>
                <a:schemeClr val="accent1"/>
              </a:buClr>
              <a:buSzTx/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</a:rPr>
              <a:t>Memory request of a process cannot be met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2E85E8-C5C8-42AD-B27A-85848C6A3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8101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1981200" y="274638"/>
            <a:ext cx="8229600" cy="1401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9F9F9"/>
              </a:buClr>
              <a:buSzPct val="65000"/>
              <a:buFont typeface="Wingdings 2" panose="05020102010507070707" pitchFamily="18" charset="2"/>
              <a:buChar char="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80000"/>
              <a:buFont typeface="Wingdings 2" panose="05020102010507070707" pitchFamily="18" charset="2"/>
              <a:buChar char="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"/>
              <a:defRPr sz="2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  <a:defRPr/>
            </a:pPr>
            <a:r>
              <a:rPr lang="en-US" sz="4500" dirty="0">
                <a:latin typeface="Tw Cen MT Condensed (Headings)"/>
              </a:rPr>
              <a:t>Addition of Medium Term Scheduling</a:t>
            </a:r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" t="27388" r="580" b="27545"/>
          <a:stretch>
            <a:fillRect/>
          </a:stretch>
        </p:blipFill>
        <p:spPr bwMode="auto">
          <a:xfrm>
            <a:off x="1155290" y="2098622"/>
            <a:ext cx="10089033" cy="3635477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276249-0F89-4753-A697-7DC3FFC50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2761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16812</TotalTime>
  <Words>718</Words>
  <Application>Microsoft Office PowerPoint</Application>
  <PresentationFormat>Widescreen</PresentationFormat>
  <Paragraphs>107</Paragraphs>
  <Slides>20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6" baseType="lpstr">
      <vt:lpstr>MS PGothic</vt:lpstr>
      <vt:lpstr>Arial</vt:lpstr>
      <vt:lpstr>Arial</vt:lpstr>
      <vt:lpstr>Helvetica</vt:lpstr>
      <vt:lpstr>Monotype Sorts</vt:lpstr>
      <vt:lpstr>新細明體</vt:lpstr>
      <vt:lpstr>Symbol</vt:lpstr>
      <vt:lpstr>Times New Roman</vt:lpstr>
      <vt:lpstr>Tw Cen MT</vt:lpstr>
      <vt:lpstr>Tw Cen MT Condensed</vt:lpstr>
      <vt:lpstr>Tw Cen MT Condensed (Headings)</vt:lpstr>
      <vt:lpstr>Verdana</vt:lpstr>
      <vt:lpstr>Wingdings</vt:lpstr>
      <vt:lpstr>Wingdings 2</vt:lpstr>
      <vt:lpstr>Wingdings 3</vt:lpstr>
      <vt:lpstr>Integral</vt:lpstr>
      <vt:lpstr>Chapter 3:  Processes</vt:lpstr>
      <vt:lpstr>Process Concept</vt:lpstr>
      <vt:lpstr>Process in Memory</vt:lpstr>
      <vt:lpstr>Memory Layout of a C Program</vt:lpstr>
      <vt:lpstr>Process Concept (Cont.)</vt:lpstr>
      <vt:lpstr>Process State</vt:lpstr>
      <vt:lpstr>Diagram of Process State</vt:lpstr>
      <vt:lpstr>Process Control Block (PCB)</vt:lpstr>
      <vt:lpstr>Process Scheduling</vt:lpstr>
      <vt:lpstr>Ready and Wait Queues</vt:lpstr>
      <vt:lpstr>Representation of Process Scheduling</vt:lpstr>
      <vt:lpstr>CPU Switch From Process to Process</vt:lpstr>
      <vt:lpstr>Context Switch</vt:lpstr>
      <vt:lpstr>Process Scheduling Queues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ayesha</dc:creator>
  <cp:lastModifiedBy>Ayesha Asmat</cp:lastModifiedBy>
  <cp:revision>362</cp:revision>
  <cp:lastPrinted>2013-10-02T18:16:40Z</cp:lastPrinted>
  <dcterms:created xsi:type="dcterms:W3CDTF">2011-01-13T23:43:38Z</dcterms:created>
  <dcterms:modified xsi:type="dcterms:W3CDTF">2022-10-19T03:45:30Z</dcterms:modified>
</cp:coreProperties>
</file>