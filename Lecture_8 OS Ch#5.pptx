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handoutMasterIdLst>
    <p:handoutMasterId r:id="rId21"/>
  </p:handoutMasterIdLst>
  <p:sldIdLst>
    <p:sldId id="331" r:id="rId3"/>
    <p:sldId id="350" r:id="rId5"/>
    <p:sldId id="413" r:id="rId6"/>
    <p:sldId id="351" r:id="rId7"/>
    <p:sldId id="352" r:id="rId8"/>
    <p:sldId id="353" r:id="rId9"/>
    <p:sldId id="399" r:id="rId10"/>
    <p:sldId id="354" r:id="rId11"/>
    <p:sldId id="400" r:id="rId12"/>
    <p:sldId id="414" r:id="rId13"/>
    <p:sldId id="415" r:id="rId14"/>
    <p:sldId id="356" r:id="rId15"/>
    <p:sldId id="412" r:id="rId16"/>
    <p:sldId id="418" r:id="rId17"/>
    <p:sldId id="421" r:id="rId18"/>
    <p:sldId id="422" r:id="rId19"/>
    <p:sldId id="423" r:id="rId20"/>
  </p:sldIdLst>
  <p:sldSz cx="12192000" cy="6858000"/>
  <p:notesSz cx="7086600" cy="93726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 userDrawn="1">
          <p15:clr>
            <a:srgbClr val="A4A3A4"/>
          </p15:clr>
        </p15:guide>
        <p15:guide id="2" pos="5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85" autoAdjust="0"/>
    <p:restoredTop sz="94635"/>
  </p:normalViewPr>
  <p:slideViewPr>
    <p:cSldViewPr snapToGrid="0" showGuides="1">
      <p:cViewPr varScale="1">
        <p:scale>
          <a:sx n="62" d="100"/>
          <a:sy n="62" d="100"/>
        </p:scale>
        <p:origin x="876" y="66"/>
      </p:cViewPr>
      <p:guideLst>
        <p:guide orient="horz" pos="816"/>
        <p:guide pos="5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06738" cy="446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ctr" anchorCtr="0" compatLnSpc="1"/>
          <a:lstStyle>
            <a:lvl1pPr defTabSz="890905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4150" y="0"/>
            <a:ext cx="3105150" cy="446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ctr" anchorCtr="0" compatLnSpc="1"/>
          <a:lstStyle>
            <a:lvl1pPr algn="r" defTabSz="890905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39213"/>
            <a:ext cx="3106738" cy="446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b" anchorCtr="0" compatLnSpc="1"/>
          <a:lstStyle>
            <a:lvl1pPr defTabSz="890905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4150" y="8939213"/>
            <a:ext cx="3105150" cy="446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b" anchorCtr="0" compatLnSpc="1"/>
          <a:lstStyle>
            <a:lvl1pPr algn="r" defTabSz="890905">
              <a:defRPr sz="1100">
                <a:latin typeface="Helvetica" panose="020B0604020202020204" pitchFamily="34" charset="0"/>
                <a:ea typeface="MS PGothic" panose="020B0600070205080204" charset="-128"/>
              </a:defRPr>
            </a:lvl1pPr>
          </a:lstStyle>
          <a:p>
            <a:pPr>
              <a:defRPr/>
            </a:pPr>
            <a:fld id="{E0F0762C-192C-43F0-9235-1ED3B30BABF7}" type="slidenum">
              <a:rPr lang="en-US" altLang="x-none"/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ctr" anchorCtr="0" compatLnSpc="1"/>
          <a:lstStyle>
            <a:lvl1pPr defTabSz="93980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ctr" anchorCtr="0" compatLnSpc="1"/>
          <a:lstStyle>
            <a:lvl1pPr algn="r" defTabSz="93980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20688" y="704850"/>
            <a:ext cx="6246812" cy="3514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452938"/>
            <a:ext cx="5197475" cy="42148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ctr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b" anchorCtr="0" compatLnSpc="1"/>
          <a:lstStyle>
            <a:lvl1pPr defTabSz="93980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b" anchorCtr="0" compatLnSpc="1"/>
          <a:lstStyle>
            <a:lvl1pPr algn="r" defTabSz="939800">
              <a:defRPr sz="1200">
                <a:latin typeface="Times New Roman" panose="02020603050405020304" pitchFamily="18" charset="0"/>
                <a:ea typeface="MS PGothic" panose="020B0600070205080204" charset="-128"/>
              </a:defRPr>
            </a:lvl1pPr>
          </a:lstStyle>
          <a:p>
            <a:pPr>
              <a:defRPr/>
            </a:pPr>
            <a:fld id="{C9F949B7-291A-4420-9D9C-B1ABA67FB313}" type="slidenum">
              <a:rPr lang="en-US" altLang="x-none"/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charset="-128"/>
        <a:cs typeface="MS PGothic" panose="020B060007020508020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9pPr>
          </a:lstStyle>
          <a:p>
            <a:fld id="{70CF72FA-BC85-4452-9FD4-6F163D5E4845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9pPr>
          </a:lstStyle>
          <a:p>
            <a:fld id="{C4057CCE-FB24-4DCD-B59A-EF29E3EC48F5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9pPr>
          </a:lstStyle>
          <a:p>
            <a:fld id="{3E953E37-7182-4EB1-8FE4-F2B2E6FF161A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9pPr>
          </a:lstStyle>
          <a:p>
            <a:fld id="{EAF2CFA1-F1C4-4CAE-A60E-FA4BA9406BF9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9pPr>
          </a:lstStyle>
          <a:p>
            <a:fld id="{8A7A2607-C363-42A4-A7E7-0B2A0C05B6FD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9pPr>
          </a:lstStyle>
          <a:p>
            <a:fld id="{EAD9CD47-795C-4CBD-956A-ABB15F37534F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9pPr>
          </a:lstStyle>
          <a:p>
            <a:fld id="{58111378-CDE2-4578-A4A0-6AE31376CE67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9pPr>
          </a:lstStyle>
          <a:p>
            <a:fld id="{7F0E056A-E87D-4C53-83CF-B2CDD3330A52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charset="-128"/>
              </a:defRPr>
            </a:lvl9pPr>
          </a:lstStyle>
          <a:p>
            <a:fld id="{8014E645-70B9-4D60-95A0-CCC1F65E091F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ACA0314-E5D9-4509-9AF9-A7EA88DFAD0A}" type="slidenum">
              <a:rPr lang="en-US"/>
            </a:fld>
            <a:endParaRPr lang="en-US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BAE5287-434B-4E28-B04B-E31B51CD754A}" type="slidenum">
              <a:rPr lang="en-US"/>
            </a:fld>
            <a:endParaRPr lang="en-US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5"/>
          <p:cNvSpPr/>
          <p:nvPr/>
        </p:nvSpPr>
        <p:spPr>
          <a:xfrm>
            <a:off x="-1" y="2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38600" y="1171525"/>
            <a:ext cx="7772400" cy="1463040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136643" y="312860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350"/>
            </a:lvl4pPr>
            <a:lvl5pPr marL="1371600" indent="0" algn="ctr">
              <a:buNone/>
              <a:defRPr sz="1350"/>
            </a:lvl5pPr>
            <a:lvl6pPr marL="1714500" indent="0" algn="ctr">
              <a:buNone/>
              <a:defRPr sz="1350"/>
            </a:lvl6pPr>
            <a:lvl7pPr marL="2057400" indent="0" algn="ctr">
              <a:buNone/>
              <a:defRPr sz="1350"/>
            </a:lvl7pPr>
            <a:lvl8pPr marL="2400300" indent="0" algn="ctr">
              <a:buNone/>
              <a:defRPr sz="1350"/>
            </a:lvl8pPr>
            <a:lvl9pPr marL="2743200" indent="0" algn="ctr">
              <a:buNone/>
              <a:defRPr sz="1350"/>
            </a:lvl9pPr>
          </a:lstStyle>
          <a:p>
            <a:r>
              <a:rPr lang="en-US" dirty="0"/>
              <a:t>Ayesha Asmat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4237923" y="1445845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Image result for umt 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4193" y="1241950"/>
            <a:ext cx="2843409" cy="2152933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8600" y="1712254"/>
            <a:ext cx="7772400" cy="1463040"/>
          </a:xfrm>
        </p:spPr>
        <p:txBody>
          <a:bodyPr anchor="ctr">
            <a:normAutofit/>
          </a:bodyPr>
          <a:lstStyle>
            <a:lvl1pPr algn="r">
              <a:defRPr sz="3750" b="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636933" y="3702664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Ayesha Asmat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4319811" y="1986574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Image result for umt 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9341" y="1556102"/>
            <a:ext cx="2834995" cy="2146562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725" b="0" cap="none" baseline="0">
                <a:solidFill>
                  <a:schemeClr val="accent1"/>
                </a:solidFill>
                <a:latin typeface="+mn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725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1350"/>
              </a:spcBef>
              <a:buNone/>
            </a:pPr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825"/>
            </a:lvl1pPr>
          </a:lstStyle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450"/>
              </a:spcBef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2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203513" y="1928646"/>
            <a:ext cx="7642745" cy="2127250"/>
          </a:xfrm>
        </p:spPr>
        <p:txBody>
          <a:bodyPr/>
          <a:lstStyle>
            <a:lvl1pPr>
              <a:defRPr sz="32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Image result for umt 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85671" y="1928646"/>
            <a:ext cx="2809491" cy="2127250"/>
          </a:xfrm>
          <a:prstGeom prst="rect">
            <a:avLst/>
          </a:prstGeom>
          <a:noFill/>
        </p:spPr>
      </p:pic>
      <p:cxnSp>
        <p:nvCxnSpPr>
          <p:cNvPr id="4" name="Straight Connector 3"/>
          <p:cNvCxnSpPr/>
          <p:nvPr/>
        </p:nvCxnSpPr>
        <p:spPr>
          <a:xfrm flipV="1">
            <a:off x="4210629" y="2514600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9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685800" rtl="0" eaLnBrk="1" latinLnBrk="0" hangingPunct="1">
        <a:lnSpc>
          <a:spcPct val="80000"/>
        </a:lnSpc>
        <a:spcBef>
          <a:spcPct val="0"/>
        </a:spcBef>
        <a:buNone/>
        <a:defRPr sz="3750" kern="1200" cap="all" spc="75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198755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anose="05040102010807070707" pitchFamily="18" charset="2"/>
        <a:buChar char="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335915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anose="05040102010807070707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44577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anose="05040102010807070707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58293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anose="05040102010807070707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anose="05040102010807070707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795655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anose="05040102010807070707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91186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anose="05040102010807070707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021715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anose="05040102010807070707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687529" y="2006754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5:  CPU Scheduling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5341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Round Robin (RR)</a:t>
            </a:r>
            <a:endParaRPr lang="en-US" altLang="en-US" dirty="0"/>
          </a:p>
        </p:txBody>
      </p:sp>
      <p:sp>
        <p:nvSpPr>
          <p:cNvPr id="39938" name="Rectangle 3"/>
          <p:cNvSpPr>
            <a:spLocks noGrp="1" noChangeArrowheads="1"/>
          </p:cNvSpPr>
          <p:nvPr>
            <p:ph idx="1"/>
          </p:nvPr>
        </p:nvSpPr>
        <p:spPr>
          <a:xfrm>
            <a:off x="1219200" y="1058277"/>
            <a:ext cx="10464800" cy="5165542"/>
          </a:xfrm>
        </p:spPr>
        <p:txBody>
          <a:bodyPr>
            <a:noAutofit/>
          </a:bodyPr>
          <a:lstStyle/>
          <a:p>
            <a:r>
              <a:rPr lang="en-US" altLang="en-US" sz="2800" dirty="0"/>
              <a:t>Each process gets a small unit of CPU time (</a:t>
            </a:r>
            <a:r>
              <a:rPr lang="en-US" altLang="en-US" sz="2800" b="1" dirty="0">
                <a:solidFill>
                  <a:srgbClr val="006699"/>
                </a:solidFill>
                <a:latin typeface="+mj-lt"/>
              </a:rPr>
              <a:t>time quantum </a:t>
            </a:r>
            <a:r>
              <a:rPr lang="en-US" altLang="en-US" sz="2800" i="1" dirty="0"/>
              <a:t>q</a:t>
            </a:r>
            <a:r>
              <a:rPr lang="en-US" altLang="en-US" sz="2800" dirty="0"/>
              <a:t>), usually 10-100 milliseconds.  After this time has elapsed, the process is preempted and added to the end of the ready queue.</a:t>
            </a:r>
            <a:endParaRPr lang="en-US" altLang="en-US" sz="2800" dirty="0"/>
          </a:p>
          <a:p>
            <a:r>
              <a:rPr lang="en-US" altLang="en-US" sz="2800" dirty="0"/>
              <a:t>If there are </a:t>
            </a:r>
            <a:r>
              <a:rPr lang="en-US" altLang="en-US" sz="2800" i="1" dirty="0"/>
              <a:t>n</a:t>
            </a:r>
            <a:r>
              <a:rPr lang="en-US" altLang="en-US" sz="2800" dirty="0"/>
              <a:t> processes in the ready queue and the time quantum is </a:t>
            </a:r>
            <a:r>
              <a:rPr lang="en-US" altLang="en-US" sz="2800" i="1" dirty="0"/>
              <a:t>q</a:t>
            </a:r>
            <a:r>
              <a:rPr lang="en-US" altLang="en-US" sz="2800" dirty="0"/>
              <a:t>, then each process gets 1/</a:t>
            </a:r>
            <a:r>
              <a:rPr lang="en-US" altLang="en-US" sz="2800" i="1" dirty="0"/>
              <a:t>n</a:t>
            </a:r>
            <a:r>
              <a:rPr lang="en-US" altLang="en-US" sz="2800" dirty="0"/>
              <a:t> of the CPU time in chunks of at most </a:t>
            </a:r>
            <a:r>
              <a:rPr lang="en-US" altLang="en-US" sz="2800" i="1" dirty="0"/>
              <a:t>q</a:t>
            </a:r>
            <a:r>
              <a:rPr lang="en-US" altLang="en-US" sz="2800" dirty="0"/>
              <a:t> time units at once.  No process waits more than (</a:t>
            </a:r>
            <a:r>
              <a:rPr lang="en-US" altLang="en-US" sz="2800" i="1" dirty="0"/>
              <a:t>n</a:t>
            </a:r>
            <a:r>
              <a:rPr lang="en-US" altLang="en-US" sz="2800" dirty="0"/>
              <a:t>-1)</a:t>
            </a:r>
            <a:r>
              <a:rPr lang="en-US" altLang="en-US" sz="2800" i="1" dirty="0"/>
              <a:t>q </a:t>
            </a:r>
            <a:r>
              <a:rPr lang="en-US" altLang="en-US" sz="2800" dirty="0"/>
              <a:t>time units.</a:t>
            </a:r>
            <a:endParaRPr lang="en-US" altLang="en-US" sz="2800" dirty="0"/>
          </a:p>
          <a:p>
            <a:r>
              <a:rPr lang="en-US" altLang="en-US" sz="2800" dirty="0"/>
              <a:t>Timer interrupts every quantum to schedule next process</a:t>
            </a:r>
            <a:endParaRPr lang="en-US" altLang="en-US" sz="2800" dirty="0"/>
          </a:p>
          <a:p>
            <a:r>
              <a:rPr lang="en-US" altLang="en-US" sz="2800" dirty="0"/>
              <a:t>Performance</a:t>
            </a:r>
            <a:endParaRPr lang="en-US" altLang="en-US" sz="2800" dirty="0"/>
          </a:p>
          <a:p>
            <a:pPr lvl="1"/>
            <a:r>
              <a:rPr lang="en-US" altLang="en-US" sz="2000" i="1" dirty="0"/>
              <a:t>q</a:t>
            </a:r>
            <a:r>
              <a:rPr lang="en-US" altLang="en-US" sz="2000" dirty="0"/>
              <a:t> large </a:t>
            </a:r>
            <a:r>
              <a:rPr lang="en-US" altLang="en-US" sz="2000" dirty="0">
                <a:sym typeface="Symbol" panose="05050102010706020507" pitchFamily="18" charset="2"/>
              </a:rPr>
              <a:t> FIFO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 lvl="1"/>
            <a:r>
              <a:rPr lang="en-US" altLang="en-US" sz="2000" i="1" dirty="0">
                <a:sym typeface="Symbol" panose="05050102010706020507" pitchFamily="18" charset="2"/>
              </a:rPr>
              <a:t>q </a:t>
            </a:r>
            <a:r>
              <a:rPr lang="en-US" altLang="en-US" sz="2000" dirty="0">
                <a:sym typeface="Symbol" panose="05050102010706020507" pitchFamily="18" charset="2"/>
              </a:rPr>
              <a:t>small  </a:t>
            </a:r>
            <a:r>
              <a:rPr lang="en-US" altLang="en-US" sz="2000" i="1" dirty="0">
                <a:sym typeface="Symbol" panose="05050102010706020507" pitchFamily="18" charset="2"/>
              </a:rPr>
              <a:t>q </a:t>
            </a:r>
            <a:r>
              <a:rPr lang="en-US" altLang="en-US" sz="2000" dirty="0">
                <a:sym typeface="Symbol" panose="05050102010706020507" pitchFamily="18" charset="2"/>
              </a:rPr>
              <a:t>must be large with respect to context switch, otherwise overhead is too high</a:t>
            </a:r>
            <a:endParaRPr lang="en-US" altLang="en-US" sz="20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 of RR with Time Quantum =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8"/>
          <p:cNvGraphicFramePr>
            <a:graphicFrameLocks noGrp="1"/>
          </p:cNvGraphicFramePr>
          <p:nvPr/>
        </p:nvGraphicFramePr>
        <p:xfrm>
          <a:off x="2497393" y="1755056"/>
          <a:ext cx="6577782" cy="3986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594"/>
                <a:gridCol w="2192594"/>
                <a:gridCol w="2192594"/>
              </a:tblGrid>
              <a:tr h="664464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effectLst/>
                        </a:rPr>
                        <a:t>Process Id</a:t>
                      </a:r>
                      <a:endParaRPr lang="en-US" sz="2400" dirty="0">
                        <a:effectLst/>
                      </a:endParaRP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effectLst/>
                        </a:rPr>
                        <a:t>Arrival time</a:t>
                      </a:r>
                      <a:endParaRPr lang="en-US" sz="2400">
                        <a:effectLst/>
                      </a:endParaRP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effectLst/>
                        </a:rPr>
                        <a:t>Burst time</a:t>
                      </a:r>
                      <a:endParaRPr lang="en-US" sz="2400">
                        <a:effectLst/>
                      </a:endParaRPr>
                    </a:p>
                  </a:txBody>
                  <a:tcPr marL="95250" marR="95250" marT="76200" marB="76200" anchor="ctr"/>
                </a:tc>
              </a:tr>
              <a:tr h="664464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</a:rPr>
                        <a:t>P1</a:t>
                      </a:r>
                      <a:endParaRPr lang="en-US" sz="2400">
                        <a:effectLst/>
                      </a:endParaRP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0</a:t>
                      </a:r>
                      <a:endParaRPr lang="en-US" sz="2400" dirty="0">
                        <a:effectLst/>
                      </a:endParaRP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4</a:t>
                      </a:r>
                      <a:endParaRPr lang="en-US" sz="2400" dirty="0">
                        <a:effectLst/>
                      </a:endParaRPr>
                    </a:p>
                  </a:txBody>
                  <a:tcPr marL="95250" marR="95250" marT="76200" marB="76200" anchor="ctr"/>
                </a:tc>
              </a:tr>
              <a:tr h="664464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</a:rPr>
                        <a:t>P2</a:t>
                      </a:r>
                      <a:endParaRPr lang="en-US" sz="2400">
                        <a:effectLst/>
                      </a:endParaRP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0</a:t>
                      </a:r>
                      <a:endParaRPr lang="en-US" sz="2400" dirty="0">
                        <a:effectLst/>
                      </a:endParaRP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3</a:t>
                      </a:r>
                      <a:endParaRPr lang="en-US" sz="2400" dirty="0">
                        <a:effectLst/>
                      </a:endParaRPr>
                    </a:p>
                  </a:txBody>
                  <a:tcPr marL="95250" marR="95250" marT="76200" marB="76200" anchor="ctr"/>
                </a:tc>
              </a:tr>
              <a:tr h="664464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</a:rPr>
                        <a:t>P3</a:t>
                      </a:r>
                      <a:endParaRPr lang="en-US" sz="2400">
                        <a:effectLst/>
                      </a:endParaRP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0</a:t>
                      </a:r>
                      <a:endParaRPr lang="en-US" sz="2400" dirty="0">
                        <a:effectLst/>
                      </a:endParaRP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</a:rPr>
                        <a:t>1</a:t>
                      </a:r>
                      <a:endParaRPr lang="en-US" sz="2400">
                        <a:effectLst/>
                      </a:endParaRPr>
                    </a:p>
                  </a:txBody>
                  <a:tcPr marL="95250" marR="95250" marT="76200" marB="76200" anchor="ctr"/>
                </a:tc>
              </a:tr>
              <a:tr h="664464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</a:rPr>
                        <a:t>P4</a:t>
                      </a:r>
                      <a:endParaRPr lang="en-US" sz="2400">
                        <a:effectLst/>
                      </a:endParaRP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0</a:t>
                      </a:r>
                      <a:endParaRPr lang="en-US" sz="2400" dirty="0">
                        <a:effectLst/>
                      </a:endParaRP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</a:rPr>
                        <a:t>5</a:t>
                      </a:r>
                      <a:endParaRPr lang="en-US" sz="2400">
                        <a:effectLst/>
                      </a:endParaRPr>
                    </a:p>
                  </a:txBody>
                  <a:tcPr marL="95250" marR="95250" marT="76200" marB="76200" anchor="ctr"/>
                </a:tc>
              </a:tr>
              <a:tr h="664464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</a:rPr>
                        <a:t>P5</a:t>
                      </a:r>
                      <a:endParaRPr lang="en-US" sz="2400">
                        <a:effectLst/>
                      </a:endParaRP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0</a:t>
                      </a:r>
                      <a:endParaRPr lang="en-US" sz="2400" dirty="0">
                        <a:effectLst/>
                      </a:endParaRP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2</a:t>
                      </a:r>
                      <a:endParaRPr lang="en-US" sz="2400" dirty="0">
                        <a:effectLst/>
                      </a:endParaRPr>
                    </a:p>
                  </a:txBody>
                  <a:tcPr marL="95250" marR="95250" marT="76200" marB="76200" anchor="ctr"/>
                </a:tc>
              </a:tr>
            </a:tbl>
          </a:graphicData>
        </a:graphic>
      </p:graphicFrame>
      <p:sp>
        <p:nvSpPr>
          <p:cNvPr id="5" name="Content Placeholder 2"/>
          <p:cNvSpPr txBox="1"/>
          <p:nvPr/>
        </p:nvSpPr>
        <p:spPr>
          <a:xfrm>
            <a:off x="2232513" y="6082235"/>
            <a:ext cx="7726975" cy="477258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68580" indent="-68580" algn="l" defTabSz="6858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15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8755" indent="-10287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Wingdings 3" panose="05040102010807070707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35915" indent="-10287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Wingdings 3" panose="05040102010807070707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45770" indent="-10287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Wingdings 3" panose="05040102010807070707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82930" indent="-10287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Wingdings 3" panose="05040102010807070707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85800" indent="-10287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Wingdings 3" panose="05040102010807070707" pitchFamily="18" charset="2"/>
              <a:buChar char="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95655" indent="-10287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Wingdings 3" panose="05040102010807070707" pitchFamily="18" charset="2"/>
              <a:buChar char="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11860" indent="-10287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Wingdings 3" panose="05040102010807070707" pitchFamily="18" charset="2"/>
              <a:buChar char="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21715" indent="-10287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Wingdings 3" panose="05040102010807070707" pitchFamily="18" charset="2"/>
              <a:buChar char="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Solution discussed in class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>
          <a:xfrm>
            <a:off x="2503833" y="86668"/>
            <a:ext cx="8418610" cy="647700"/>
          </a:xfrm>
        </p:spPr>
        <p:txBody>
          <a:bodyPr/>
          <a:lstStyle/>
          <a:p>
            <a:pPr eaLnBrk="1" hangingPunct="1"/>
            <a:r>
              <a:rPr lang="en-US" altLang="en-US" dirty="0"/>
              <a:t>Example of RR with Time Quantum = 4</a:t>
            </a:r>
            <a:endParaRPr lang="en-US" altLang="en-US" dirty="0"/>
          </a:p>
        </p:txBody>
      </p:sp>
      <p:sp>
        <p:nvSpPr>
          <p:cNvPr id="41986" name="Rectangle 3"/>
          <p:cNvSpPr>
            <a:spLocks noGrp="1" noChangeArrowheads="1"/>
          </p:cNvSpPr>
          <p:nvPr>
            <p:ph idx="1"/>
          </p:nvPr>
        </p:nvSpPr>
        <p:spPr>
          <a:xfrm>
            <a:off x="725714" y="1193800"/>
            <a:ext cx="9213081" cy="5207001"/>
          </a:xfrm>
        </p:spPr>
        <p:txBody>
          <a:bodyPr>
            <a:normAutofit fontScale="92500" lnSpcReduction="10000"/>
          </a:bodyPr>
          <a:lstStyle/>
          <a:p>
            <a:pPr>
              <a:buNone/>
              <a:tabLst>
                <a:tab pos="2219325" algn="ctr"/>
                <a:tab pos="3994150" algn="ctr"/>
              </a:tabLst>
            </a:pPr>
            <a:r>
              <a:rPr lang="en-US" altLang="en-US" dirty="0"/>
              <a:t>		</a:t>
            </a:r>
            <a:r>
              <a:rPr lang="en-US" altLang="en-US" sz="2800" u="sng" dirty="0"/>
              <a:t>Process</a:t>
            </a:r>
            <a:r>
              <a:rPr lang="en-US" altLang="en-US" sz="2800" dirty="0"/>
              <a:t>	</a:t>
            </a:r>
            <a:r>
              <a:rPr lang="en-US" altLang="en-US" sz="2800" u="sng" dirty="0"/>
              <a:t>Burst Time</a:t>
            </a:r>
            <a:endParaRPr lang="en-US" altLang="en-US" sz="2800" u="sng" dirty="0"/>
          </a:p>
          <a:p>
            <a:pPr>
              <a:buNone/>
              <a:tabLst>
                <a:tab pos="2219325" algn="ctr"/>
                <a:tab pos="3994150" algn="ctr"/>
              </a:tabLst>
            </a:pPr>
            <a:r>
              <a:rPr lang="en-US" altLang="en-US" sz="2800" i="1" dirty="0"/>
              <a:t>		P</a:t>
            </a:r>
            <a:r>
              <a:rPr lang="en-US" altLang="en-US" sz="2800" i="1" baseline="-25000" dirty="0"/>
              <a:t>1	</a:t>
            </a:r>
            <a:r>
              <a:rPr lang="en-US" altLang="en-US" sz="2800" dirty="0"/>
              <a:t>24</a:t>
            </a:r>
            <a:endParaRPr lang="en-US" altLang="en-US" sz="2800" dirty="0"/>
          </a:p>
          <a:p>
            <a:pPr>
              <a:buNone/>
              <a:tabLst>
                <a:tab pos="2219325" algn="ctr"/>
                <a:tab pos="3994150" algn="ctr"/>
              </a:tabLst>
            </a:pPr>
            <a:r>
              <a:rPr lang="en-US" altLang="en-US" sz="2800" dirty="0"/>
              <a:t>		 </a:t>
            </a:r>
            <a:r>
              <a:rPr lang="en-US" altLang="en-US" sz="2800" i="1" dirty="0"/>
              <a:t>P</a:t>
            </a:r>
            <a:r>
              <a:rPr lang="en-US" altLang="en-US" sz="2800" i="1" baseline="-25000" dirty="0"/>
              <a:t>2	 </a:t>
            </a:r>
            <a:r>
              <a:rPr lang="en-US" altLang="en-US" sz="2800" dirty="0"/>
              <a:t>3</a:t>
            </a:r>
            <a:endParaRPr lang="en-US" altLang="en-US" sz="2800" dirty="0"/>
          </a:p>
          <a:p>
            <a:pPr>
              <a:buNone/>
              <a:tabLst>
                <a:tab pos="2219325" algn="ctr"/>
                <a:tab pos="3994150" algn="ctr"/>
              </a:tabLst>
            </a:pPr>
            <a:r>
              <a:rPr lang="en-US" altLang="en-US" sz="2800" dirty="0"/>
              <a:t>		 </a:t>
            </a:r>
            <a:r>
              <a:rPr lang="en-US" altLang="en-US" sz="2800" i="1" dirty="0"/>
              <a:t>P</a:t>
            </a:r>
            <a:r>
              <a:rPr lang="en-US" altLang="en-US" sz="2800" i="1" baseline="-25000" dirty="0"/>
              <a:t>3	</a:t>
            </a:r>
            <a:r>
              <a:rPr lang="en-US" altLang="en-US" sz="2800" dirty="0"/>
              <a:t>3	</a:t>
            </a:r>
            <a:endParaRPr lang="en-US" altLang="en-US" sz="2800" dirty="0"/>
          </a:p>
          <a:p>
            <a:pPr>
              <a:tabLst>
                <a:tab pos="2219325" algn="ctr"/>
                <a:tab pos="3994150" algn="ctr"/>
              </a:tabLst>
            </a:pPr>
            <a:r>
              <a:rPr lang="en-US" altLang="en-US" sz="2800" dirty="0"/>
              <a:t>The Gantt chart is: </a:t>
            </a:r>
            <a:br>
              <a:rPr lang="en-US" altLang="en-US" sz="2800" dirty="0"/>
            </a:br>
            <a:br>
              <a:rPr lang="en-US" altLang="en-US" sz="2800" dirty="0"/>
            </a:br>
            <a:br>
              <a:rPr lang="en-US" altLang="en-US" sz="2800" dirty="0"/>
            </a:br>
            <a:br>
              <a:rPr lang="en-US" altLang="en-US" sz="2800" dirty="0"/>
            </a:br>
            <a:endParaRPr lang="en-US" altLang="en-US" sz="2800" dirty="0"/>
          </a:p>
          <a:p>
            <a:pPr>
              <a:tabLst>
                <a:tab pos="2219325" algn="ctr"/>
                <a:tab pos="3994150" algn="ctr"/>
              </a:tabLst>
            </a:pPr>
            <a:r>
              <a:rPr lang="en-US" altLang="en-US" sz="2800" dirty="0"/>
              <a:t>Typically, higher average turnaround than SJF, but better </a:t>
            </a:r>
            <a:r>
              <a:rPr lang="en-US" altLang="en-US" sz="2800" b="1" i="1" dirty="0"/>
              <a:t>response</a:t>
            </a:r>
            <a:endParaRPr lang="en-US" altLang="en-US" sz="2800" b="1" i="1" dirty="0"/>
          </a:p>
          <a:p>
            <a:pPr>
              <a:tabLst>
                <a:tab pos="2219325" algn="ctr"/>
                <a:tab pos="3994150" algn="ctr"/>
              </a:tabLst>
            </a:pPr>
            <a:r>
              <a:rPr lang="en-US" altLang="en-US" sz="2800" dirty="0"/>
              <a:t>q should be large compared to context switch time</a:t>
            </a:r>
            <a:endParaRPr lang="en-US" altLang="en-US" sz="2800" dirty="0"/>
          </a:p>
          <a:p>
            <a:pPr lvl="1">
              <a:tabLst>
                <a:tab pos="2219325" algn="ctr"/>
                <a:tab pos="3994150" algn="ctr"/>
              </a:tabLst>
            </a:pPr>
            <a:r>
              <a:rPr lang="en-US" altLang="en-US" sz="2000" dirty="0"/>
              <a:t>q usually 10 milliseconds  to 100 milliseconds, </a:t>
            </a:r>
            <a:endParaRPr lang="en-US" altLang="en-US" sz="2000" dirty="0"/>
          </a:p>
          <a:p>
            <a:pPr lvl="1">
              <a:tabLst>
                <a:tab pos="2219325" algn="ctr"/>
                <a:tab pos="3994150" algn="ctr"/>
              </a:tabLst>
            </a:pPr>
            <a:r>
              <a:rPr lang="en-US" altLang="en-US" sz="2000" dirty="0"/>
              <a:t>Context switch &lt; 10 microseconds</a:t>
            </a:r>
            <a:endParaRPr lang="en-US" altLang="en-US" sz="2000" dirty="0"/>
          </a:p>
        </p:txBody>
      </p:sp>
      <p:pic>
        <p:nvPicPr>
          <p:cNvPr id="41987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3422" y="3559631"/>
            <a:ext cx="8438535" cy="983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type="title"/>
          </p:nvPr>
        </p:nvSpPr>
        <p:spPr>
          <a:xfrm>
            <a:off x="2809078" y="183273"/>
            <a:ext cx="7829550" cy="5254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Time Quantum and Context Switch Time</a:t>
            </a:r>
            <a:endParaRPr lang="en-US" altLang="en-US" sz="3000" dirty="0"/>
          </a:p>
        </p:txBody>
      </p:sp>
      <p:pic>
        <p:nvPicPr>
          <p:cNvPr id="44034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0160" y="1905463"/>
            <a:ext cx="8571680" cy="358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/>
          </p:nvPr>
        </p:nvSpPr>
        <p:spPr>
          <a:xfrm>
            <a:off x="2306711" y="260322"/>
            <a:ext cx="8722438" cy="457200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Turnaround Time Varies With The Time Quantum</a:t>
            </a:r>
            <a:endParaRPr lang="en-US" altLang="en-US" sz="2600" dirty="0"/>
          </a:p>
        </p:txBody>
      </p:sp>
      <p:pic>
        <p:nvPicPr>
          <p:cNvPr id="46083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588" y="1557339"/>
            <a:ext cx="5791280" cy="4813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2" name="TextBox 3"/>
          <p:cNvSpPr txBox="1">
            <a:spLocks noChangeArrowheads="1"/>
          </p:cNvSpPr>
          <p:nvPr/>
        </p:nvSpPr>
        <p:spPr bwMode="auto">
          <a:xfrm>
            <a:off x="7202130" y="3354389"/>
            <a:ext cx="3052915" cy="923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7" tIns="45709" rIns="91417" bIns="45709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 dirty="0">
                <a:latin typeface="Verdana" panose="020B0604030504040204" pitchFamily="34" charset="0"/>
              </a:rPr>
              <a:t>Thumb Rule</a:t>
            </a:r>
            <a:endParaRPr kumimoji="0" lang="en-US" altLang="en-US" b="1" dirty="0">
              <a:latin typeface="Verdan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>
                <a:latin typeface="Verdana" panose="020B0604030504040204" pitchFamily="34" charset="0"/>
              </a:rPr>
              <a:t>80% of CPU bursts should be shorter than q</a:t>
            </a:r>
            <a:endParaRPr kumimoji="0" lang="en-US" altLang="en-US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>
          <a:xfrm>
            <a:off x="2976826" y="137006"/>
            <a:ext cx="72802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Priority Scheduling w/ Round-Robin</a:t>
            </a:r>
            <a:endParaRPr lang="en-US" altLang="en-US" dirty="0"/>
          </a:p>
        </p:txBody>
      </p:sp>
      <p:sp>
        <p:nvSpPr>
          <p:cNvPr id="52226" name="Rectangle 36"/>
          <p:cNvSpPr>
            <a:spLocks noGrp="1" noChangeArrowheads="1"/>
          </p:cNvSpPr>
          <p:nvPr>
            <p:ph idx="1"/>
          </p:nvPr>
        </p:nvSpPr>
        <p:spPr>
          <a:xfrm>
            <a:off x="2330451" y="877887"/>
            <a:ext cx="9135835" cy="5653541"/>
          </a:xfrm>
          <a:noFill/>
        </p:spPr>
        <p:txBody>
          <a:bodyPr>
            <a:normAutofit/>
          </a:bodyPr>
          <a:lstStyle/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2400" dirty="0"/>
              <a:t>		         </a:t>
            </a:r>
            <a:r>
              <a:rPr lang="en-US" altLang="en-US" sz="2400" u="sng" dirty="0" err="1"/>
              <a:t>Process</a:t>
            </a:r>
            <a:r>
              <a:rPr lang="en-US" altLang="en-US" sz="2400" u="sng" dirty="0" err="1">
                <a:solidFill>
                  <a:schemeClr val="bg1"/>
                </a:solidFill>
              </a:rPr>
              <a:t>A</a:t>
            </a:r>
            <a:r>
              <a:rPr lang="en-US" altLang="en-US" sz="2400" u="sng" dirty="0">
                <a:solidFill>
                  <a:schemeClr val="bg1"/>
                </a:solidFill>
              </a:rPr>
              <a:t>	</a:t>
            </a:r>
            <a:r>
              <a:rPr lang="en-US" altLang="en-US" sz="2400" u="sng" dirty="0"/>
              <a:t>Burst </a:t>
            </a:r>
            <a:r>
              <a:rPr lang="en-US" altLang="en-US" sz="2400" u="sng" dirty="0" err="1"/>
              <a:t>Time</a:t>
            </a:r>
            <a:r>
              <a:rPr lang="en-US" altLang="en-US" sz="2400" u="sng" dirty="0" err="1">
                <a:solidFill>
                  <a:schemeClr val="bg1"/>
                </a:solidFill>
              </a:rPr>
              <a:t>T</a:t>
            </a:r>
            <a:r>
              <a:rPr lang="en-US" altLang="en-US" sz="2400" dirty="0"/>
              <a:t>	</a:t>
            </a:r>
            <a:r>
              <a:rPr lang="en-US" altLang="en-US" sz="2400" u="sng" dirty="0"/>
              <a:t>Priority</a:t>
            </a:r>
            <a:endParaRPr lang="en-US" altLang="en-US" sz="2400" dirty="0"/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2400" dirty="0"/>
              <a:t>		 </a:t>
            </a:r>
            <a:r>
              <a:rPr lang="en-US" altLang="en-US" sz="2400" i="1" dirty="0"/>
              <a:t>P</a:t>
            </a:r>
            <a:r>
              <a:rPr lang="en-US" altLang="en-US" sz="2400" i="1" baseline="-25000" dirty="0"/>
              <a:t>1</a:t>
            </a:r>
            <a:r>
              <a:rPr lang="en-US" altLang="en-US" sz="2400" dirty="0"/>
              <a:t>	4	3</a:t>
            </a:r>
            <a:endParaRPr lang="en-US" altLang="en-US" sz="2400" dirty="0"/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2400" dirty="0"/>
              <a:t>		 </a:t>
            </a:r>
            <a:r>
              <a:rPr lang="en-US" altLang="en-US" sz="2400" i="1" dirty="0"/>
              <a:t>P</a:t>
            </a:r>
            <a:r>
              <a:rPr lang="en-US" altLang="en-US" sz="2400" i="1" baseline="-25000" dirty="0"/>
              <a:t>2 	</a:t>
            </a:r>
            <a:r>
              <a:rPr lang="en-US" altLang="en-US" sz="2400" dirty="0">
                <a:solidFill>
                  <a:srgbClr val="000000"/>
                </a:solidFill>
              </a:rPr>
              <a:t>5</a:t>
            </a:r>
            <a:r>
              <a:rPr lang="en-US" altLang="en-US" sz="2400" dirty="0"/>
              <a:t>	2</a:t>
            </a:r>
            <a:endParaRPr lang="en-US" altLang="en-US" sz="2400" dirty="0"/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2400" dirty="0"/>
              <a:t>		 </a:t>
            </a:r>
            <a:r>
              <a:rPr lang="en-US" altLang="en-US" sz="2400" i="1" dirty="0"/>
              <a:t>P</a:t>
            </a:r>
            <a:r>
              <a:rPr lang="en-US" altLang="en-US" sz="2400" i="1" baseline="-25000" dirty="0"/>
              <a:t>3</a:t>
            </a:r>
            <a:r>
              <a:rPr lang="en-US" altLang="en-US" sz="2400" dirty="0"/>
              <a:t>	</a:t>
            </a:r>
            <a:r>
              <a:rPr lang="en-US" altLang="en-US" sz="2400" dirty="0">
                <a:solidFill>
                  <a:srgbClr val="000000"/>
                </a:solidFill>
              </a:rPr>
              <a:t>8</a:t>
            </a:r>
            <a:r>
              <a:rPr lang="en-US" altLang="en-US" sz="2400" dirty="0"/>
              <a:t>	2</a:t>
            </a:r>
            <a:endParaRPr lang="en-US" altLang="en-US" sz="2400" dirty="0"/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2400" dirty="0"/>
              <a:t>		 </a:t>
            </a:r>
            <a:r>
              <a:rPr lang="en-US" altLang="en-US" sz="2400" i="1" dirty="0"/>
              <a:t>P</a:t>
            </a:r>
            <a:r>
              <a:rPr lang="en-US" altLang="en-US" sz="2400" i="1" baseline="-25000" dirty="0"/>
              <a:t>4</a:t>
            </a:r>
            <a:r>
              <a:rPr lang="en-US" altLang="en-US" sz="2400" dirty="0"/>
              <a:t>	</a:t>
            </a:r>
            <a:r>
              <a:rPr lang="en-US" altLang="en-US" sz="2400" dirty="0">
                <a:solidFill>
                  <a:srgbClr val="000000"/>
                </a:solidFill>
              </a:rPr>
              <a:t>7</a:t>
            </a:r>
            <a:r>
              <a:rPr lang="en-US" altLang="en-US" sz="2400" dirty="0"/>
              <a:t>	1</a:t>
            </a:r>
            <a:endParaRPr lang="en-US" altLang="en-US" sz="2400" dirty="0"/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2400" dirty="0"/>
              <a:t>		</a:t>
            </a:r>
            <a:r>
              <a:rPr lang="en-US" altLang="en-US" sz="2400" i="1" dirty="0"/>
              <a:t>P</a:t>
            </a:r>
            <a:r>
              <a:rPr lang="en-US" altLang="en-US" sz="2400" i="1" baseline="-25000" dirty="0"/>
              <a:t>5	</a:t>
            </a:r>
            <a:r>
              <a:rPr lang="en-US" altLang="en-US" sz="2400" dirty="0"/>
              <a:t>3	3</a:t>
            </a:r>
            <a:endParaRPr lang="en-US" altLang="en-US" sz="2400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2400" dirty="0"/>
              <a:t>Run the process with the highest priority. Processes with the same priority run round-robin</a:t>
            </a:r>
            <a:endParaRPr lang="en-US" altLang="en-US" sz="2400" dirty="0"/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sz="2400" baseline="-25000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2400" dirty="0"/>
              <a:t>Gantt Chart with time quantum = 2</a:t>
            </a:r>
            <a:endParaRPr lang="en-US" altLang="en-US" sz="2400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</p:txBody>
      </p:sp>
      <p:pic>
        <p:nvPicPr>
          <p:cNvPr id="52227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0105" y="5467269"/>
            <a:ext cx="8487084" cy="962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ChangeArrowheads="1"/>
          </p:cNvSpPr>
          <p:nvPr>
            <p:ph type="title"/>
          </p:nvPr>
        </p:nvSpPr>
        <p:spPr>
          <a:xfrm>
            <a:off x="2497138" y="219305"/>
            <a:ext cx="77136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Multilevel Queue</a:t>
            </a:r>
            <a:endParaRPr lang="en-US" altLang="en-US" dirty="0"/>
          </a:p>
        </p:txBody>
      </p:sp>
      <p:sp>
        <p:nvSpPr>
          <p:cNvPr id="54274" name="Rectangle 3"/>
          <p:cNvSpPr>
            <a:spLocks noGrp="1" noChangeArrowheads="1"/>
          </p:cNvSpPr>
          <p:nvPr>
            <p:ph idx="1"/>
          </p:nvPr>
        </p:nvSpPr>
        <p:spPr>
          <a:xfrm>
            <a:off x="1059543" y="1068389"/>
            <a:ext cx="10493828" cy="5570307"/>
          </a:xfrm>
        </p:spPr>
        <p:txBody>
          <a:bodyPr>
            <a:normAutofit/>
          </a:bodyPr>
          <a:lstStyle/>
          <a:p>
            <a:r>
              <a:rPr lang="en-US" altLang="en-US" sz="2800" dirty="0"/>
              <a:t>With priority scheduling, have separate queues for each priority.</a:t>
            </a:r>
            <a:endParaRPr lang="en-US" altLang="en-US" sz="2800" dirty="0"/>
          </a:p>
          <a:p>
            <a:r>
              <a:rPr lang="en-US" altLang="en-US" sz="2800" dirty="0"/>
              <a:t>Schedule the process in the highest-priority queue!</a:t>
            </a:r>
            <a:endParaRPr lang="en-US" altLang="en-US" sz="2800" dirty="0"/>
          </a:p>
        </p:txBody>
      </p:sp>
      <p:pic>
        <p:nvPicPr>
          <p:cNvPr id="54275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9675" y="2501216"/>
            <a:ext cx="4655754" cy="4110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/>
          <p:cNvSpPr>
            <a:spLocks noGrp="1"/>
          </p:cNvSpPr>
          <p:nvPr>
            <p:ph type="title"/>
          </p:nvPr>
        </p:nvSpPr>
        <p:spPr>
          <a:xfrm>
            <a:off x="2414429" y="215191"/>
            <a:ext cx="7880350" cy="576262"/>
          </a:xfrm>
        </p:spPr>
        <p:txBody>
          <a:bodyPr/>
          <a:lstStyle/>
          <a:p>
            <a:r>
              <a:rPr lang="en-US" altLang="en-US" dirty="0"/>
              <a:t>Multilevel Queue</a:t>
            </a:r>
            <a:endParaRPr lang="en-US" altLang="en-US" dirty="0"/>
          </a:p>
        </p:txBody>
      </p:sp>
      <p:sp>
        <p:nvSpPr>
          <p:cNvPr id="56322" name="Content Placeholder 2"/>
          <p:cNvSpPr>
            <a:spLocks noGrp="1"/>
          </p:cNvSpPr>
          <p:nvPr>
            <p:ph idx="1"/>
          </p:nvPr>
        </p:nvSpPr>
        <p:spPr>
          <a:xfrm>
            <a:off x="1611086" y="1117600"/>
            <a:ext cx="7808833" cy="4469089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Prioritization based upon process type</a:t>
            </a:r>
            <a:endParaRPr lang="en-US" altLang="en-US" sz="2400" dirty="0"/>
          </a:p>
        </p:txBody>
      </p:sp>
      <p:pic>
        <p:nvPicPr>
          <p:cNvPr id="56323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602" y="2071565"/>
            <a:ext cx="7909027" cy="4207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414" y="0"/>
            <a:ext cx="9720072" cy="1499616"/>
          </a:xfrm>
        </p:spPr>
        <p:txBody>
          <a:bodyPr/>
          <a:lstStyle/>
          <a:p>
            <a:r>
              <a:rPr lang="en-US" altLang="en-US" dirty="0"/>
              <a:t>Multilevel Queue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5443" y="1313543"/>
            <a:ext cx="9720073" cy="4023360"/>
          </a:xfrm>
        </p:spPr>
        <p:txBody>
          <a:bodyPr/>
          <a:lstStyle/>
          <a:p>
            <a:r>
              <a:rPr lang="en-US" sz="2400" dirty="0"/>
              <a:t>Draw the graph (Gantt chart) for the following processes using </a:t>
            </a:r>
            <a:r>
              <a:rPr lang="en-US" sz="2400" b="1" dirty="0"/>
              <a:t>MQ </a:t>
            </a:r>
            <a:r>
              <a:rPr lang="en-US" sz="2400" dirty="0"/>
              <a:t>Scheduling algorithm. </a:t>
            </a:r>
            <a:endParaRPr lang="en-US" sz="2400" dirty="0"/>
          </a:p>
          <a:p>
            <a:r>
              <a:rPr lang="en-US" sz="2800" b="1" dirty="0"/>
              <a:t>If </a:t>
            </a:r>
            <a:r>
              <a:rPr lang="en-US" sz="2800" dirty="0"/>
              <a:t>(CPU time &lt; 4) </a:t>
            </a:r>
            <a:r>
              <a:rPr lang="en-US" sz="2800" b="1" dirty="0"/>
              <a:t>then </a:t>
            </a:r>
            <a:r>
              <a:rPr lang="en-US" sz="2800" dirty="0"/>
              <a:t>Q1 (FCFS) </a:t>
            </a:r>
            <a:endParaRPr lang="en-US" sz="2800" dirty="0"/>
          </a:p>
          <a:p>
            <a:r>
              <a:rPr lang="en-US" sz="2800" dirty="0"/>
              <a:t>else </a:t>
            </a:r>
            <a:r>
              <a:rPr lang="en-US" sz="2800" b="1" dirty="0"/>
              <a:t>if </a:t>
            </a:r>
            <a:r>
              <a:rPr lang="en-US" sz="2800" dirty="0"/>
              <a:t>(4 &lt;= CPU time &lt; 7) </a:t>
            </a:r>
            <a:r>
              <a:rPr lang="en-US" sz="2800" b="1" dirty="0"/>
              <a:t>then </a:t>
            </a:r>
            <a:r>
              <a:rPr lang="en-US" sz="2800" dirty="0"/>
              <a:t>Q2 (FCFS) </a:t>
            </a:r>
            <a:endParaRPr lang="en-US" sz="2800" dirty="0"/>
          </a:p>
          <a:p>
            <a:r>
              <a:rPr lang="en-US" sz="2800" b="1" dirty="0"/>
              <a:t>else </a:t>
            </a:r>
            <a:r>
              <a:rPr lang="en-US" sz="2800" dirty="0"/>
              <a:t>Q3 (FCFS) </a:t>
            </a:r>
            <a:endParaRPr lang="en-US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30173" y="3342821"/>
            <a:ext cx="6881812" cy="30086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414" y="0"/>
            <a:ext cx="9720072" cy="1499616"/>
          </a:xfrm>
        </p:spPr>
        <p:txBody>
          <a:bodyPr/>
          <a:lstStyle/>
          <a:p>
            <a:r>
              <a:rPr lang="en-US" altLang="en-US" dirty="0"/>
              <a:t>Multilevel Queue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5443" y="1313543"/>
            <a:ext cx="9720073" cy="4023360"/>
          </a:xfrm>
        </p:spPr>
        <p:txBody>
          <a:bodyPr/>
          <a:lstStyle/>
          <a:p>
            <a:r>
              <a:rPr lang="en-US" sz="2800" dirty="0"/>
              <a:t>Draw the graph (Gantt chart) for the following processes using </a:t>
            </a:r>
            <a:r>
              <a:rPr lang="en-US" sz="2800" b="1" dirty="0"/>
              <a:t>MQ </a:t>
            </a:r>
            <a:r>
              <a:rPr lang="en-US" sz="2800" dirty="0"/>
              <a:t>Scheduling algorithm. </a:t>
            </a:r>
            <a:endParaRPr lang="en-US" sz="2800" dirty="0"/>
          </a:p>
          <a:p>
            <a:r>
              <a:rPr lang="en-US" sz="2800" b="1" dirty="0"/>
              <a:t>If </a:t>
            </a:r>
            <a:r>
              <a:rPr lang="en-US" sz="2800" dirty="0"/>
              <a:t>(CPU time &lt; 4) </a:t>
            </a:r>
            <a:r>
              <a:rPr lang="en-US" sz="2800" b="1" dirty="0"/>
              <a:t>then </a:t>
            </a:r>
            <a:r>
              <a:rPr lang="en-US" sz="2800" dirty="0"/>
              <a:t>Q1 (FCFS) </a:t>
            </a:r>
            <a:endParaRPr lang="en-US" sz="2800" dirty="0"/>
          </a:p>
          <a:p>
            <a:r>
              <a:rPr lang="en-US" sz="2800" dirty="0"/>
              <a:t>else </a:t>
            </a:r>
            <a:r>
              <a:rPr lang="en-US" sz="2800" b="1" dirty="0"/>
              <a:t>if </a:t>
            </a:r>
            <a:r>
              <a:rPr lang="en-US" sz="2800" dirty="0"/>
              <a:t>(4 &lt;= CPU time &lt; 7) </a:t>
            </a:r>
            <a:r>
              <a:rPr lang="en-US" sz="2800" b="1" dirty="0"/>
              <a:t>then </a:t>
            </a:r>
            <a:r>
              <a:rPr lang="en-US" sz="2800" dirty="0"/>
              <a:t>Q2 (RR – 3sec) </a:t>
            </a:r>
            <a:endParaRPr lang="en-US" sz="2800" dirty="0"/>
          </a:p>
          <a:p>
            <a:r>
              <a:rPr lang="en-US" sz="2800" b="1" dirty="0"/>
              <a:t>else </a:t>
            </a:r>
            <a:r>
              <a:rPr lang="en-US" sz="2800" dirty="0"/>
              <a:t>Q3 (FCFS) </a:t>
            </a:r>
            <a:endParaRPr lang="en-US" sz="2800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54401" y="3705679"/>
            <a:ext cx="6881812" cy="30086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>
          <a:xfrm>
            <a:off x="2184400" y="181838"/>
            <a:ext cx="8026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Multilevel Feedback Queue</a:t>
            </a:r>
            <a:endParaRPr lang="en-US" altLang="en-US" dirty="0"/>
          </a:p>
        </p:txBody>
      </p:sp>
      <p:sp>
        <p:nvSpPr>
          <p:cNvPr id="57346" name="Rectangle 3"/>
          <p:cNvSpPr>
            <a:spLocks noGrp="1" noChangeArrowheads="1"/>
          </p:cNvSpPr>
          <p:nvPr>
            <p:ph idx="1"/>
          </p:nvPr>
        </p:nvSpPr>
        <p:spPr>
          <a:xfrm>
            <a:off x="928914" y="1144347"/>
            <a:ext cx="10392229" cy="5445139"/>
          </a:xfrm>
        </p:spPr>
        <p:txBody>
          <a:bodyPr>
            <a:noAutofit/>
          </a:bodyPr>
          <a:lstStyle/>
          <a:p>
            <a:r>
              <a:rPr lang="en-US" altLang="en-US" sz="3600" dirty="0"/>
              <a:t>A process can move between the various queues.</a:t>
            </a:r>
            <a:endParaRPr lang="en-US" altLang="en-US" sz="3600" dirty="0"/>
          </a:p>
          <a:p>
            <a:r>
              <a:rPr lang="en-US" altLang="en-US" sz="3600" dirty="0"/>
              <a:t>Multilevel-feedback-queue scheduler defined by the following parameters:</a:t>
            </a:r>
            <a:endParaRPr lang="en-US" altLang="en-US" sz="3600" dirty="0"/>
          </a:p>
          <a:p>
            <a:pPr lvl="1"/>
            <a:r>
              <a:rPr lang="en-US" altLang="en-US" sz="2800" dirty="0"/>
              <a:t>Number of queues</a:t>
            </a:r>
            <a:endParaRPr lang="en-US" altLang="en-US" sz="2800" dirty="0"/>
          </a:p>
          <a:p>
            <a:pPr lvl="1"/>
            <a:r>
              <a:rPr lang="en-US" altLang="en-US" sz="2800" dirty="0"/>
              <a:t>Scheduling algorithms for each queue</a:t>
            </a:r>
            <a:endParaRPr lang="en-US" altLang="en-US" sz="2800" dirty="0"/>
          </a:p>
          <a:p>
            <a:pPr lvl="1"/>
            <a:r>
              <a:rPr lang="en-US" altLang="en-US" sz="2800" dirty="0"/>
              <a:t>Method used to determine when to upgrade a process</a:t>
            </a:r>
            <a:endParaRPr lang="en-US" altLang="en-US" sz="2800" dirty="0"/>
          </a:p>
          <a:p>
            <a:pPr lvl="1"/>
            <a:r>
              <a:rPr lang="en-US" altLang="en-US" sz="2800" dirty="0"/>
              <a:t>Method used to determine when to demote a process</a:t>
            </a:r>
            <a:endParaRPr lang="en-US" altLang="en-US" sz="2800" dirty="0"/>
          </a:p>
          <a:p>
            <a:pPr lvl="1"/>
            <a:r>
              <a:rPr lang="en-US" altLang="en-US" sz="2800" dirty="0"/>
              <a:t>Method used to determine which queue a process will enter when that process needs service</a:t>
            </a:r>
            <a:endParaRPr lang="en-US" altLang="en-US" sz="2800" dirty="0"/>
          </a:p>
          <a:p>
            <a:r>
              <a:rPr lang="en-US" altLang="en-US" sz="3600" dirty="0"/>
              <a:t>Aging can be implemented using multilevel feedback queue</a:t>
            </a:r>
            <a:endParaRPr lang="en-US" altLang="en-US" sz="3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ChangeArrowheads="1"/>
          </p:cNvSpPr>
          <p:nvPr>
            <p:ph type="title"/>
          </p:nvPr>
        </p:nvSpPr>
        <p:spPr>
          <a:xfrm>
            <a:off x="2762138" y="42179"/>
            <a:ext cx="8186349" cy="679450"/>
          </a:xfrm>
        </p:spPr>
        <p:txBody>
          <a:bodyPr/>
          <a:lstStyle/>
          <a:p>
            <a:pPr eaLnBrk="1" hangingPunct="1"/>
            <a:r>
              <a:rPr lang="en-US" altLang="en-US" dirty="0"/>
              <a:t>Example of Multilevel Feedback Queue</a:t>
            </a:r>
            <a:endParaRPr lang="en-US" altLang="en-US" dirty="0"/>
          </a:p>
        </p:txBody>
      </p:sp>
      <p:sp>
        <p:nvSpPr>
          <p:cNvPr id="59394" name="Rectangle 3"/>
          <p:cNvSpPr>
            <a:spLocks noGrp="1" noChangeArrowheads="1"/>
          </p:cNvSpPr>
          <p:nvPr>
            <p:ph idx="1"/>
          </p:nvPr>
        </p:nvSpPr>
        <p:spPr>
          <a:xfrm>
            <a:off x="885372" y="667657"/>
            <a:ext cx="6187398" cy="5851130"/>
          </a:xfrm>
        </p:spPr>
        <p:txBody>
          <a:bodyPr>
            <a:normAutofit lnSpcReduction="10000"/>
          </a:bodyPr>
          <a:lstStyle/>
          <a:p>
            <a:r>
              <a:rPr lang="en-US" altLang="en-US" sz="4800" dirty="0"/>
              <a:t>Three queues: </a:t>
            </a:r>
            <a:endParaRPr lang="en-US" altLang="en-US" sz="4800" dirty="0"/>
          </a:p>
          <a:p>
            <a:pPr lvl="1"/>
            <a:r>
              <a:rPr lang="en-US" altLang="en-US" sz="2400" i="1" dirty="0"/>
              <a:t>Q</a:t>
            </a:r>
            <a:r>
              <a:rPr lang="en-US" altLang="en-US" sz="2400" baseline="-25000" dirty="0"/>
              <a:t>0</a:t>
            </a:r>
            <a:r>
              <a:rPr lang="en-US" altLang="en-US" sz="2400" dirty="0"/>
              <a:t> – RR with time quantum 8 milliseconds</a:t>
            </a:r>
            <a:endParaRPr lang="en-US" altLang="en-US" sz="2400" dirty="0"/>
          </a:p>
          <a:p>
            <a:pPr lvl="1"/>
            <a:r>
              <a:rPr lang="en-US" altLang="en-US" sz="2400" i="1" dirty="0"/>
              <a:t>Q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 – RR time quantum 16 milliseconds</a:t>
            </a:r>
            <a:endParaRPr lang="en-US" altLang="en-US" sz="2400" dirty="0"/>
          </a:p>
          <a:p>
            <a:pPr lvl="1"/>
            <a:r>
              <a:rPr lang="en-US" altLang="en-US" sz="2400" i="1" dirty="0"/>
              <a:t>Q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 – FCFS</a:t>
            </a:r>
            <a:endParaRPr lang="en-US" altLang="en-US" sz="2000" dirty="0"/>
          </a:p>
          <a:p>
            <a:r>
              <a:rPr lang="en-US" altLang="en-US" sz="4800" dirty="0"/>
              <a:t>Scheduling</a:t>
            </a:r>
            <a:endParaRPr lang="en-US" altLang="en-US" sz="4800" dirty="0"/>
          </a:p>
          <a:p>
            <a:pPr lvl="1"/>
            <a:r>
              <a:rPr lang="en-US" altLang="en-US" sz="3600" dirty="0"/>
              <a:t>A new process enters queue </a:t>
            </a:r>
            <a:r>
              <a:rPr lang="en-US" altLang="en-US" sz="3600" i="1" dirty="0"/>
              <a:t>Q</a:t>
            </a:r>
            <a:r>
              <a:rPr lang="en-US" altLang="en-US" sz="3600" i="1" baseline="-25000" dirty="0"/>
              <a:t>0</a:t>
            </a:r>
            <a:r>
              <a:rPr lang="en-US" altLang="en-US" sz="3600" i="1" dirty="0"/>
              <a:t> </a:t>
            </a:r>
            <a:r>
              <a:rPr lang="en-US" altLang="en-US" sz="3600" dirty="0"/>
              <a:t>which is served</a:t>
            </a:r>
            <a:r>
              <a:rPr lang="en-US" altLang="en-US" sz="3600" i="1" dirty="0"/>
              <a:t> </a:t>
            </a:r>
            <a:r>
              <a:rPr lang="en-US" altLang="en-US" sz="3600" dirty="0"/>
              <a:t>in</a:t>
            </a:r>
            <a:r>
              <a:rPr lang="en-US" altLang="en-US" sz="3600" i="1" dirty="0"/>
              <a:t> </a:t>
            </a:r>
            <a:r>
              <a:rPr lang="en-US" altLang="en-US" sz="3600" dirty="0"/>
              <a:t>RR</a:t>
            </a:r>
            <a:endParaRPr lang="en-US" altLang="en-US" sz="3600" dirty="0"/>
          </a:p>
          <a:p>
            <a:pPr lvl="2"/>
            <a:r>
              <a:rPr lang="en-US" altLang="en-US" sz="1400" dirty="0"/>
              <a:t>When it gains CPU, the process receives 8 milliseconds</a:t>
            </a:r>
            <a:endParaRPr lang="en-US" altLang="en-US" sz="1400" dirty="0"/>
          </a:p>
          <a:p>
            <a:pPr lvl="2"/>
            <a:r>
              <a:rPr lang="en-US" altLang="en-US" sz="1400" dirty="0"/>
              <a:t>If it does not finish in 8 milliseconds, the process  is moved to queue </a:t>
            </a:r>
            <a:r>
              <a:rPr lang="en-US" altLang="en-US" sz="1400" i="1" dirty="0"/>
              <a:t>Q</a:t>
            </a:r>
            <a:r>
              <a:rPr lang="en-US" altLang="en-US" sz="1400" baseline="-25000" dirty="0"/>
              <a:t>1</a:t>
            </a:r>
            <a:endParaRPr lang="en-US" altLang="en-US" sz="1400" dirty="0"/>
          </a:p>
          <a:p>
            <a:pPr lvl="1"/>
            <a:r>
              <a:rPr lang="en-US" altLang="en-US" sz="3600" dirty="0"/>
              <a:t>At </a:t>
            </a:r>
            <a:r>
              <a:rPr lang="en-US" altLang="en-US" sz="3600" i="1" dirty="0"/>
              <a:t>Q</a:t>
            </a:r>
            <a:r>
              <a:rPr lang="en-US" altLang="en-US" sz="3600" baseline="-25000" dirty="0"/>
              <a:t>1</a:t>
            </a:r>
            <a:r>
              <a:rPr lang="en-US" altLang="en-US" sz="3600" dirty="0"/>
              <a:t> job is again served in RR and receives 16 additional milliseconds</a:t>
            </a:r>
            <a:endParaRPr lang="en-US" altLang="en-US" sz="3600" dirty="0"/>
          </a:p>
          <a:p>
            <a:pPr lvl="2"/>
            <a:r>
              <a:rPr lang="en-US" altLang="en-US" sz="1400" dirty="0"/>
              <a:t>If it still does not complete, it is preempted and moved to queue </a:t>
            </a:r>
            <a:r>
              <a:rPr lang="en-US" altLang="en-US" sz="1400" i="1" dirty="0"/>
              <a:t>Q</a:t>
            </a:r>
            <a:r>
              <a:rPr lang="en-US" altLang="en-US" sz="1400" baseline="-25000" dirty="0"/>
              <a:t>2</a:t>
            </a:r>
            <a:endParaRPr lang="en-US" altLang="en-US" sz="1400" dirty="0"/>
          </a:p>
        </p:txBody>
      </p:sp>
      <p:pic>
        <p:nvPicPr>
          <p:cNvPr id="59395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6311" y="1158100"/>
            <a:ext cx="4103231" cy="5175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Multilevel Feedback Queue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1553029"/>
            <a:ext cx="9960431" cy="4756331"/>
          </a:xfrm>
        </p:spPr>
        <p:txBody>
          <a:bodyPr/>
          <a:lstStyle/>
          <a:p>
            <a:endParaRPr lang="en-US" dirty="0"/>
          </a:p>
          <a:p>
            <a:r>
              <a:rPr lang="en-US" sz="2400" dirty="0"/>
              <a:t>Draw the graph (Gantt chart) for the following processes using </a:t>
            </a:r>
            <a:r>
              <a:rPr lang="en-US" sz="2400" b="1" dirty="0"/>
              <a:t>MFQ </a:t>
            </a:r>
            <a:r>
              <a:rPr lang="en-US" sz="2400" dirty="0"/>
              <a:t>Scheduling algorithm. </a:t>
            </a:r>
            <a:endParaRPr lang="en-US" sz="2400" dirty="0"/>
          </a:p>
          <a:p>
            <a:r>
              <a:rPr lang="en-US" sz="2400" dirty="0"/>
              <a:t>Q1 - RR - 8 sec </a:t>
            </a:r>
            <a:endParaRPr lang="en-US" sz="2400" dirty="0"/>
          </a:p>
          <a:p>
            <a:r>
              <a:rPr lang="en-US" sz="2400" dirty="0"/>
              <a:t>Q2 - RR - 16 sec </a:t>
            </a:r>
            <a:endParaRPr lang="en-US" sz="2400" dirty="0"/>
          </a:p>
          <a:p>
            <a:r>
              <a:rPr lang="en-US" sz="2400" dirty="0"/>
              <a:t>Q3 - FCFS 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6689" y="3680980"/>
            <a:ext cx="8667750" cy="30289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2037160" y="277416"/>
            <a:ext cx="8687990" cy="576263"/>
          </a:xfrm>
        </p:spPr>
        <p:txBody>
          <a:bodyPr/>
          <a:lstStyle/>
          <a:p>
            <a:pPr eaLnBrk="1" hangingPunct="1"/>
            <a:r>
              <a:rPr lang="en-US"/>
              <a:t>Multiple-Processor Scheduling</a:t>
            </a:r>
            <a:endParaRPr lang="en-US"/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4743" y="1410891"/>
            <a:ext cx="10755086" cy="5018938"/>
          </a:xfrm>
        </p:spPr>
        <p:txBody>
          <a:bodyPr>
            <a:noAutofit/>
          </a:bodyPr>
          <a:lstStyle/>
          <a:p>
            <a:pPr algn="just"/>
            <a:r>
              <a:rPr lang="en-US" sz="2800" dirty="0"/>
              <a:t>One approach to CPU scheduling in a multiprocessor system has all scheduling decisions, I/O processing, and other system activities handled by a single processor — the master server. The other processors execute only user code.</a:t>
            </a:r>
            <a:endParaRPr lang="en-US" sz="2800" dirty="0"/>
          </a:p>
          <a:p>
            <a:pPr algn="just"/>
            <a:r>
              <a:rPr lang="en-US" sz="2800" dirty="0"/>
              <a:t>This </a:t>
            </a:r>
            <a:r>
              <a:rPr lang="en-US" sz="2800" b="1" dirty="0"/>
              <a:t>asymmetric multiprocessing </a:t>
            </a:r>
            <a:r>
              <a:rPr lang="en-US" sz="2800" dirty="0"/>
              <a:t>is simple because only one core accesses the system data structures, reducing the need for data sharing. The downfall of this approach is the master server becomes a potential bottle neck where overall system performance may be reduced.</a:t>
            </a:r>
            <a:endParaRPr lang="en-US" sz="2800" dirty="0"/>
          </a:p>
          <a:p>
            <a:pPr algn="just"/>
            <a:r>
              <a:rPr lang="en-US" sz="2800" dirty="0"/>
              <a:t>The standard approach for supporting multiprocessors is </a:t>
            </a:r>
            <a:r>
              <a:rPr lang="en-US" sz="2800" b="1" dirty="0"/>
              <a:t>symmetric multiprocessing </a:t>
            </a:r>
            <a:r>
              <a:rPr lang="en-US" sz="2800" dirty="0"/>
              <a:t>(</a:t>
            </a:r>
            <a:r>
              <a:rPr lang="en-US" sz="2800" b="1" dirty="0"/>
              <a:t>SMP</a:t>
            </a:r>
            <a:r>
              <a:rPr lang="en-US" sz="2800" dirty="0"/>
              <a:t>), where each processor is self-scheduling. Scheduling proceeds by having the scheduler for each processor examine the ready queue and select a process/thread to run.</a:t>
            </a:r>
            <a:endParaRPr lang="en-US" sz="2800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2233612" y="277416"/>
            <a:ext cx="8491538" cy="576263"/>
          </a:xfrm>
        </p:spPr>
        <p:txBody>
          <a:bodyPr/>
          <a:lstStyle/>
          <a:p>
            <a:pPr eaLnBrk="1" hangingPunct="1"/>
            <a:r>
              <a:rPr lang="en-US"/>
              <a:t>Operating System Examples</a:t>
            </a:r>
            <a:endParaRPr lang="en-US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20434" y="1240291"/>
            <a:ext cx="10128137" cy="3508772"/>
          </a:xfrm>
        </p:spPr>
        <p:txBody>
          <a:bodyPr/>
          <a:lstStyle/>
          <a:p>
            <a:endParaRPr lang="en-US" sz="2800" dirty="0"/>
          </a:p>
          <a:p>
            <a:pPr marL="536575" indent="-449580">
              <a:buFont typeface="Arial" panose="020B0604020202020204" pitchFamily="34" charset="0"/>
              <a:buChar char="•"/>
            </a:pPr>
            <a:r>
              <a:rPr lang="en-US" sz="2800" dirty="0"/>
              <a:t>Solaris scheduling - Priority-based scheduling</a:t>
            </a:r>
            <a:endParaRPr lang="en-US" sz="2800" dirty="0"/>
          </a:p>
          <a:p>
            <a:pPr marL="536575" indent="-449580">
              <a:buFont typeface="Arial" panose="020B0604020202020204" pitchFamily="34" charset="0"/>
              <a:buChar char="•"/>
            </a:pPr>
            <a:r>
              <a:rPr lang="en-US" sz="2800" dirty="0"/>
              <a:t>Windows XP scheduling - priority-based preemptive scheduling</a:t>
            </a:r>
            <a:endParaRPr lang="en-US" sz="2800" dirty="0"/>
          </a:p>
          <a:p>
            <a:pPr marL="536575" indent="-449580">
              <a:buFont typeface="Arial" panose="020B0604020202020204" pitchFamily="34" charset="0"/>
              <a:buChar char="•"/>
            </a:pPr>
            <a:r>
              <a:rPr lang="en-US" sz="2800" dirty="0"/>
              <a:t>Linux scheduling - Preemptive, priority based</a:t>
            </a:r>
            <a:endParaRPr lang="en-US" sz="28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962785" y="207010"/>
            <a:ext cx="8267065" cy="5276850"/>
          </a:xfrm>
          <a:prstGeom prst="rect">
            <a:avLst/>
          </a:prstGeom>
        </p:spPr>
        <p:txBody>
          <a:bodyPr>
            <a:noAutofit/>
          </a:bodyPr>
          <a:p>
            <a:pPr>
              <a:spcAft>
                <a:spcPct val="60000"/>
              </a:spcAft>
            </a:pPr>
            <a:r>
              <a:rPr sz="2800" b="1"/>
              <a:t>Core Difference (Most Important)</a:t>
            </a:r>
            <a:endParaRPr sz="2800" b="1"/>
          </a:p>
          <a:p>
            <a:pPr>
              <a:buFont typeface="Arial" panose="020B0604020202020204"/>
              <a:buChar char="•"/>
            </a:pPr>
            <a:r>
              <a:rPr sz="2800" b="1"/>
              <a:t>Multilevel Queue (MLQ):</a:t>
            </a:r>
            <a:endParaRPr sz="2800" b="1"/>
          </a:p>
          <a:p>
            <a:r>
              <a:rPr sz="2800" b="1"/>
              <a:t> 👉 Processes are permanently assigned to a queue</a:t>
            </a:r>
            <a:endParaRPr sz="2800" b="1"/>
          </a:p>
          <a:p>
            <a:r>
              <a:rPr sz="2800" b="1"/>
              <a:t> 👉 NO movement between queues </a:t>
            </a:r>
            <a:endParaRPr sz="2800" b="1"/>
          </a:p>
          <a:p>
            <a:pPr>
              <a:buFont typeface="Arial" panose="020B0604020202020204"/>
              <a:buChar char="•"/>
            </a:pPr>
            <a:r>
              <a:rPr sz="2800" b="1"/>
              <a:t>Multilevel Feedback Queue (MLFQ):</a:t>
            </a:r>
            <a:endParaRPr sz="2800" b="1"/>
          </a:p>
          <a:p>
            <a:r>
              <a:rPr sz="2800" b="1"/>
              <a:t> 👉 Processes can move between queues</a:t>
            </a:r>
            <a:endParaRPr sz="2800" b="1"/>
          </a:p>
          <a:p>
            <a:r>
              <a:rPr sz="2800" b="1"/>
              <a:t> 👉 Scheduling is dynamic and adaptive</a:t>
            </a:r>
            <a:endParaRPr sz="2800" b="1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OS UMT fin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OS UMT final</Template>
  <TotalTime>0</TotalTime>
  <Words>4221</Words>
  <Application>WPS Presentation</Application>
  <PresentationFormat>Widescreen</PresentationFormat>
  <Paragraphs>162</Paragraphs>
  <Slides>17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5" baseType="lpstr">
      <vt:lpstr>Arial</vt:lpstr>
      <vt:lpstr>SimSun</vt:lpstr>
      <vt:lpstr>Wingdings</vt:lpstr>
      <vt:lpstr>Tw Cen MT</vt:lpstr>
      <vt:lpstr>Wingdings 3</vt:lpstr>
      <vt:lpstr>Times New Roman</vt:lpstr>
      <vt:lpstr>MS PGothic</vt:lpstr>
      <vt:lpstr>Helvetica</vt:lpstr>
      <vt:lpstr>Verdana</vt:lpstr>
      <vt:lpstr>Symbol</vt:lpstr>
      <vt:lpstr>Monotype Sorts</vt:lpstr>
      <vt:lpstr>Wingdings</vt:lpstr>
      <vt:lpstr>Webdings</vt:lpstr>
      <vt:lpstr>Tw Cen MT Condensed</vt:lpstr>
      <vt:lpstr>Microsoft YaHei</vt:lpstr>
      <vt:lpstr>Arial Unicode MS</vt:lpstr>
      <vt:lpstr>Arial</vt:lpstr>
      <vt:lpstr>OS UMT final</vt:lpstr>
      <vt:lpstr>Chapter 5:  CPU Scheduling</vt:lpstr>
      <vt:lpstr>Round Robin (RR)</vt:lpstr>
      <vt:lpstr>Example of RR with Time Quantum = 3</vt:lpstr>
      <vt:lpstr>Example of RR with Time Quantum = 4</vt:lpstr>
      <vt:lpstr>Time Quantum and Context Switch Time</vt:lpstr>
      <vt:lpstr>Turnaround Time Varies With The Time Quantum</vt:lpstr>
      <vt:lpstr>Priority Scheduling w/ Round-Robin</vt:lpstr>
      <vt:lpstr>Multilevel Queue</vt:lpstr>
      <vt:lpstr>Multilevel Queue</vt:lpstr>
      <vt:lpstr>Multilevel Queue</vt:lpstr>
      <vt:lpstr>Multilevel Queue</vt:lpstr>
      <vt:lpstr>Multilevel Feedback Queue</vt:lpstr>
      <vt:lpstr>Example of Multilevel Feedback Queue</vt:lpstr>
      <vt:lpstr>Multilevel Feedback Queue</vt:lpstr>
      <vt:lpstr>Multiple-Processor Scheduling</vt:lpstr>
      <vt:lpstr>Operating System Examples</vt:lpstr>
      <vt:lpstr>PowerPoint 演示文稿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Mr.user</cp:lastModifiedBy>
  <cp:revision>287</cp:revision>
  <cp:lastPrinted>2013-09-10T17:57:00Z</cp:lastPrinted>
  <dcterms:created xsi:type="dcterms:W3CDTF">2011-01-13T23:43:00Z</dcterms:created>
  <dcterms:modified xsi:type="dcterms:W3CDTF">2026-05-09T10:58:30Z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60C1F07CB09E498FA1F047E3135CAF72_12</vt:lpwstr>
  </property>
</Properties>
</file>