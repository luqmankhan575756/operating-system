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5" r:id="rId19"/>
    <p:sldId id="354" r:id="rId20"/>
    <p:sldId id="356" r:id="rId21"/>
    <p:sldId id="357" r:id="rId22"/>
    <p:sldId id="358" r:id="rId23"/>
    <p:sldId id="359" r:id="rId24"/>
    <p:sldId id="360" r:id="rId25"/>
    <p:sldId id="361" r:id="rId26"/>
    <p:sldId id="413" r:id="rId27"/>
    <p:sldId id="277" r:id="rId28"/>
    <p:sldId id="284" r:id="rId29"/>
    <p:sldId id="285" r:id="rId30"/>
    <p:sldId id="404" r:id="rId31"/>
    <p:sldId id="422" r:id="rId32"/>
    <p:sldId id="423" r:id="rId33"/>
    <p:sldId id="424" r:id="rId34"/>
    <p:sldId id="269" r:id="rId35"/>
    <p:sldId id="408" r:id="rId36"/>
    <p:sldId id="271" r:id="rId37"/>
    <p:sldId id="272" r:id="rId38"/>
    <p:sldId id="426" r:id="rId39"/>
    <p:sldId id="367" r:id="rId40"/>
    <p:sldId id="362" r:id="rId41"/>
    <p:sldId id="369" r:id="rId42"/>
    <p:sldId id="363" r:id="rId43"/>
    <p:sldId id="370" r:id="rId44"/>
    <p:sldId id="364" r:id="rId45"/>
    <p:sldId id="414" r:id="rId46"/>
    <p:sldId id="372" r:id="rId47"/>
    <p:sldId id="416" r:id="rId48"/>
    <p:sldId id="427" r:id="rId49"/>
    <p:sldId id="375" r:id="rId50"/>
    <p:sldId id="296" r:id="rId51"/>
    <p:sldId id="429" r:id="rId52"/>
    <p:sldId id="430" r:id="rId5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0" d="100"/>
          <a:sy n="60" d="100"/>
        </p:scale>
        <p:origin x="160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B398C-EEC6-4FC2-BD5E-553E31E8A03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6B7FB-6D94-4717-BBE6-50126C38B3F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30588" cy="2571750"/>
          </a:xfrm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5" y="3258019"/>
            <a:ext cx="7315199" cy="30858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1"/>
            <a:ext cx="9144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171525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2482" y="312860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 dirty="0"/>
              <a:t>Ayesha Asmat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8442" y="144584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mage result for umt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0644" y="1241949"/>
            <a:ext cx="2132557" cy="215293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600"/>
            </a:lvl1pPr>
            <a:lvl2pPr>
              <a:defRPr sz="2600"/>
            </a:lvl2pPr>
            <a:lvl3pPr>
              <a:defRPr sz="26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712254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27700" y="3702664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Ayesha Asmat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239858" y="1986574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Image result for umt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006" y="1556102"/>
            <a:ext cx="2126246" cy="214656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25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2634" y="1928646"/>
            <a:ext cx="5732059" cy="2127250"/>
          </a:xfrm>
        </p:spPr>
        <p:txBody>
          <a:bodyPr/>
          <a:lstStyle>
            <a:lvl1pPr>
              <a:defRPr sz="3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253" y="1928646"/>
            <a:ext cx="2107118" cy="2127250"/>
          </a:xfrm>
          <a:prstGeom prst="rect">
            <a:avLst/>
          </a:prstGeom>
          <a:noFill/>
        </p:spPr>
      </p:pic>
      <p:cxnSp>
        <p:nvCxnSpPr>
          <p:cNvPr id="4" name="Straight Connector 3"/>
          <p:cNvCxnSpPr/>
          <p:nvPr/>
        </p:nvCxnSpPr>
        <p:spPr>
          <a:xfrm flipV="1">
            <a:off x="3157972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Tw Cen MT (Body)"/>
          <a:ea typeface="+mn-ea"/>
          <a:cs typeface="+mn-cs"/>
        </a:defRPr>
      </a:lvl1pPr>
      <a:lvl2pPr marL="19875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350" kern="1200">
          <a:solidFill>
            <a:schemeClr val="tx1"/>
          </a:solidFill>
          <a:latin typeface="Tw Cen MT (Body)"/>
          <a:ea typeface="+mn-ea"/>
          <a:cs typeface="+mn-cs"/>
        </a:defRPr>
      </a:lvl2pPr>
      <a:lvl3pPr marL="33591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Tw Cen MT (Body)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Tw Cen MT (Body)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Tw Cen MT (Body)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65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186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715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anose="05040102010807070707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ayesha.asmat@umt.edu.p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1524000" y="1430179"/>
            <a:ext cx="7162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7353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06699"/>
                </a:solidFill>
                <a:latin typeface="Arial" panose="020B0604020202020204"/>
                <a:ea typeface="+mn-ea"/>
                <a:cs typeface="Arial" panose="020B0604020202020204"/>
              </a:rPr>
              <a:t>CC</a:t>
            </a:r>
            <a:r>
              <a:rPr lang="en-US" sz="4000" spc="-5" dirty="0">
                <a:solidFill>
                  <a:srgbClr val="006699"/>
                </a:solidFill>
                <a:latin typeface="Arial" panose="020B0604020202020204"/>
                <a:ea typeface="+mn-ea"/>
                <a:cs typeface="Arial" panose="020B0604020202020204"/>
              </a:rPr>
              <a:t>3011 - Operating Systems</a:t>
            </a:r>
            <a:endParaRPr sz="4000" spc="-5" dirty="0">
              <a:solidFill>
                <a:srgbClr val="006699"/>
              </a:solidFill>
              <a:latin typeface="Arial" panose="020B0604020202020204"/>
              <a:ea typeface="+mn-ea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4773" y="4699021"/>
            <a:ext cx="4396105" cy="13436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sz="4000" spc="-5" dirty="0">
                <a:latin typeface="Arial" panose="020B0604020202020204"/>
                <a:cs typeface="Arial" panose="020B0604020202020204"/>
              </a:rPr>
              <a:t>Ayesha</a:t>
            </a:r>
            <a:r>
              <a:rPr sz="4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4000" spc="-5" dirty="0">
                <a:latin typeface="Arial" panose="020B0604020202020204"/>
                <a:cs typeface="Arial" panose="020B0604020202020204"/>
              </a:rPr>
              <a:t>Asmat</a:t>
            </a:r>
            <a:endParaRPr sz="4000" dirty="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sz="3200" dirty="0">
                <a:latin typeface="Times New Roman" panose="02020603050405020304"/>
                <a:cs typeface="Times New Roman" panose="02020603050405020304"/>
                <a:hlinkClick r:id="rId1"/>
              </a:rPr>
              <a:t>ayesha.asmat@umt.edu.pk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9092" y="904692"/>
            <a:ext cx="393001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0290" marR="5080" indent="-103822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Text</a:t>
            </a:r>
            <a:r>
              <a:rPr sz="4000" spc="-30" dirty="0"/>
              <a:t> </a:t>
            </a:r>
            <a:r>
              <a:rPr sz="4000" spc="-5" dirty="0"/>
              <a:t>Book</a:t>
            </a:r>
            <a:endParaRPr sz="4000" dirty="0"/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1"/>
          <a:srcRect l="42753" t="16667" r="26793" b="6250"/>
          <a:stretch>
            <a:fillRect/>
          </a:stretch>
        </p:blipFill>
        <p:spPr bwMode="auto">
          <a:xfrm>
            <a:off x="4419600" y="1219200"/>
            <a:ext cx="39624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04800" y="1905000"/>
            <a:ext cx="403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Operating Systems Concepts</a:t>
            </a:r>
            <a:r>
              <a:rPr lang="en-US" sz="3600" dirty="0"/>
              <a:t>, 10th edition, Abraham </a:t>
            </a:r>
            <a:r>
              <a:rPr lang="en-US" sz="3600" dirty="0" err="1"/>
              <a:t>Silberschatz</a:t>
            </a:r>
            <a:r>
              <a:rPr lang="en-US" sz="3600" dirty="0"/>
              <a:t>, Peter Baer Galvin, Greg Gagne; Wiley.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47800" y="555612"/>
            <a:ext cx="519468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Tw Cen MT Condensed (Headings)"/>
              </a:rPr>
              <a:t>Grading</a:t>
            </a:r>
            <a:r>
              <a:rPr spc="-50" dirty="0">
                <a:latin typeface="Tw Cen MT Condensed (Headings)"/>
              </a:rPr>
              <a:t> </a:t>
            </a:r>
            <a:r>
              <a:rPr spc="-5" dirty="0">
                <a:latin typeface="Tw Cen MT Condensed (Headings)"/>
              </a:rPr>
              <a:t>Scheme</a:t>
            </a:r>
            <a:r>
              <a:rPr lang="en-US" spc="-5" dirty="0">
                <a:latin typeface="Tw Cen MT Condensed (Headings)"/>
              </a:rPr>
              <a:t> (tentative)</a:t>
            </a:r>
            <a:endParaRPr spc="-5" dirty="0">
              <a:latin typeface="Tw Cen MT Condensed (Headings)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0850" y="1483360"/>
          <a:ext cx="8077200" cy="473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9750"/>
                <a:gridCol w="3727450"/>
              </a:tblGrid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3200" b="1" spc="-55" dirty="0">
                          <a:solidFill>
                            <a:srgbClr val="FFFFFF"/>
                          </a:solidFill>
                          <a:latin typeface="Tw Cen MT Condensed (Headings)"/>
                          <a:cs typeface="Times New Roman" panose="02020603050405020304"/>
                        </a:rPr>
                        <a:t>Total</a:t>
                      </a:r>
                      <a:endParaRPr sz="3200" dirty="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2384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Tw Cen MT Condensed (Headings)"/>
                          <a:cs typeface="Times New Roman" panose="02020603050405020304"/>
                        </a:rPr>
                        <a:t>100</a:t>
                      </a:r>
                      <a:r>
                        <a:rPr sz="3200" b="1" spc="-25" dirty="0">
                          <a:solidFill>
                            <a:srgbClr val="FFFFFF"/>
                          </a:solidFill>
                          <a:latin typeface="Tw Cen MT Condensed (Headings)"/>
                          <a:cs typeface="Times New Roman" panose="02020603050405020304"/>
                        </a:rPr>
                        <a:t> 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Tw Cen MT Condensed (Headings)"/>
                          <a:cs typeface="Times New Roman" panose="02020603050405020304"/>
                        </a:rPr>
                        <a:t>marks</a:t>
                      </a:r>
                      <a:endParaRPr sz="3200" dirty="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2384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CC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1319530" marR="695325" indent="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Assignment</a:t>
                      </a:r>
                      <a:r>
                        <a:rPr lang="en-US" sz="3200" dirty="0">
                          <a:latin typeface="Tw Cen MT Condensed (Headings)"/>
                          <a:cs typeface="Times New Roman" panose="02020603050405020304"/>
                        </a:rPr>
                        <a:t>,</a:t>
                      </a:r>
                      <a:r>
                        <a:rPr lang="en-US" sz="3200" baseline="0" dirty="0">
                          <a:latin typeface="Tw Cen MT Condensed (Headings)"/>
                          <a:cs typeface="Times New Roman" panose="02020603050405020304"/>
                        </a:rPr>
                        <a:t> </a:t>
                      </a:r>
                      <a:r>
                        <a:rPr lang="en-US" sz="3200" dirty="0">
                          <a:latin typeface="Tw Cen MT Condensed (Headings)"/>
                          <a:cs typeface="Times New Roman" panose="02020603050405020304"/>
                        </a:rPr>
                        <a:t>Q</a:t>
                      </a: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uizzes</a:t>
                      </a:r>
                      <a:r>
                        <a:rPr lang="en-US" sz="3200" dirty="0">
                          <a:latin typeface="Tw Cen MT Condensed (Headings)"/>
                          <a:cs typeface="Times New Roman" panose="02020603050405020304"/>
                        </a:rPr>
                        <a:t>, CCP&amp;</a:t>
                      </a:r>
                      <a:endParaRPr lang="en-US" sz="3200" dirty="0">
                        <a:latin typeface="Tw Cen MT Condensed (Headings)"/>
                        <a:cs typeface="Times New Roman" panose="02020603050405020304"/>
                      </a:endParaRPr>
                    </a:p>
                    <a:p>
                      <a:pPr marL="1319530" marR="695325" indent="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3200" dirty="0">
                          <a:latin typeface="Tw Cen MT Condensed (Headings)"/>
                          <a:cs typeface="Times New Roman" panose="02020603050405020304"/>
                        </a:rPr>
                        <a:t>Presentation</a:t>
                      </a:r>
                      <a:endParaRPr sz="3200" dirty="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30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3200" spc="-20" dirty="0">
                          <a:latin typeface="Tw Cen MT Condensed (Headings)"/>
                          <a:cs typeface="Times New Roman" panose="02020603050405020304"/>
                        </a:rPr>
                        <a:t>30-35</a:t>
                      </a:r>
                      <a:r>
                        <a:rPr sz="3200" spc="-20" dirty="0">
                          <a:latin typeface="Tw Cen MT Condensed (Headings)"/>
                          <a:cs typeface="Times New Roman" panose="02020603050405020304"/>
                        </a:rPr>
                        <a:t> </a:t>
                      </a: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marks</a:t>
                      </a:r>
                      <a:endParaRPr sz="3200" dirty="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30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EB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Mid</a:t>
                      </a:r>
                      <a:r>
                        <a:rPr sz="3200" spc="-20" dirty="0">
                          <a:latin typeface="Tw Cen MT Condensed (Headings)"/>
                          <a:cs typeface="Times New Roman" panose="02020603050405020304"/>
                        </a:rPr>
                        <a:t> </a:t>
                      </a: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term</a:t>
                      </a:r>
                      <a:endParaRPr sz="3200" dirty="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30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3200" spc="-20" dirty="0">
                          <a:latin typeface="Tw Cen MT Condensed (Headings)"/>
                          <a:cs typeface="Times New Roman" panose="02020603050405020304"/>
                        </a:rPr>
                        <a:t>25-30</a:t>
                      </a:r>
                      <a:r>
                        <a:rPr sz="3200" spc="-20" dirty="0">
                          <a:latin typeface="Tw Cen MT Condensed (Headings)"/>
                          <a:cs typeface="Times New Roman" panose="02020603050405020304"/>
                        </a:rPr>
                        <a:t> </a:t>
                      </a: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marks</a:t>
                      </a:r>
                      <a:endParaRPr sz="3200" dirty="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302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F6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Final</a:t>
                      </a:r>
                      <a:r>
                        <a:rPr sz="3200" spc="-10" dirty="0">
                          <a:latin typeface="Tw Cen MT Condensed (Headings)"/>
                          <a:cs typeface="Times New Roman" panose="02020603050405020304"/>
                        </a:rPr>
                        <a:t> </a:t>
                      </a:r>
                      <a:r>
                        <a:rPr sz="3200" spc="-5" dirty="0">
                          <a:latin typeface="Tw Cen MT Condensed (Headings)"/>
                          <a:cs typeface="Times New Roman" panose="02020603050405020304"/>
                        </a:rPr>
                        <a:t>term</a:t>
                      </a:r>
                      <a:endParaRPr sz="320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365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40</a:t>
                      </a:r>
                      <a:r>
                        <a:rPr sz="3200" spc="-20" dirty="0">
                          <a:latin typeface="Tw Cen MT Condensed (Headings)"/>
                          <a:cs typeface="Times New Roman" panose="02020603050405020304"/>
                        </a:rPr>
                        <a:t> </a:t>
                      </a:r>
                      <a:r>
                        <a:rPr sz="3200" dirty="0">
                          <a:latin typeface="Tw Cen MT Condensed (Headings)"/>
                          <a:cs typeface="Times New Roman" panose="02020603050405020304"/>
                        </a:rPr>
                        <a:t>marks</a:t>
                      </a:r>
                      <a:endParaRPr sz="3200" dirty="0">
                        <a:latin typeface="Tw Cen MT Condensed (Headings)"/>
                        <a:cs typeface="Times New Roman" panose="02020603050405020304"/>
                      </a:endParaRPr>
                    </a:p>
                  </a:txBody>
                  <a:tcPr marL="0" marR="0" marT="33655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4400" y="533400"/>
            <a:ext cx="65481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Topics</a:t>
            </a:r>
            <a:endParaRPr spc="-5" dirty="0"/>
          </a:p>
        </p:txBody>
      </p:sp>
      <p:sp>
        <p:nvSpPr>
          <p:cNvPr id="7" name="Rectangle 6"/>
          <p:cNvSpPr/>
          <p:nvPr/>
        </p:nvSpPr>
        <p:spPr>
          <a:xfrm>
            <a:off x="571500" y="1319085"/>
            <a:ext cx="8001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Introduction to Operating-System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Operating-System Structures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Processes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Threads and Concurrency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CPU scheduling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Synchronization Tools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Deadlocks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Main Memory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Virtual Memory</a:t>
            </a:r>
            <a:endParaRPr lang="en-US" sz="3200" dirty="0"/>
          </a:p>
          <a:p>
            <a:pPr marL="465455" indent="-465455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File System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71800" y="1828800"/>
            <a:ext cx="5181600" cy="4168775"/>
          </a:xfrm>
        </p:spPr>
        <p:txBody>
          <a:bodyPr/>
          <a:lstStyle/>
          <a:p>
            <a:r>
              <a:rPr lang="en-US" altLang="en-US" sz="5400" dirty="0">
                <a:solidFill>
                  <a:srgbClr val="006699"/>
                </a:solidFill>
              </a:rPr>
              <a:t>What Does the Term </a:t>
            </a:r>
            <a:r>
              <a:rPr lang="en-US" altLang="en-US" sz="6600" dirty="0">
                <a:solidFill>
                  <a:srgbClr val="006699"/>
                </a:solidFill>
              </a:rPr>
              <a:t>Operating System </a:t>
            </a:r>
            <a:br>
              <a:rPr lang="en-US" altLang="en-US" sz="6600" dirty="0">
                <a:solidFill>
                  <a:srgbClr val="006699"/>
                </a:solidFill>
              </a:rPr>
            </a:br>
            <a:r>
              <a:rPr lang="en-US" altLang="en-US" sz="5400" dirty="0">
                <a:solidFill>
                  <a:srgbClr val="006699"/>
                </a:solidFill>
              </a:rPr>
              <a:t>Mean?</a:t>
            </a:r>
            <a:br>
              <a:rPr lang="en-US" sz="5400" dirty="0">
                <a:solidFill>
                  <a:srgbClr val="006699"/>
                </a:solidFill>
              </a:rPr>
            </a:br>
            <a:endParaRPr lang="en-US" sz="5400" dirty="0">
              <a:solidFill>
                <a:srgbClr val="00669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553380"/>
            <a:ext cx="8169758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Tw Cen MT Condensed (Headings)"/>
                <a:cs typeface="Arial" panose="020B0604020202020204"/>
              </a:rPr>
              <a:t>What </a:t>
            </a:r>
            <a:r>
              <a:rPr dirty="0">
                <a:latin typeface="Tw Cen MT Condensed (Headings)"/>
                <a:cs typeface="Arial" panose="020B0604020202020204"/>
              </a:rPr>
              <a:t>is</a:t>
            </a:r>
            <a:r>
              <a:rPr lang="en-US" dirty="0">
                <a:latin typeface="Tw Cen MT Condensed (Headings)"/>
                <a:cs typeface="Arial" panose="020B0604020202020204"/>
              </a:rPr>
              <a:t> </a:t>
            </a:r>
            <a:r>
              <a:rPr lang="en-US" altLang="en-US" spc="-5" dirty="0">
                <a:latin typeface="Tw Cen MT Condensed (Headings)"/>
                <a:cs typeface="Arial" panose="020B0604020202020204"/>
              </a:rPr>
              <a:t>Operating system</a:t>
            </a:r>
            <a:r>
              <a:rPr lang="en-US" spc="-5" dirty="0">
                <a:latin typeface="Tw Cen MT Condensed (Headings)"/>
                <a:cs typeface="Arial" panose="020B0604020202020204"/>
              </a:rPr>
              <a:t> </a:t>
            </a:r>
            <a:endParaRPr spc="-5" dirty="0">
              <a:latin typeface="Tw Cen MT Condensed (Headings)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1447800"/>
            <a:ext cx="8458200" cy="4814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just"/>
            <a:r>
              <a:rPr lang="en-US" altLang="en-US" sz="2400" dirty="0"/>
              <a:t>A program that acts as an intermediary between a user of a computer and the computer hardware</a:t>
            </a:r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endParaRPr lang="en-US" altLang="en-US" sz="2400" dirty="0"/>
          </a:p>
          <a:p>
            <a:pPr algn="just"/>
            <a:r>
              <a:rPr lang="en-US" altLang="en-US" sz="2400" dirty="0"/>
              <a:t>Operating system goals:</a:t>
            </a:r>
            <a:endParaRPr lang="en-US" altLang="en-US" sz="2400" dirty="0"/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altLang="en-US" sz="2400" dirty="0"/>
              <a:t>Execute user programs and make solving user problems easier</a:t>
            </a:r>
            <a:endParaRPr lang="en-US" altLang="en-US" sz="2400" dirty="0"/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altLang="en-US" sz="2400" dirty="0"/>
              <a:t>Make the computer system convenient to use</a:t>
            </a:r>
            <a:endParaRPr lang="en-US" altLang="en-US" sz="2400" dirty="0"/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altLang="en-US" sz="2400" dirty="0"/>
              <a:t>Use the computer hardware in an efficient manner</a:t>
            </a:r>
            <a:endParaRPr lang="en-US" alt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2667000" y="2286000"/>
            <a:ext cx="3505200" cy="2494402"/>
            <a:chOff x="3200400" y="2057400"/>
            <a:chExt cx="2538413" cy="1568450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3200400" y="2057400"/>
              <a:ext cx="2538413" cy="51435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User</a:t>
              </a:r>
              <a:endParaRPr lang="en-US" altLang="en-US" b="1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3200400" y="2590800"/>
              <a:ext cx="2538413" cy="514350"/>
            </a:xfrm>
            <a:prstGeom prst="rect">
              <a:avLst/>
            </a:prstGeom>
            <a:solidFill>
              <a:srgbClr val="FFBBAB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en-US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OS</a:t>
              </a:r>
              <a:endParaRPr lang="en-US" altLang="en-US" b="1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200400" y="3111500"/>
              <a:ext cx="2538413" cy="51435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Hardware</a:t>
              </a:r>
              <a:endParaRPr lang="en-US" altLang="en-US" b="1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57634"/>
            <a:ext cx="7290054" cy="1499616"/>
          </a:xfrm>
        </p:spPr>
        <p:txBody>
          <a:bodyPr/>
          <a:lstStyle/>
          <a:p>
            <a:r>
              <a:rPr lang="en-US" spc="-5" dirty="0">
                <a:cs typeface="Arial" panose="020B0604020202020204"/>
              </a:rPr>
              <a:t>What </a:t>
            </a:r>
            <a:r>
              <a:rPr lang="en-US" dirty="0">
                <a:cs typeface="Arial" panose="020B0604020202020204"/>
              </a:rPr>
              <a:t>is </a:t>
            </a:r>
            <a:r>
              <a:rPr lang="en-US" altLang="en-US" spc="-5" dirty="0">
                <a:cs typeface="Arial" panose="020B0604020202020204"/>
              </a:rPr>
              <a:t>Operating system</a:t>
            </a:r>
            <a:r>
              <a:rPr lang="en-US" spc="-5" dirty="0">
                <a:cs typeface="Arial" panose="020B0604020202020204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299" y="1752600"/>
            <a:ext cx="8153401" cy="4343400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3600" dirty="0"/>
              <a:t>An operating system (OS) is:</a:t>
            </a:r>
            <a:endParaRPr lang="en-US" altLang="en-US" sz="3600" dirty="0"/>
          </a:p>
          <a:p>
            <a:pPr lvl="1" algn="just">
              <a:lnSpc>
                <a:spcPct val="80000"/>
              </a:lnSpc>
            </a:pPr>
            <a:r>
              <a:rPr lang="en-US" sz="3200" dirty="0"/>
              <a:t>A </a:t>
            </a:r>
            <a:r>
              <a:rPr lang="en-US" sz="3200" dirty="0">
                <a:solidFill>
                  <a:schemeClr val="accent1"/>
                </a:solidFill>
              </a:rPr>
              <a:t>software</a:t>
            </a:r>
            <a:r>
              <a:rPr lang="en-US" sz="3200" dirty="0"/>
              <a:t> acts as an </a:t>
            </a:r>
            <a:r>
              <a:rPr lang="en-US" sz="3200" dirty="0">
                <a:solidFill>
                  <a:schemeClr val="accent1"/>
                </a:solidFill>
              </a:rPr>
              <a:t>intermediary</a:t>
            </a:r>
            <a:r>
              <a:rPr lang="en-US" sz="3200" dirty="0"/>
              <a:t> between the </a:t>
            </a:r>
            <a:r>
              <a:rPr lang="en-US" sz="3200" dirty="0">
                <a:solidFill>
                  <a:schemeClr val="accent1"/>
                </a:solidFill>
              </a:rPr>
              <a:t>user</a:t>
            </a:r>
            <a:r>
              <a:rPr lang="en-US" sz="3200" dirty="0"/>
              <a:t> of a computer and the computer </a:t>
            </a:r>
            <a:r>
              <a:rPr lang="en-US" sz="3200" dirty="0">
                <a:solidFill>
                  <a:schemeClr val="accent1"/>
                </a:solidFill>
              </a:rPr>
              <a:t>hardware</a:t>
            </a:r>
            <a:r>
              <a:rPr lang="en-US" sz="3200" dirty="0"/>
              <a:t>.</a:t>
            </a:r>
            <a:endParaRPr lang="en-US" sz="3200" dirty="0"/>
          </a:p>
          <a:p>
            <a:pPr marL="95885" lvl="1" indent="0" algn="just">
              <a:lnSpc>
                <a:spcPct val="80000"/>
              </a:lnSpc>
              <a:buNone/>
            </a:pPr>
            <a:r>
              <a:rPr lang="en-US" sz="3200" dirty="0"/>
              <a:t> </a:t>
            </a:r>
            <a:endParaRPr lang="en-US" sz="3200" dirty="0"/>
          </a:p>
          <a:p>
            <a:pPr lvl="1" algn="just">
              <a:lnSpc>
                <a:spcPct val="80000"/>
              </a:lnSpc>
            </a:pPr>
            <a:r>
              <a:rPr lang="en-US" sz="3200" dirty="0"/>
              <a:t>The purpose of an operating system is to provide an environment in which a user can </a:t>
            </a:r>
            <a:r>
              <a:rPr lang="en-US" sz="3200" dirty="0">
                <a:solidFill>
                  <a:schemeClr val="accent1"/>
                </a:solidFill>
              </a:rPr>
              <a:t>execute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chemeClr val="accent1"/>
                </a:solidFill>
              </a:rPr>
              <a:t>programs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in a </a:t>
            </a:r>
            <a:r>
              <a:rPr lang="en-US" sz="3200" dirty="0">
                <a:solidFill>
                  <a:schemeClr val="accent1"/>
                </a:solidFill>
              </a:rPr>
              <a:t>convenient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1"/>
                </a:solidFill>
              </a:rPr>
              <a:t>efficient</a:t>
            </a:r>
            <a:r>
              <a:rPr lang="en-US" sz="3200" dirty="0"/>
              <a:t> manner.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762000"/>
            <a:ext cx="75326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Structure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11382"/>
            <a:ext cx="8458200" cy="51054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computer system can be divided roughly into four components: the </a:t>
            </a:r>
            <a:r>
              <a:rPr lang="en-US" sz="2800" b="1" i="1" dirty="0">
                <a:solidFill>
                  <a:schemeClr val="accent1"/>
                </a:solidFill>
              </a:rPr>
              <a:t>hardware, </a:t>
            </a:r>
            <a:r>
              <a:rPr lang="en-US" sz="2800" dirty="0"/>
              <a:t>the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b="1" i="1" dirty="0">
                <a:solidFill>
                  <a:schemeClr val="accent1"/>
                </a:solidFill>
              </a:rPr>
              <a:t>operating system, </a:t>
            </a:r>
            <a:r>
              <a:rPr lang="en-US" sz="2800" dirty="0"/>
              <a:t>the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b="1" i="1" dirty="0">
                <a:solidFill>
                  <a:schemeClr val="accent1"/>
                </a:solidFill>
              </a:rPr>
              <a:t>application programs, </a:t>
            </a:r>
            <a:r>
              <a:rPr lang="en-US" sz="2800" dirty="0"/>
              <a:t>and a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b="1" i="1" dirty="0">
                <a:solidFill>
                  <a:schemeClr val="accent1"/>
                </a:solidFill>
              </a:rPr>
              <a:t>user</a:t>
            </a:r>
            <a:endParaRPr lang="en-US" altLang="en-US" sz="2800" dirty="0">
              <a:solidFill>
                <a:schemeClr val="accent1"/>
              </a:solidFill>
            </a:endParaRPr>
          </a:p>
        </p:txBody>
      </p:sp>
      <p:pic>
        <p:nvPicPr>
          <p:cNvPr id="80898" name="Picture 2" descr="Introduction to operating system structure and computer systems | Sample  Homework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0" y="3048000"/>
            <a:ext cx="5791200" cy="35687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609600"/>
            <a:ext cx="75326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Structure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2900" y="1371600"/>
            <a:ext cx="8458200" cy="5105400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/>
              <a:t>Computer system can be divided into four components</a:t>
            </a:r>
            <a:r>
              <a:rPr lang="en-US" altLang="en-US" sz="3200" dirty="0"/>
              <a:t>:</a:t>
            </a:r>
            <a:endParaRPr lang="en-US" altLang="en-US" sz="3200" dirty="0"/>
          </a:p>
          <a:p>
            <a:pPr lvl="1" algn="just"/>
            <a:r>
              <a:rPr lang="en-US" altLang="en-US" sz="2400" dirty="0"/>
              <a:t>Hardware – provides basic computing resources</a:t>
            </a:r>
            <a:endParaRPr lang="en-US" altLang="en-US" sz="2400" dirty="0"/>
          </a:p>
          <a:p>
            <a:pPr lvl="2" algn="just"/>
            <a:r>
              <a:rPr lang="en-US" altLang="en-US" sz="1800" dirty="0"/>
              <a:t>CPU, memory, I/O devices</a:t>
            </a:r>
            <a:endParaRPr lang="en-US" altLang="en-US" sz="1800" dirty="0"/>
          </a:p>
          <a:p>
            <a:pPr lvl="1" algn="just"/>
            <a:r>
              <a:rPr lang="en-US" altLang="en-US" sz="2400" dirty="0"/>
              <a:t>Operating system</a:t>
            </a:r>
            <a:endParaRPr lang="en-US" altLang="en-US" sz="2400" dirty="0"/>
          </a:p>
          <a:p>
            <a:pPr lvl="2" algn="just"/>
            <a:r>
              <a:rPr lang="en-US" altLang="en-US" sz="1800" dirty="0"/>
              <a:t>Controls and coordinates use of hardware among various applications and users</a:t>
            </a:r>
            <a:endParaRPr lang="en-US" altLang="en-US" sz="1800" dirty="0"/>
          </a:p>
          <a:p>
            <a:pPr lvl="1" algn="just"/>
            <a:r>
              <a:rPr lang="en-US" altLang="en-US" sz="2400" dirty="0"/>
              <a:t>Application programs – define the ways in which the system resources are used to solve the computing problems of the users</a:t>
            </a:r>
            <a:endParaRPr lang="en-US" altLang="en-US" sz="2400" dirty="0"/>
          </a:p>
          <a:p>
            <a:pPr lvl="2" algn="just"/>
            <a:r>
              <a:rPr lang="en-US" altLang="en-US" sz="1800" dirty="0"/>
              <a:t>Word processors, compilers, web browsers, database systems, video games</a:t>
            </a:r>
            <a:endParaRPr lang="en-US" altLang="en-US" sz="1800" dirty="0"/>
          </a:p>
          <a:p>
            <a:pPr lvl="1" algn="just"/>
            <a:r>
              <a:rPr lang="en-US" altLang="en-US" sz="2400" dirty="0"/>
              <a:t>Users</a:t>
            </a:r>
            <a:endParaRPr lang="en-US" altLang="en-US" sz="2400" dirty="0"/>
          </a:p>
          <a:p>
            <a:pPr lvl="2" algn="just"/>
            <a:r>
              <a:rPr lang="en-US" altLang="en-US" sz="1800" dirty="0"/>
              <a:t>People, machines, other computers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554706"/>
            <a:ext cx="8126413" cy="576262"/>
          </a:xfrm>
        </p:spPr>
        <p:txBody>
          <a:bodyPr/>
          <a:lstStyle/>
          <a:p>
            <a:r>
              <a:rPr lang="en-US" altLang="en-US" dirty="0"/>
              <a:t>What Operating Systems Do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381000" y="1544638"/>
            <a:ext cx="8763000" cy="5334000"/>
          </a:xfrm>
        </p:spPr>
        <p:txBody>
          <a:bodyPr>
            <a:normAutofit/>
          </a:bodyPr>
          <a:lstStyle/>
          <a:p>
            <a:r>
              <a:rPr lang="en-US" b="1" dirty="0"/>
              <a:t>User View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System View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/>
          <a:srcRect l="8000" t="8732" r="104" b="8732"/>
          <a:stretch>
            <a:fillRect/>
          </a:stretch>
        </p:blipFill>
        <p:spPr>
          <a:xfrm>
            <a:off x="1905000" y="2057400"/>
            <a:ext cx="5583159" cy="3669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685800"/>
            <a:ext cx="8126413" cy="576262"/>
          </a:xfrm>
        </p:spPr>
        <p:txBody>
          <a:bodyPr/>
          <a:lstStyle/>
          <a:p>
            <a:r>
              <a:rPr lang="en-US" dirty="0"/>
              <a:t>User View</a:t>
            </a:r>
            <a:endParaRPr lang="en-US" dirty="0"/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381000" y="1524000"/>
            <a:ext cx="8763000" cy="53340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user’s view of the computer varies according to the interface being used.</a:t>
            </a:r>
            <a:endParaRPr lang="en-US" sz="3200" dirty="0"/>
          </a:p>
          <a:p>
            <a:pPr algn="just"/>
            <a:r>
              <a:rPr lang="en-US" sz="3200" dirty="0"/>
              <a:t>General Purpose PC</a:t>
            </a:r>
            <a:endParaRPr lang="en-US" sz="3200" dirty="0"/>
          </a:p>
          <a:p>
            <a:pPr lvl="1" algn="just"/>
            <a:r>
              <a:rPr lang="en-US" altLang="en-US" sz="2400" dirty="0"/>
              <a:t>Users want convenience,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ease of use </a:t>
            </a:r>
            <a:r>
              <a:rPr lang="en-US" altLang="en-US" sz="2400" dirty="0"/>
              <a:t>and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good performance 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2" algn="just"/>
            <a:r>
              <a:rPr lang="en-US" altLang="en-US" sz="1800" dirty="0"/>
              <a:t>Don</a:t>
            </a:r>
            <a:r>
              <a:rPr lang="ja-JP" altLang="en-US" sz="1800" dirty="0"/>
              <a:t>’</a:t>
            </a:r>
            <a:r>
              <a:rPr lang="en-US" altLang="ja-JP" sz="1800" dirty="0"/>
              <a:t>t care about </a:t>
            </a:r>
            <a:r>
              <a:rPr lang="en-US" altLang="ja-JP" sz="1800" b="1" dirty="0">
                <a:solidFill>
                  <a:srgbClr val="006699"/>
                </a:solidFill>
                <a:latin typeface="+mj-lt"/>
              </a:rPr>
              <a:t>resource utilization</a:t>
            </a:r>
            <a:endParaRPr lang="en-US" altLang="ja-JP" sz="18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646413"/>
            <a:ext cx="8126413" cy="576262"/>
          </a:xfrm>
        </p:spPr>
        <p:txBody>
          <a:bodyPr/>
          <a:lstStyle/>
          <a:p>
            <a:r>
              <a:rPr lang="en-US" dirty="0"/>
              <a:t>User View</a:t>
            </a:r>
            <a:endParaRPr lang="en-US" dirty="0"/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4876800" cy="48768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 dirty="0">
                <a:solidFill>
                  <a:srgbClr val="000000"/>
                </a:solidFill>
              </a:rPr>
              <a:t>Mobile devices like smartphones and tables OS helps</a:t>
            </a:r>
            <a:r>
              <a:rPr lang="en-US" sz="3200" b="1" dirty="0"/>
              <a:t> devices to run applications and programs</a:t>
            </a:r>
            <a:r>
              <a:rPr lang="en-US" sz="3200" dirty="0"/>
              <a:t>. </a:t>
            </a:r>
            <a:endParaRPr lang="en-US" sz="3200" dirty="0"/>
          </a:p>
          <a:p>
            <a:pPr lvl="1" algn="just"/>
            <a:r>
              <a:rPr lang="en-US" sz="2400" dirty="0"/>
              <a:t>A mobile OS typically starts up when a device powers on, presenting a screen with icons or tiles that present information and provide application access.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algn="just"/>
            <a:r>
              <a:rPr lang="en-US" altLang="en-US" sz="3200" dirty="0">
                <a:solidFill>
                  <a:srgbClr val="000000"/>
                </a:solidFill>
              </a:rPr>
              <a:t>Embedded OS in devices and automobiles</a:t>
            </a:r>
            <a:endParaRPr lang="en-US" altLang="en-US" sz="3200" dirty="0">
              <a:solidFill>
                <a:srgbClr val="000000"/>
              </a:solidFill>
            </a:endParaRPr>
          </a:p>
          <a:p>
            <a:pPr lvl="1" algn="just"/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84994" name="Picture 2" descr="The 9 Best Drones with Camera | Shop Drones w/ 4K HD Drone Cameras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0" y="3581400"/>
            <a:ext cx="3633979" cy="2438400"/>
          </a:xfrm>
          <a:prstGeom prst="rect">
            <a:avLst/>
          </a:prstGeom>
          <a:noFill/>
        </p:spPr>
      </p:pic>
      <p:pic>
        <p:nvPicPr>
          <p:cNvPr id="84996" name="Picture 4" descr="Most Popular &amp;amp; Secure Mobile Operating System Available - Tricia Fountaine  Desig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1524000"/>
            <a:ext cx="3505200" cy="19335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016442"/>
            <a:ext cx="73421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Defining Operating Systems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7167" y="1694513"/>
            <a:ext cx="8332033" cy="419576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sz="3200" dirty="0"/>
              <a:t>Term OS covers many roles</a:t>
            </a:r>
            <a:endParaRPr lang="en-US" altLang="en-US" sz="3200" dirty="0"/>
          </a:p>
          <a:p>
            <a:pPr lvl="1" algn="just"/>
            <a:r>
              <a:rPr lang="en-US" altLang="en-US" sz="2400" dirty="0"/>
              <a:t>Present in toasters,  Oven, smart home appliances, ships, spacecraft, game machines, TVs and industrial control systems</a:t>
            </a:r>
            <a:endParaRPr lang="en-US" altLang="en-US" sz="2400" dirty="0"/>
          </a:p>
          <a:p>
            <a:pPr lvl="1" algn="just"/>
            <a:r>
              <a:rPr lang="en-US" altLang="en-US" sz="2400" dirty="0"/>
              <a:t>Special Purpose for military, automobile industry, Etc.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752600"/>
            <a:ext cx="7842504" cy="455676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From the computer’s point of view, the operating system is the program involved with the hardware.</a:t>
            </a:r>
            <a:endParaRPr lang="en-US" sz="2800" dirty="0"/>
          </a:p>
          <a:p>
            <a:r>
              <a:rPr lang="en-US" altLang="en-US" sz="2800" dirty="0"/>
              <a:t>OS is a </a:t>
            </a:r>
            <a:r>
              <a:rPr lang="en-US" altLang="en-US" sz="2800" b="1" dirty="0">
                <a:solidFill>
                  <a:srgbClr val="3366FF"/>
                </a:solidFill>
              </a:rPr>
              <a:t>resource allocator</a:t>
            </a:r>
            <a:endParaRPr lang="en-US" altLang="en-US" sz="2800" b="1" dirty="0">
              <a:solidFill>
                <a:srgbClr val="3366FF"/>
              </a:solidFill>
            </a:endParaRPr>
          </a:p>
          <a:p>
            <a:pPr lvl="1"/>
            <a:r>
              <a:rPr lang="en-US" altLang="en-US" sz="2000" dirty="0"/>
              <a:t>Manages all resources</a:t>
            </a:r>
            <a:endParaRPr lang="en-US" altLang="en-US" sz="2000" dirty="0"/>
          </a:p>
          <a:p>
            <a:pPr lvl="1"/>
            <a:r>
              <a:rPr lang="en-US" altLang="en-US" sz="2000" dirty="0"/>
              <a:t>Decides between conflicting requests for efficient and fair resource use</a:t>
            </a:r>
            <a:endParaRPr lang="en-US" altLang="en-US" sz="2000" dirty="0"/>
          </a:p>
          <a:p>
            <a:r>
              <a:rPr lang="en-US" altLang="en-US" sz="2800" dirty="0"/>
              <a:t>OS is a </a:t>
            </a:r>
            <a:r>
              <a:rPr lang="en-US" altLang="en-US" sz="2800" b="1" dirty="0">
                <a:solidFill>
                  <a:srgbClr val="3366FF"/>
                </a:solidFill>
              </a:rPr>
              <a:t>control program</a:t>
            </a:r>
            <a:endParaRPr lang="en-US" altLang="en-US" sz="2800" b="1" dirty="0">
              <a:solidFill>
                <a:srgbClr val="3366FF"/>
              </a:solidFill>
            </a:endParaRPr>
          </a:p>
          <a:p>
            <a:pPr lvl="1"/>
            <a:r>
              <a:rPr lang="en-US" altLang="en-US" sz="2000" dirty="0"/>
              <a:t>Controls execution of programs to prevent errors and improper use of the computer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701675"/>
            <a:ext cx="753268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</a:t>
            </a:r>
            <a:r>
              <a:rPr kumimoji="1" lang="en-US" altLang="en-US" dirty="0"/>
              <a:t>st</a:t>
            </a:r>
            <a:r>
              <a:rPr lang="en-US" altLang="en-US" dirty="0"/>
              <a:t>em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95568"/>
            <a:ext cx="5780088" cy="4495800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Core Part of OS </a:t>
            </a:r>
            <a:endParaRPr lang="en-US" altLang="ja-JP" sz="2800" dirty="0"/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The one program running at all times on the computer</a:t>
            </a:r>
            <a:r>
              <a:rPr lang="ja-JP" altLang="en-US" sz="2000" dirty="0"/>
              <a:t>”</a:t>
            </a:r>
            <a:r>
              <a:rPr lang="en-US" altLang="ja-JP" sz="2000" dirty="0"/>
              <a:t> is the </a:t>
            </a:r>
            <a:r>
              <a:rPr lang="en-US" altLang="ja-JP" sz="2000" b="1" dirty="0">
                <a:solidFill>
                  <a:srgbClr val="006699"/>
                </a:solidFill>
                <a:latin typeface="+mj-lt"/>
              </a:rPr>
              <a:t>kernel, </a:t>
            </a:r>
            <a:r>
              <a:rPr lang="en-US" altLang="ja-JP" sz="2000" dirty="0"/>
              <a:t>part of the operating system</a:t>
            </a:r>
            <a:endParaRPr lang="en-US" altLang="ja-JP" sz="2000" dirty="0"/>
          </a:p>
          <a:p>
            <a:r>
              <a:rPr lang="en-US" altLang="ja-JP" sz="2800" dirty="0"/>
              <a:t>Two types of software/program</a:t>
            </a:r>
            <a:endParaRPr lang="en-US" altLang="ja-JP" sz="2800" dirty="0"/>
          </a:p>
          <a:p>
            <a:pPr lvl="1"/>
            <a:r>
              <a:rPr lang="en-US" altLang="ja-JP" sz="2000" dirty="0"/>
              <a:t>A </a:t>
            </a:r>
            <a:r>
              <a:rPr lang="en-US" altLang="ja-JP" sz="2000" b="1" i="1" dirty="0">
                <a:solidFill>
                  <a:srgbClr val="006699"/>
                </a:solidFill>
                <a:latin typeface="+mj-lt"/>
              </a:rPr>
              <a:t>system program</a:t>
            </a:r>
            <a:r>
              <a:rPr lang="en-US" altLang="ja-JP" sz="2000" b="1" dirty="0">
                <a:solidFill>
                  <a:srgbClr val="3366FF"/>
                </a:solidFill>
              </a:rPr>
              <a:t>  or</a:t>
            </a:r>
            <a:endParaRPr lang="en-US" altLang="ja-JP" sz="2000" b="1" dirty="0">
              <a:solidFill>
                <a:srgbClr val="3366FF"/>
              </a:solidFill>
            </a:endParaRPr>
          </a:p>
          <a:p>
            <a:pPr lvl="1"/>
            <a:r>
              <a:rPr lang="en-US" altLang="ja-JP" sz="2000" dirty="0"/>
              <a:t>An </a:t>
            </a:r>
            <a:r>
              <a:rPr lang="en-US" altLang="ja-JP" sz="2000" b="1" i="1" dirty="0">
                <a:solidFill>
                  <a:srgbClr val="006699"/>
                </a:solidFill>
                <a:latin typeface="+mj-lt"/>
              </a:rPr>
              <a:t>application program</a:t>
            </a:r>
            <a:r>
              <a:rPr lang="en-US" altLang="ja-JP" sz="2000" dirty="0"/>
              <a:t>, all programs not associated with the operating system</a:t>
            </a:r>
            <a:endParaRPr lang="en-US" altLang="ja-JP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8" t="1618" r="28803"/>
          <a:stretch>
            <a:fillRect/>
          </a:stretch>
        </p:blipFill>
        <p:spPr>
          <a:xfrm>
            <a:off x="6248400" y="1524000"/>
            <a:ext cx="2514600" cy="4632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Startup</a:t>
            </a:r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880350" cy="4530725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rgbClr val="3366FF"/>
                </a:solidFill>
              </a:rPr>
              <a:t>bootstrap program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is loaded at power-up or reboot</a:t>
            </a:r>
            <a:endParaRPr lang="en-US" altLang="en-US" sz="2800" dirty="0"/>
          </a:p>
          <a:p>
            <a:pPr lvl="1"/>
            <a:r>
              <a:rPr lang="en-US" altLang="en-US" sz="2800" dirty="0"/>
              <a:t>Typically stored in ROM or EPROM, generally known as </a:t>
            </a:r>
            <a:r>
              <a:rPr lang="en-US" altLang="en-US" sz="2800" b="1" dirty="0">
                <a:solidFill>
                  <a:srgbClr val="3366FF"/>
                </a:solidFill>
              </a:rPr>
              <a:t>firmware</a:t>
            </a:r>
            <a:endParaRPr lang="en-US" altLang="en-US" sz="2800" b="1" dirty="0">
              <a:solidFill>
                <a:srgbClr val="3366FF"/>
              </a:solidFill>
            </a:endParaRPr>
          </a:p>
          <a:p>
            <a:pPr lvl="1"/>
            <a:r>
              <a:rPr lang="en-US" altLang="en-US" sz="2800" dirty="0"/>
              <a:t>Initializes all aspects of system</a:t>
            </a:r>
            <a:endParaRPr lang="en-US" altLang="en-US" sz="2800" dirty="0"/>
          </a:p>
          <a:p>
            <a:pPr lvl="1"/>
            <a:r>
              <a:rPr lang="en-US" altLang="en-US" sz="2800" dirty="0"/>
              <a:t>Loads operating system kernel and starts execution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78593" y="1444836"/>
            <a:ext cx="6375400" cy="199041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Overview of Computer System Structure 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705839"/>
            <a:ext cx="76390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Organization</a:t>
            </a:r>
            <a:endParaRPr lang="en-US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7791450" cy="4530725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dirty="0"/>
              <a:t>Computer-system operation</a:t>
            </a:r>
            <a:endParaRPr lang="en-US" altLang="en-US" sz="2800" dirty="0"/>
          </a:p>
          <a:p>
            <a:pPr lvl="1" algn="just"/>
            <a:r>
              <a:rPr lang="en-US" altLang="en-US" sz="2800" dirty="0"/>
              <a:t>One or more CPUs, device controllers connect through common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sz="2800" dirty="0"/>
              <a:t> providing access to shared memory</a:t>
            </a:r>
            <a:endParaRPr lang="en-US" altLang="en-US" sz="2800" dirty="0"/>
          </a:p>
          <a:p>
            <a:pPr lvl="1" algn="just"/>
            <a:r>
              <a:rPr lang="en-US" altLang="en-US" sz="2800" dirty="0"/>
              <a:t>Concurrent execution of CPUs and devices competing for memory cycles</a:t>
            </a:r>
            <a:endParaRPr lang="en-US" altLang="en-US" sz="2800" dirty="0"/>
          </a:p>
          <a:p>
            <a:pPr lvl="1"/>
            <a:endParaRPr lang="en-US" alt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4950" y="214313"/>
            <a:ext cx="763905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Organization</a:t>
            </a:r>
            <a:endParaRPr lang="en-US" altLang="en-US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752600"/>
            <a:ext cx="8458200" cy="429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0744" y="609600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Computer-System Operation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447800"/>
            <a:ext cx="8077200" cy="51816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dirty="0"/>
              <a:t>I/O devices and the CPU can execute concurrently</a:t>
            </a:r>
            <a:endParaRPr lang="en-US" altLang="en-US" sz="1100" dirty="0"/>
          </a:p>
          <a:p>
            <a:pPr algn="just"/>
            <a:r>
              <a:rPr lang="en-US" altLang="en-US" sz="2800" dirty="0"/>
              <a:t>Each device controller is in charge of a particular device type</a:t>
            </a:r>
            <a:endParaRPr lang="en-US" altLang="en-US" sz="1100" dirty="0"/>
          </a:p>
          <a:p>
            <a:pPr algn="just"/>
            <a:r>
              <a:rPr lang="en-US" altLang="en-US" sz="2800" dirty="0"/>
              <a:t>Each device controller has a local buffer</a:t>
            </a:r>
            <a:endParaRPr lang="en-US" altLang="en-US" sz="2800" dirty="0"/>
          </a:p>
          <a:p>
            <a:pPr algn="just"/>
            <a:r>
              <a:rPr lang="en-US" altLang="en-US" sz="2800" dirty="0"/>
              <a:t>Each device controller type has an operating system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device driver</a:t>
            </a:r>
            <a:r>
              <a:rPr lang="en-US" altLang="en-US" sz="2800" dirty="0"/>
              <a:t> to manage it</a:t>
            </a:r>
            <a:endParaRPr lang="en-US" altLang="en-US" sz="1100" dirty="0"/>
          </a:p>
          <a:p>
            <a:pPr algn="just"/>
            <a:r>
              <a:rPr lang="en-US" altLang="en-US" sz="2800" dirty="0"/>
              <a:t>CPU moves data from/to main memory to/from local buffers</a:t>
            </a:r>
            <a:endParaRPr lang="en-US" altLang="en-US" sz="1100" dirty="0"/>
          </a:p>
          <a:p>
            <a:pPr algn="just"/>
            <a:r>
              <a:rPr lang="en-US" altLang="en-US" sz="2800" dirty="0"/>
              <a:t>I/O is from the device to local buffer of controller</a:t>
            </a:r>
            <a:endParaRPr lang="en-US" altLang="en-US" sz="1100" dirty="0"/>
          </a:p>
          <a:p>
            <a:pPr algn="just"/>
            <a:r>
              <a:rPr lang="en-US" altLang="en-US" sz="2800" dirty="0"/>
              <a:t>Device controller informs CPU that it has finished its operation by causing an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interrupt</a:t>
            </a:r>
            <a:endParaRPr lang="en-US" altLang="en-US" sz="28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5734" y="6858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 Timeline</a:t>
            </a:r>
            <a:endParaRPr lang="en-US" altLang="en-US" dirty="0"/>
          </a:p>
        </p:txBody>
      </p:sp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7833592" cy="382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762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Common Functions of Interrupts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956550" cy="4786313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/>
              <a:t>Interrupt transfers control to the interrupt service routine generally, through the </a:t>
            </a:r>
            <a:r>
              <a:rPr lang="en-US" altLang="en-US" sz="2400" b="1" dirty="0">
                <a:solidFill>
                  <a:srgbClr val="3366FF"/>
                </a:solidFill>
              </a:rPr>
              <a:t>interrupt</a:t>
            </a:r>
            <a:r>
              <a:rPr lang="en-US" altLang="en-US" sz="2400" i="1" dirty="0"/>
              <a:t> </a:t>
            </a:r>
            <a:r>
              <a:rPr lang="en-US" altLang="en-US" sz="2400" b="1" dirty="0">
                <a:solidFill>
                  <a:srgbClr val="3366FF"/>
                </a:solidFill>
              </a:rPr>
              <a:t>vector</a:t>
            </a:r>
            <a:r>
              <a:rPr lang="en-US" altLang="en-US" sz="2400" dirty="0"/>
              <a:t>, which contains the addresses of all the service routines</a:t>
            </a:r>
            <a:endParaRPr lang="en-US" altLang="en-US" sz="2400" dirty="0"/>
          </a:p>
          <a:p>
            <a:pPr algn="just"/>
            <a:r>
              <a:rPr lang="en-US" altLang="en-US" sz="2400" dirty="0"/>
              <a:t>Interrupt architecture must save the address of the interrupted instruction</a:t>
            </a:r>
            <a:endParaRPr lang="en-US" altLang="en-US" sz="2400" i="1" dirty="0"/>
          </a:p>
          <a:p>
            <a:pPr algn="just"/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3366FF"/>
                </a:solidFill>
              </a:rPr>
              <a:t>trap</a:t>
            </a:r>
            <a:r>
              <a:rPr lang="en-US" altLang="en-US" sz="2400" dirty="0"/>
              <a:t> or </a:t>
            </a:r>
            <a:r>
              <a:rPr lang="en-US" altLang="en-US" sz="2400" b="1" dirty="0">
                <a:solidFill>
                  <a:srgbClr val="3366FF"/>
                </a:solidFill>
              </a:rPr>
              <a:t>exception</a:t>
            </a:r>
            <a:r>
              <a:rPr lang="en-US" altLang="en-US" sz="2400" dirty="0"/>
              <a:t> is a software-generated interrupt caused either by an error or a user request</a:t>
            </a:r>
            <a:endParaRPr lang="en-US" altLang="en-US" sz="2400" dirty="0"/>
          </a:p>
          <a:p>
            <a:pPr algn="just"/>
            <a:r>
              <a:rPr lang="en-US" altLang="en-US" sz="2400" dirty="0"/>
              <a:t>An operating system is </a:t>
            </a:r>
            <a:r>
              <a:rPr lang="en-US" altLang="en-US" sz="2400" b="1" dirty="0">
                <a:solidFill>
                  <a:srgbClr val="3366FF"/>
                </a:solidFill>
              </a:rPr>
              <a:t>interrupt driven</a:t>
            </a:r>
            <a:endParaRPr lang="en-US" altLang="en-US" sz="2400" b="1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685800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Computer-System Operation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524000"/>
            <a:ext cx="7848600" cy="51816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/>
              <a:t>Device controller informs CPU that it has finished its operation by causing an </a:t>
            </a:r>
            <a:r>
              <a:rPr lang="en-US" altLang="en-US" sz="2400" b="1" dirty="0">
                <a:solidFill>
                  <a:srgbClr val="006699"/>
                </a:solidFill>
              </a:rPr>
              <a:t>interrupt</a:t>
            </a:r>
            <a:endParaRPr lang="en-US" altLang="en-US" sz="2400" b="1" dirty="0">
              <a:solidFill>
                <a:srgbClr val="006699"/>
              </a:solidFill>
            </a:endParaRPr>
          </a:p>
          <a:p>
            <a:pPr algn="just"/>
            <a:r>
              <a:rPr lang="en-US" sz="2400" dirty="0"/>
              <a:t>The </a:t>
            </a:r>
            <a:r>
              <a:rPr lang="en-US" sz="2400" b="1" dirty="0">
                <a:solidFill>
                  <a:srgbClr val="006699"/>
                </a:solidFill>
              </a:rPr>
              <a:t>trap</a:t>
            </a:r>
            <a:r>
              <a:rPr lang="en-US" sz="2400" dirty="0"/>
              <a:t> is a signal raised by a user program instructing the operating system to perform some functionality immediately. In contrast, the interrupt is a signal to the CPU emitted by hardware that indicates an event that requires immediate attention.</a:t>
            </a:r>
            <a:endParaRPr lang="en-US" sz="2400" dirty="0"/>
          </a:p>
          <a:p>
            <a:pPr algn="just"/>
            <a:r>
              <a:rPr lang="en-US" sz="2400" dirty="0"/>
              <a:t>A trap is generated by a user program instruction. In contrast, the hardware devices generate an interrupt.</a:t>
            </a:r>
            <a:endParaRPr lang="en-US" sz="2400" dirty="0"/>
          </a:p>
          <a:p>
            <a:pPr algn="just"/>
            <a:r>
              <a:rPr lang="en-US" sz="2400" dirty="0"/>
              <a:t>A trap is also known as a software interrupt. In contrast, an interrupt is known as a hardware interrupt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4313"/>
            <a:ext cx="8116888" cy="576262"/>
          </a:xfrm>
        </p:spPr>
        <p:txBody>
          <a:bodyPr/>
          <a:lstStyle/>
          <a:p>
            <a:pPr eaLnBrk="1" hangingPunct="1"/>
            <a:r>
              <a:rPr lang="en-US" altLang="en-US"/>
              <a:t>Interrupt-drive I/O Cycle</a:t>
            </a:r>
            <a:endParaRPr lang="en-US" alt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790575"/>
            <a:ext cx="5575300" cy="5495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800" y="1447800"/>
            <a:ext cx="7994650" cy="5189220"/>
            <a:chOff x="464039" y="1059419"/>
            <a:chExt cx="7994650" cy="518922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64039" y="1059419"/>
              <a:ext cx="7925280" cy="51338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05000" y="5878512"/>
              <a:ext cx="6553200" cy="370205"/>
            </a:xfrm>
            <a:custGeom>
              <a:avLst/>
              <a:gdLst/>
              <a:ahLst/>
              <a:cxnLst/>
              <a:rect l="l" t="t" r="r" b="b"/>
              <a:pathLst>
                <a:path w="6553200" h="370204">
                  <a:moveTo>
                    <a:pt x="6553200" y="0"/>
                  </a:moveTo>
                  <a:lnTo>
                    <a:pt x="0" y="0"/>
                  </a:lnTo>
                  <a:lnTo>
                    <a:pt x="0" y="369887"/>
                  </a:lnTo>
                  <a:lnTo>
                    <a:pt x="6553200" y="369887"/>
                  </a:lnTo>
                  <a:lnTo>
                    <a:pt x="6553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5494" y="507213"/>
            <a:ext cx="8149470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Tw Cen MT Condensed (Headings)"/>
                <a:cs typeface="Calibri" panose="020F0502020204030204"/>
              </a:rPr>
              <a:t>Transfer</a:t>
            </a:r>
            <a:r>
              <a:rPr spc="-5" dirty="0">
                <a:latin typeface="Tw Cen MT Condensed (Headings)"/>
                <a:cs typeface="Calibri" panose="020F0502020204030204"/>
              </a:rPr>
              <a:t> </a:t>
            </a:r>
            <a:r>
              <a:rPr spc="-10" dirty="0">
                <a:latin typeface="Tw Cen MT Condensed (Headings)"/>
                <a:cs typeface="Calibri" panose="020F0502020204030204"/>
              </a:rPr>
              <a:t>of</a:t>
            </a:r>
            <a:r>
              <a:rPr dirty="0">
                <a:latin typeface="Tw Cen MT Condensed (Headings)"/>
                <a:cs typeface="Calibri" panose="020F0502020204030204"/>
              </a:rPr>
              <a:t> </a:t>
            </a:r>
            <a:r>
              <a:rPr spc="-20" dirty="0">
                <a:latin typeface="Tw Cen MT Condensed (Headings)"/>
                <a:cs typeface="Calibri" panose="020F0502020204030204"/>
              </a:rPr>
              <a:t>Control</a:t>
            </a:r>
            <a:r>
              <a:rPr spc="-15" dirty="0">
                <a:latin typeface="Tw Cen MT Condensed (Headings)"/>
                <a:cs typeface="Calibri" panose="020F0502020204030204"/>
              </a:rPr>
              <a:t> </a:t>
            </a:r>
            <a:r>
              <a:rPr spc="-5" dirty="0">
                <a:latin typeface="Tw Cen MT Condensed (Headings)"/>
                <a:cs typeface="Calibri" panose="020F0502020204030204"/>
              </a:rPr>
              <a:t>via</a:t>
            </a:r>
            <a:r>
              <a:rPr dirty="0">
                <a:latin typeface="Tw Cen MT Condensed (Headings)"/>
                <a:cs typeface="Calibri" panose="020F0502020204030204"/>
              </a:rPr>
              <a:t> </a:t>
            </a:r>
            <a:r>
              <a:rPr spc="-15" dirty="0">
                <a:latin typeface="Tw Cen MT Condensed (Headings)"/>
                <a:cs typeface="Calibri" panose="020F0502020204030204"/>
              </a:rPr>
              <a:t>Interrupts</a:t>
            </a:r>
            <a:endParaRPr dirty="0">
              <a:latin typeface="Tw Cen MT Condensed (Headings)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326" y="187202"/>
            <a:ext cx="6845934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5" dirty="0">
                <a:latin typeface="Tw Cen MT Condensed (Headings)"/>
                <a:cs typeface="Calibri" panose="020F0502020204030204"/>
              </a:rPr>
              <a:t>I/O operations</a:t>
            </a:r>
            <a:endParaRPr lang="en-US" dirty="0">
              <a:latin typeface="Tw Cen MT Condensed (Headings)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1971" y="6567931"/>
            <a:ext cx="1962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29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040" y="1197922"/>
            <a:ext cx="8626475" cy="4347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2715" indent="-342900" algn="just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469265" algn="l"/>
                <a:tab pos="469900" algn="l"/>
              </a:tabLst>
            </a:pPr>
            <a:r>
              <a:rPr sz="2800" dirty="0">
                <a:latin typeface="Tw Cen MT (Body)"/>
                <a:cs typeface="Calibri" panose="020F0502020204030204"/>
              </a:rPr>
              <a:t>In </a:t>
            </a:r>
            <a:r>
              <a:rPr sz="2800" b="1" spc="-10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Programmed </a:t>
            </a:r>
            <a:r>
              <a:rPr sz="2800" b="1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I/O </a:t>
            </a:r>
            <a:r>
              <a:rPr sz="2800" dirty="0">
                <a:latin typeface="Tw Cen MT (Body)"/>
                <a:cs typeface="Calibri" panose="020F0502020204030204"/>
              </a:rPr>
              <a:t>the </a:t>
            </a:r>
            <a:r>
              <a:rPr sz="2800" spc="-5" dirty="0">
                <a:latin typeface="Tw Cen MT (Body)"/>
                <a:cs typeface="Calibri" panose="020F0502020204030204"/>
              </a:rPr>
              <a:t>CPU </a:t>
            </a:r>
            <a:r>
              <a:rPr sz="2800" dirty="0">
                <a:latin typeface="Tw Cen MT (Body)"/>
                <a:cs typeface="Calibri" panose="020F0502020204030204"/>
              </a:rPr>
              <a:t>is </a:t>
            </a:r>
            <a:r>
              <a:rPr sz="2800" spc="-20" dirty="0">
                <a:latin typeface="Tw Cen MT (Body)"/>
                <a:cs typeface="Calibri" panose="020F0502020204030204"/>
              </a:rPr>
              <a:t>involved </a:t>
            </a:r>
            <a:r>
              <a:rPr sz="2800" dirty="0">
                <a:latin typeface="Tw Cen MT (Body)"/>
                <a:cs typeface="Calibri" panose="020F0502020204030204"/>
              </a:rPr>
              <a:t>in a </a:t>
            </a:r>
            <a:r>
              <a:rPr sz="2800" spc="-15" dirty="0">
                <a:latin typeface="Tw Cen MT (Body)"/>
                <a:cs typeface="Calibri" panose="020F0502020204030204"/>
              </a:rPr>
              <a:t>constant </a:t>
            </a:r>
            <a:r>
              <a:rPr sz="2800" spc="-5" dirty="0">
                <a:latin typeface="Tw Cen MT (Body)"/>
                <a:cs typeface="Calibri" panose="020F0502020204030204"/>
              </a:rPr>
              <a:t>loop </a:t>
            </a:r>
            <a:r>
              <a:rPr sz="2800" dirty="0">
                <a:latin typeface="Tw Cen MT (Body)"/>
                <a:cs typeface="Calibri" panose="020F0502020204030204"/>
              </a:rPr>
              <a:t>&amp; </a:t>
            </a:r>
            <a:r>
              <a:rPr sz="2800" spc="5" dirty="0">
                <a:latin typeface="Tw Cen MT (Body)"/>
                <a:cs typeface="Calibri" panose="020F0502020204030204"/>
              </a:rPr>
              <a:t> </a:t>
            </a:r>
            <a:r>
              <a:rPr sz="2800" spc="-15" dirty="0">
                <a:latin typeface="Tw Cen MT (Body)"/>
                <a:cs typeface="Calibri" panose="020F0502020204030204"/>
              </a:rPr>
              <a:t>constant status </a:t>
            </a:r>
            <a:r>
              <a:rPr sz="2800" dirty="0">
                <a:latin typeface="Tw Cen MT (Body)"/>
                <a:cs typeface="Calibri" panose="020F0502020204030204"/>
              </a:rPr>
              <a:t>checking. </a:t>
            </a:r>
            <a:r>
              <a:rPr sz="2800" spc="-5" dirty="0">
                <a:latin typeface="Tw Cen MT (Body)"/>
                <a:cs typeface="Calibri" panose="020F0502020204030204"/>
              </a:rPr>
              <a:t>CPU cannot do </a:t>
            </a:r>
            <a:r>
              <a:rPr sz="2800" spc="-20" dirty="0">
                <a:latin typeface="Tw Cen MT (Body)"/>
                <a:cs typeface="Calibri" panose="020F0502020204030204"/>
              </a:rPr>
              <a:t>any </a:t>
            </a:r>
            <a:r>
              <a:rPr sz="2800" dirty="0">
                <a:latin typeface="Tw Cen MT (Body)"/>
                <a:cs typeface="Calibri" panose="020F0502020204030204"/>
              </a:rPr>
              <a:t>thing else. </a:t>
            </a:r>
            <a:r>
              <a:rPr sz="2800" spc="-15" dirty="0">
                <a:latin typeface="Tw Cen MT (Body)"/>
                <a:cs typeface="Calibri" panose="020F0502020204030204"/>
              </a:rPr>
              <a:t>However </a:t>
            </a:r>
            <a:r>
              <a:rPr sz="2800" spc="-535" dirty="0">
                <a:latin typeface="Tw Cen MT (Body)"/>
                <a:cs typeface="Calibri" panose="020F0502020204030204"/>
              </a:rPr>
              <a:t> </a:t>
            </a:r>
            <a:r>
              <a:rPr sz="2800" dirty="0">
                <a:latin typeface="Tw Cen MT (Body)"/>
                <a:cs typeface="Calibri" panose="020F0502020204030204"/>
              </a:rPr>
              <a:t>the</a:t>
            </a:r>
            <a:r>
              <a:rPr sz="2800" spc="-5" dirty="0">
                <a:latin typeface="Tw Cen MT (Body)"/>
                <a:cs typeface="Calibri" panose="020F0502020204030204"/>
              </a:rPr>
              <a:t> </a:t>
            </a:r>
            <a:r>
              <a:rPr sz="2800" dirty="0">
                <a:latin typeface="Tw Cen MT (Body)"/>
                <a:cs typeface="Calibri" panose="020F0502020204030204"/>
              </a:rPr>
              <a:t>I/O</a:t>
            </a:r>
            <a:r>
              <a:rPr sz="2800" spc="-10" dirty="0">
                <a:latin typeface="Tw Cen MT (Body)"/>
                <a:cs typeface="Calibri" panose="020F0502020204030204"/>
              </a:rPr>
              <a:t> </a:t>
            </a:r>
            <a:r>
              <a:rPr sz="2800" spc="-20" dirty="0">
                <a:latin typeface="Tw Cen MT (Body)"/>
                <a:cs typeface="Calibri" panose="020F0502020204030204"/>
              </a:rPr>
              <a:t>transfer</a:t>
            </a:r>
            <a:r>
              <a:rPr sz="2800" dirty="0"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speed </a:t>
            </a:r>
            <a:r>
              <a:rPr sz="2800" dirty="0">
                <a:latin typeface="Tw Cen MT (Body)"/>
                <a:cs typeface="Calibri" panose="020F0502020204030204"/>
              </a:rPr>
              <a:t>is </a:t>
            </a:r>
            <a:r>
              <a:rPr sz="2800" spc="-10" dirty="0">
                <a:latin typeface="Tw Cen MT (Body)"/>
                <a:cs typeface="Calibri" panose="020F0502020204030204"/>
              </a:rPr>
              <a:t>quite</a:t>
            </a:r>
            <a:r>
              <a:rPr sz="2800" spc="-15" dirty="0">
                <a:latin typeface="Tw Cen MT (Body)"/>
                <a:cs typeface="Calibri" panose="020F0502020204030204"/>
              </a:rPr>
              <a:t> </a:t>
            </a:r>
            <a:r>
              <a:rPr sz="2800" spc="-20" dirty="0">
                <a:latin typeface="Tw Cen MT (Body)"/>
                <a:cs typeface="Calibri" panose="020F0502020204030204"/>
              </a:rPr>
              <a:t>fast</a:t>
            </a:r>
            <a:r>
              <a:rPr lang="en-US" sz="2800" spc="-20" dirty="0">
                <a:latin typeface="Tw Cen MT (Body)"/>
                <a:cs typeface="Calibri" panose="020F0502020204030204"/>
              </a:rPr>
              <a:t> </a:t>
            </a:r>
            <a:endParaRPr lang="en-US" sz="2800" spc="-20" dirty="0">
              <a:latin typeface="Tw Cen MT (Body)"/>
              <a:cs typeface="Calibri" panose="020F0502020204030204"/>
            </a:endParaRPr>
          </a:p>
          <a:p>
            <a:pPr marL="355600" marR="132715" indent="-342900" algn="just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469265" algn="l"/>
                <a:tab pos="469900" algn="l"/>
              </a:tabLst>
            </a:pPr>
            <a:r>
              <a:rPr sz="2800" dirty="0">
                <a:latin typeface="Tw Cen MT (Body)"/>
                <a:cs typeface="Calibri" panose="020F0502020204030204"/>
              </a:rPr>
              <a:t>In</a:t>
            </a:r>
            <a:r>
              <a:rPr sz="2800" spc="-10" dirty="0">
                <a:latin typeface="Tw Cen MT (Body)"/>
                <a:cs typeface="Calibri" panose="020F0502020204030204"/>
              </a:rPr>
              <a:t> </a:t>
            </a:r>
            <a:r>
              <a:rPr sz="2800" b="1" spc="-15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Interrupt</a:t>
            </a:r>
            <a:r>
              <a:rPr sz="2800" b="1" spc="15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 </a:t>
            </a:r>
            <a:r>
              <a:rPr sz="2800" b="1" spc="-10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driven</a:t>
            </a:r>
            <a:r>
              <a:rPr sz="2800" b="1" spc="-5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 </a:t>
            </a:r>
            <a:r>
              <a:rPr sz="2800" b="1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I/O</a:t>
            </a:r>
            <a:r>
              <a:rPr sz="2800" b="1" spc="10" dirty="0">
                <a:solidFill>
                  <a:schemeClr val="accent1"/>
                </a:solidFill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some</a:t>
            </a:r>
            <a:r>
              <a:rPr sz="2800" spc="-15" dirty="0"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other functions </a:t>
            </a:r>
            <a:r>
              <a:rPr sz="2800" spc="-15" dirty="0">
                <a:latin typeface="Tw Cen MT (Body)"/>
                <a:cs typeface="Calibri" panose="020F0502020204030204"/>
              </a:rPr>
              <a:t>are</a:t>
            </a:r>
            <a:r>
              <a:rPr sz="2800" dirty="0"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being</a:t>
            </a:r>
            <a:r>
              <a:rPr sz="2800" dirty="0">
                <a:latin typeface="Tw Cen MT (Body)"/>
                <a:cs typeface="Calibri" panose="020F0502020204030204"/>
              </a:rPr>
              <a:t> </a:t>
            </a:r>
            <a:r>
              <a:rPr sz="2800" spc="-10" dirty="0">
                <a:latin typeface="Tw Cen MT (Body)"/>
                <a:cs typeface="Calibri" panose="020F0502020204030204"/>
              </a:rPr>
              <a:t>done</a:t>
            </a:r>
            <a:r>
              <a:rPr sz="2800" spc="-5" dirty="0">
                <a:latin typeface="Tw Cen MT (Body)"/>
                <a:cs typeface="Calibri" panose="020F0502020204030204"/>
              </a:rPr>
              <a:t> </a:t>
            </a:r>
            <a:r>
              <a:rPr sz="2800" spc="-10" dirty="0">
                <a:latin typeface="Tw Cen MT (Body)"/>
                <a:cs typeface="Calibri" panose="020F0502020204030204"/>
              </a:rPr>
              <a:t>by </a:t>
            </a:r>
            <a:r>
              <a:rPr sz="2800" spc="-5" dirty="0">
                <a:latin typeface="Tw Cen MT (Body)"/>
                <a:cs typeface="Calibri" panose="020F0502020204030204"/>
              </a:rPr>
              <a:t> </a:t>
            </a:r>
            <a:r>
              <a:rPr sz="2800" dirty="0">
                <a:latin typeface="Tw Cen MT (Body)"/>
                <a:cs typeface="Calibri" panose="020F0502020204030204"/>
              </a:rPr>
              <a:t>the </a:t>
            </a:r>
            <a:r>
              <a:rPr sz="2800" spc="-5" dirty="0">
                <a:latin typeface="Tw Cen MT (Body)"/>
                <a:cs typeface="Calibri" panose="020F0502020204030204"/>
              </a:rPr>
              <a:t>CPU </a:t>
            </a:r>
            <a:r>
              <a:rPr sz="2800" dirty="0">
                <a:latin typeface="Tw Cen MT (Body)"/>
                <a:cs typeface="Calibri" panose="020F0502020204030204"/>
              </a:rPr>
              <a:t>&amp; </a:t>
            </a:r>
            <a:r>
              <a:rPr sz="2800" spc="-5" dirty="0">
                <a:latin typeface="Tw Cen MT (Body)"/>
                <a:cs typeface="Calibri" panose="020F0502020204030204"/>
              </a:rPr>
              <a:t>I/O </a:t>
            </a:r>
            <a:r>
              <a:rPr sz="2800" spc="-15" dirty="0">
                <a:latin typeface="Tw Cen MT (Body)"/>
                <a:cs typeface="Calibri" panose="020F0502020204030204"/>
              </a:rPr>
              <a:t>interpretation </a:t>
            </a:r>
            <a:r>
              <a:rPr sz="2800" spc="-20" dirty="0">
                <a:latin typeface="Tw Cen MT (Body)"/>
                <a:cs typeface="Calibri" panose="020F0502020204030204"/>
              </a:rPr>
              <a:t>takes </a:t>
            </a:r>
            <a:r>
              <a:rPr sz="2800" spc="-5" dirty="0">
                <a:latin typeface="Tw Cen MT (Body)"/>
                <a:cs typeface="Calibri" panose="020F0502020204030204"/>
              </a:rPr>
              <a:t>place only </a:t>
            </a:r>
            <a:r>
              <a:rPr sz="2800" dirty="0">
                <a:latin typeface="Tw Cen MT (Body)"/>
                <a:cs typeface="Calibri" panose="020F0502020204030204"/>
              </a:rPr>
              <a:t>when an </a:t>
            </a:r>
            <a:r>
              <a:rPr sz="2800" spc="-10" dirty="0">
                <a:latin typeface="Tw Cen MT (Body)"/>
                <a:cs typeface="Calibri" panose="020F0502020204030204"/>
              </a:rPr>
              <a:t>interrupt </a:t>
            </a:r>
            <a:r>
              <a:rPr sz="2800" dirty="0">
                <a:latin typeface="Tw Cen MT (Body)"/>
                <a:cs typeface="Calibri" panose="020F0502020204030204"/>
              </a:rPr>
              <a:t>is </a:t>
            </a:r>
            <a:r>
              <a:rPr sz="2800" spc="-530" dirty="0"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initiated.</a:t>
            </a:r>
            <a:r>
              <a:rPr sz="2800" spc="-20" dirty="0">
                <a:latin typeface="Tw Cen MT (Body)"/>
                <a:cs typeface="Calibri" panose="020F0502020204030204"/>
              </a:rPr>
              <a:t> </a:t>
            </a:r>
            <a:r>
              <a:rPr sz="2800" spc="-15" dirty="0">
                <a:latin typeface="Tw Cen MT (Body)"/>
                <a:cs typeface="Calibri" panose="020F0502020204030204"/>
              </a:rPr>
              <a:t>However</a:t>
            </a:r>
            <a:r>
              <a:rPr sz="2800" spc="15" dirty="0">
                <a:latin typeface="Tw Cen MT (Body)"/>
                <a:cs typeface="Calibri" panose="020F0502020204030204"/>
              </a:rPr>
              <a:t> </a:t>
            </a:r>
            <a:r>
              <a:rPr sz="2800" dirty="0">
                <a:latin typeface="Tw Cen MT (Body)"/>
                <a:cs typeface="Calibri" panose="020F0502020204030204"/>
              </a:rPr>
              <a:t>in</a:t>
            </a:r>
            <a:r>
              <a:rPr sz="2800" spc="-20" dirty="0">
                <a:latin typeface="Tw Cen MT (Body)"/>
                <a:cs typeface="Calibri" panose="020F0502020204030204"/>
              </a:rPr>
              <a:t> </a:t>
            </a:r>
            <a:r>
              <a:rPr sz="2800" dirty="0">
                <a:latin typeface="Tw Cen MT (Body)"/>
                <a:cs typeface="Calibri" panose="020F0502020204030204"/>
              </a:rPr>
              <a:t>the </a:t>
            </a:r>
            <a:r>
              <a:rPr sz="2800" spc="-10" dirty="0">
                <a:latin typeface="Tw Cen MT (Body)"/>
                <a:cs typeface="Calibri" panose="020F0502020204030204"/>
              </a:rPr>
              <a:t>entire</a:t>
            </a:r>
            <a:r>
              <a:rPr sz="2800" spc="-5" dirty="0">
                <a:latin typeface="Tw Cen MT (Body)"/>
                <a:cs typeface="Calibri" panose="020F0502020204030204"/>
              </a:rPr>
              <a:t> </a:t>
            </a:r>
            <a:r>
              <a:rPr sz="2800" spc="-10" dirty="0">
                <a:latin typeface="Tw Cen MT (Body)"/>
                <a:cs typeface="Calibri" panose="020F0502020204030204"/>
              </a:rPr>
              <a:t>duration</a:t>
            </a:r>
            <a:r>
              <a:rPr sz="2800" dirty="0">
                <a:latin typeface="Tw Cen MT (Body)"/>
                <a:cs typeface="Calibri" panose="020F0502020204030204"/>
              </a:rPr>
              <a:t> </a:t>
            </a:r>
            <a:r>
              <a:rPr sz="2800" spc="-10" dirty="0">
                <a:latin typeface="Tw Cen MT (Body)"/>
                <a:cs typeface="Calibri" panose="020F0502020204030204"/>
              </a:rPr>
              <a:t>of </a:t>
            </a:r>
            <a:r>
              <a:rPr sz="2800" spc="-15" dirty="0">
                <a:latin typeface="Tw Cen MT (Body)"/>
                <a:cs typeface="Calibri" panose="020F0502020204030204"/>
              </a:rPr>
              <a:t>data </a:t>
            </a:r>
            <a:r>
              <a:rPr sz="2800" spc="-20" dirty="0">
                <a:latin typeface="Tw Cen MT (Body)"/>
                <a:cs typeface="Calibri" panose="020F0502020204030204"/>
              </a:rPr>
              <a:t>transfer</a:t>
            </a:r>
            <a:r>
              <a:rPr sz="2800" spc="-5" dirty="0">
                <a:latin typeface="Tw Cen MT (Body)"/>
                <a:cs typeface="Calibri" panose="020F0502020204030204"/>
              </a:rPr>
              <a:t> active </a:t>
            </a:r>
            <a:r>
              <a:rPr sz="2800" dirty="0"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participation</a:t>
            </a:r>
            <a:r>
              <a:rPr sz="2800" spc="-40" dirty="0"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of </a:t>
            </a:r>
            <a:r>
              <a:rPr sz="2800" dirty="0">
                <a:latin typeface="Tw Cen MT (Body)"/>
                <a:cs typeface="Calibri" panose="020F0502020204030204"/>
              </a:rPr>
              <a:t>CPU</a:t>
            </a:r>
            <a:r>
              <a:rPr sz="2800" spc="-25" dirty="0">
                <a:latin typeface="Tw Cen MT (Body)"/>
                <a:cs typeface="Calibri" panose="020F0502020204030204"/>
              </a:rPr>
              <a:t> </a:t>
            </a:r>
            <a:r>
              <a:rPr sz="2800" dirty="0">
                <a:latin typeface="Tw Cen MT (Body)"/>
                <a:cs typeface="Calibri" panose="020F0502020204030204"/>
              </a:rPr>
              <a:t>is </a:t>
            </a:r>
            <a:r>
              <a:rPr sz="2800" spc="-15" dirty="0">
                <a:latin typeface="Tw Cen MT (Body)"/>
                <a:cs typeface="Calibri" panose="020F0502020204030204"/>
              </a:rPr>
              <a:t>involved</a:t>
            </a:r>
            <a:endParaRPr lang="en-US" sz="2800" dirty="0">
              <a:latin typeface="Tw Cen MT (Body)"/>
              <a:cs typeface="Calibri" panose="020F0502020204030204"/>
            </a:endParaRPr>
          </a:p>
          <a:p>
            <a:pPr marL="355600" marR="132715" indent="-342900" algn="just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469265" algn="l"/>
                <a:tab pos="469900" algn="l"/>
              </a:tabLst>
            </a:pPr>
            <a:r>
              <a:rPr sz="2800" spc="-5" dirty="0">
                <a:latin typeface="Tw Cen MT (Body)"/>
                <a:cs typeface="Calibri" panose="020F0502020204030204"/>
              </a:rPr>
              <a:t>This brings us </a:t>
            </a:r>
            <a:r>
              <a:rPr sz="2800" spc="-15" dirty="0">
                <a:latin typeface="Tw Cen MT (Body)"/>
                <a:cs typeface="Calibri" panose="020F0502020204030204"/>
              </a:rPr>
              <a:t>to </a:t>
            </a:r>
            <a:r>
              <a:rPr sz="2800" dirty="0">
                <a:latin typeface="Tw Cen MT (Body)"/>
                <a:cs typeface="Calibri" panose="020F0502020204030204"/>
              </a:rPr>
              <a:t>a </a:t>
            </a:r>
            <a:r>
              <a:rPr sz="2800" spc="-10" dirty="0">
                <a:latin typeface="Tw Cen MT (Body)"/>
                <a:cs typeface="Calibri" panose="020F0502020204030204"/>
              </a:rPr>
              <a:t>third </a:t>
            </a:r>
            <a:r>
              <a:rPr sz="2800" spc="-20" dirty="0">
                <a:latin typeface="Tw Cen MT (Body)"/>
                <a:cs typeface="Calibri" panose="020F0502020204030204"/>
              </a:rPr>
              <a:t>transfer </a:t>
            </a:r>
            <a:r>
              <a:rPr sz="2800" spc="-5" dirty="0">
                <a:latin typeface="Tw Cen MT (Body)"/>
                <a:cs typeface="Calibri" panose="020F0502020204030204"/>
              </a:rPr>
              <a:t>mode </a:t>
            </a:r>
            <a:r>
              <a:rPr sz="2800" dirty="0">
                <a:latin typeface="Tw Cen MT (Body)"/>
                <a:cs typeface="Calibri" panose="020F0502020204030204"/>
              </a:rPr>
              <a:t>and </a:t>
            </a:r>
            <a:r>
              <a:rPr sz="2800" spc="-10" dirty="0">
                <a:latin typeface="Tw Cen MT (Body)"/>
                <a:cs typeface="Calibri" panose="020F0502020204030204"/>
              </a:rPr>
              <a:t>that </a:t>
            </a:r>
            <a:r>
              <a:rPr sz="2800" dirty="0">
                <a:latin typeface="Tw Cen MT (Body)"/>
                <a:cs typeface="Calibri" panose="020F0502020204030204"/>
              </a:rPr>
              <a:t>is </a:t>
            </a:r>
            <a:r>
              <a:rPr sz="2800" spc="-10" dirty="0">
                <a:latin typeface="Tw Cen MT (Body)"/>
                <a:cs typeface="Calibri" panose="020F0502020204030204"/>
              </a:rPr>
              <a:t>Direct </a:t>
            </a:r>
            <a:r>
              <a:rPr sz="2800" dirty="0">
                <a:latin typeface="Tw Cen MT (Body)"/>
                <a:cs typeface="Calibri" panose="020F0502020204030204"/>
              </a:rPr>
              <a:t>Memory </a:t>
            </a:r>
            <a:r>
              <a:rPr sz="2800" spc="-530" dirty="0">
                <a:latin typeface="Tw Cen MT (Body)"/>
                <a:cs typeface="Calibri" panose="020F0502020204030204"/>
              </a:rPr>
              <a:t> </a:t>
            </a:r>
            <a:r>
              <a:rPr sz="2800" dirty="0">
                <a:latin typeface="Tw Cen MT (Body)"/>
                <a:cs typeface="Calibri" panose="020F0502020204030204"/>
              </a:rPr>
              <a:t>Access</a:t>
            </a:r>
            <a:r>
              <a:rPr sz="2800" spc="-35" dirty="0">
                <a:latin typeface="Tw Cen MT (Body)"/>
                <a:cs typeface="Calibri" panose="020F0502020204030204"/>
              </a:rPr>
              <a:t> </a:t>
            </a:r>
            <a:r>
              <a:rPr sz="2800" spc="-5" dirty="0">
                <a:latin typeface="Tw Cen MT (Body)"/>
                <a:cs typeface="Calibri" panose="020F0502020204030204"/>
              </a:rPr>
              <a:t>(DMA)</a:t>
            </a:r>
            <a:endParaRPr lang="en-US" sz="2800" dirty="0">
              <a:latin typeface="Tw Cen MT (Body)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06677"/>
            <a:ext cx="74650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latin typeface="Tw Cen MT Condensed (Headings)"/>
                <a:cs typeface="Calibri" panose="020F0502020204030204"/>
              </a:rPr>
              <a:t>Direct</a:t>
            </a:r>
            <a:r>
              <a:rPr sz="4000" spc="15" dirty="0">
                <a:latin typeface="Tw Cen MT Condensed (Headings)"/>
                <a:cs typeface="Calibri" panose="020F0502020204030204"/>
              </a:rPr>
              <a:t> </a:t>
            </a:r>
            <a:r>
              <a:rPr sz="4000" spc="-5" dirty="0">
                <a:latin typeface="Tw Cen MT Condensed (Headings)"/>
                <a:cs typeface="Calibri" panose="020F0502020204030204"/>
              </a:rPr>
              <a:t>Memory Access</a:t>
            </a:r>
            <a:r>
              <a:rPr sz="4000" dirty="0">
                <a:latin typeface="Tw Cen MT Condensed (Headings)"/>
                <a:cs typeface="Calibri" panose="020F0502020204030204"/>
              </a:rPr>
              <a:t> </a:t>
            </a:r>
            <a:r>
              <a:rPr sz="4000" spc="-5" dirty="0">
                <a:latin typeface="Tw Cen MT Condensed (Headings)"/>
                <a:cs typeface="Calibri" panose="020F0502020204030204"/>
              </a:rPr>
              <a:t>(DMA)</a:t>
            </a:r>
            <a:endParaRPr sz="4000" dirty="0">
              <a:latin typeface="Tw Cen MT Condensed (Headings)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1971" y="6567931"/>
            <a:ext cx="1962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30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1159227"/>
            <a:ext cx="7732675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2725" algn="just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469900" algn="l"/>
              </a:tabLst>
            </a:pPr>
            <a:r>
              <a:rPr lang="en-US" sz="2800" dirty="0"/>
              <a:t>Direct memory access (DMA) is a method that allows an input/output (I/O) device to send or receive data directly to or from the main memory, bypassing the CPU to speed up memory operations.</a:t>
            </a:r>
            <a:endParaRPr sz="3600" dirty="0">
              <a:cs typeface="Calibri" panose="020F0502020204030204"/>
            </a:endParaRPr>
          </a:p>
        </p:txBody>
      </p:sp>
      <p:pic>
        <p:nvPicPr>
          <p:cNvPr id="1026" name="Picture 2" descr="What is Direct Memory Access (DMA)? DMA Controller, Block ...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64"/>
          <a:stretch>
            <a:fillRect/>
          </a:stretch>
        </p:blipFill>
        <p:spPr bwMode="auto">
          <a:xfrm>
            <a:off x="1905000" y="2895600"/>
            <a:ext cx="57150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835025" y="212725"/>
            <a:ext cx="7702550" cy="576263"/>
          </a:xfrm>
        </p:spPr>
        <p:txBody>
          <a:bodyPr/>
          <a:lstStyle/>
          <a:p>
            <a:r>
              <a:rPr lang="en-US" altLang="en-US"/>
              <a:t>How a Modern Computer Works</a:t>
            </a:r>
            <a:endParaRPr lang="en-US" altLang="en-US"/>
          </a:p>
        </p:txBody>
      </p:sp>
      <p:sp>
        <p:nvSpPr>
          <p:cNvPr id="44035" name="TextBox 3"/>
          <p:cNvSpPr txBox="1">
            <a:spLocks noChangeArrowheads="1"/>
          </p:cNvSpPr>
          <p:nvPr/>
        </p:nvSpPr>
        <p:spPr bwMode="auto">
          <a:xfrm>
            <a:off x="4787900" y="5637213"/>
            <a:ext cx="2874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i="1">
                <a:latin typeface="Verdana" panose="020B0604030504040204" pitchFamily="34" charset="0"/>
              </a:rPr>
              <a:t>A von Neumann architecture</a:t>
            </a:r>
            <a:endParaRPr kumimoji="0" lang="en-US" altLang="en-US" sz="1400" i="1">
              <a:latin typeface="Verdana" panose="020B0604030504040204" pitchFamily="34" charset="0"/>
            </a:endParaRPr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1352550"/>
            <a:ext cx="5122863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1448" y="1722371"/>
            <a:ext cx="4131352" cy="1325629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Storage Structure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Structure</a:t>
            </a: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32180"/>
            <a:ext cx="7848600" cy="4787620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Main memory – only large storage media that the CPU can access directly</a:t>
            </a:r>
            <a:endParaRPr lang="en-US" altLang="en-US" sz="3200" dirty="0"/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Random access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3200" dirty="0"/>
              <a:t>Typically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volatile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400" dirty="0"/>
              <a:t>Typically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random-access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sz="32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in the form of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Dynamic Random-access Memory (DRAM)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3200" dirty="0"/>
              <a:t>Secondary storage – extension of main memory that provides large </a:t>
            </a: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nonvolatile </a:t>
            </a:r>
            <a:r>
              <a:rPr lang="en-US" altLang="en-US" sz="3200" dirty="0"/>
              <a:t>storage capacity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 (Cont.)</a:t>
            </a:r>
            <a:endParaRPr lang="en-US" alt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1688" y="1099454"/>
            <a:ext cx="7961312" cy="5148945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Hard Disk Drives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HDD</a:t>
            </a:r>
            <a:r>
              <a:rPr lang="en-US" altLang="en-US" sz="2400" dirty="0"/>
              <a:t>) – rigid metal or glass platters covered with magnetic recording material </a:t>
            </a:r>
            <a:endParaRPr lang="en-US" altLang="en-US" sz="2400" dirty="0"/>
          </a:p>
          <a:p>
            <a:pPr lvl="1" algn="just"/>
            <a:r>
              <a:rPr lang="en-US" altLang="en-US" sz="2400" dirty="0"/>
              <a:t>Disk surface is logically divided into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 tracks</a:t>
            </a:r>
            <a:r>
              <a:rPr lang="en-US" altLang="en-US" sz="2400" dirty="0"/>
              <a:t>, which are subdivided into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sectors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1" algn="just"/>
            <a:r>
              <a:rPr lang="en-US" altLang="en-US" sz="2400" dirty="0"/>
              <a:t>The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disk controller </a:t>
            </a:r>
            <a:r>
              <a:rPr lang="en-US" altLang="en-US" sz="2400" dirty="0"/>
              <a:t>determines the logical interaction between the device and the computer </a:t>
            </a:r>
            <a:endParaRPr lang="en-US" altLang="en-US" sz="2400" dirty="0"/>
          </a:p>
          <a:p>
            <a:pPr algn="just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Non-volatile memory</a:t>
            </a:r>
            <a:r>
              <a:rPr lang="en-US" altLang="en-US" sz="2400" dirty="0"/>
              <a:t> 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NVM</a:t>
            </a:r>
            <a:r>
              <a:rPr lang="en-US" altLang="en-US" sz="2400" dirty="0"/>
              <a:t>)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sz="2400" dirty="0"/>
              <a:t>devices– faster than hard disks, nonvolatile</a:t>
            </a:r>
            <a:endParaRPr lang="en-US" altLang="en-US" sz="2400" dirty="0"/>
          </a:p>
          <a:p>
            <a:pPr lvl="1" algn="just"/>
            <a:r>
              <a:rPr lang="en-US" altLang="en-US" sz="2400" dirty="0"/>
              <a:t>Various technologies</a:t>
            </a:r>
            <a:endParaRPr lang="en-US" altLang="en-US" sz="2400" dirty="0"/>
          </a:p>
          <a:p>
            <a:pPr lvl="1" algn="just"/>
            <a:r>
              <a:rPr lang="en-US" altLang="en-US" sz="2400" dirty="0"/>
              <a:t>Becoming more popular as capacity and performance increases, price drops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524000"/>
            <a:ext cx="7381240" cy="3954287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w Cen MT (Body)"/>
                <a:cs typeface="Arial MT"/>
              </a:rPr>
              <a:t>Major</a:t>
            </a:r>
            <a:r>
              <a:rPr sz="3200" spc="-10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constraints</a:t>
            </a:r>
            <a:r>
              <a:rPr sz="3200" spc="-35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in</a:t>
            </a:r>
            <a:r>
              <a:rPr sz="3200" spc="-15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memory</a:t>
            </a:r>
            <a:endParaRPr sz="3200" dirty="0">
              <a:latin typeface="Tw Cen MT (Body)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Tw Cen MT (Body)"/>
                <a:cs typeface="Arial MT"/>
              </a:rPr>
              <a:t>Amount</a:t>
            </a:r>
            <a:endParaRPr sz="2800" dirty="0">
              <a:latin typeface="Tw Cen MT (Body)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Tw Cen MT (Body)"/>
                <a:cs typeface="Arial MT"/>
              </a:rPr>
              <a:t>Speed</a:t>
            </a:r>
            <a:endParaRPr sz="2800" dirty="0">
              <a:latin typeface="Tw Cen MT (Body)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Tw Cen MT (Body)"/>
                <a:cs typeface="Arial MT"/>
              </a:rPr>
              <a:t>Expense</a:t>
            </a:r>
            <a:endParaRPr sz="2800" dirty="0">
              <a:latin typeface="Tw Cen MT (Body)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w Cen MT (Body)"/>
                <a:cs typeface="Arial MT"/>
              </a:rPr>
              <a:t>Faster</a:t>
            </a:r>
            <a:r>
              <a:rPr sz="3200" spc="-40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access</a:t>
            </a:r>
            <a:r>
              <a:rPr sz="3200" spc="-30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time,</a:t>
            </a:r>
            <a:r>
              <a:rPr sz="3200" spc="-10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greater</a:t>
            </a:r>
            <a:r>
              <a:rPr sz="3200" spc="-15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cost</a:t>
            </a:r>
            <a:r>
              <a:rPr sz="3200" spc="-30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per</a:t>
            </a:r>
            <a:r>
              <a:rPr sz="3200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bit</a:t>
            </a:r>
            <a:endParaRPr sz="3200" dirty="0">
              <a:latin typeface="Tw Cen MT (Body)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w Cen MT (Body)"/>
                <a:cs typeface="Arial MT"/>
              </a:rPr>
              <a:t>Greater</a:t>
            </a:r>
            <a:r>
              <a:rPr sz="3200" spc="-30" dirty="0">
                <a:latin typeface="Tw Cen MT (Body)"/>
                <a:cs typeface="Arial MT"/>
              </a:rPr>
              <a:t> capacity, </a:t>
            </a:r>
            <a:r>
              <a:rPr sz="3200" dirty="0">
                <a:latin typeface="Tw Cen MT (Body)"/>
                <a:cs typeface="Arial MT"/>
              </a:rPr>
              <a:t>smaller cost</a:t>
            </a:r>
            <a:r>
              <a:rPr sz="3200" spc="-35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per</a:t>
            </a:r>
            <a:r>
              <a:rPr sz="3200" spc="-15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bit</a:t>
            </a:r>
            <a:endParaRPr sz="3200" dirty="0">
              <a:latin typeface="Tw Cen MT (Body)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w Cen MT (Body)"/>
                <a:cs typeface="Arial MT"/>
              </a:rPr>
              <a:t>Greater</a:t>
            </a:r>
            <a:r>
              <a:rPr sz="3200" spc="-25" dirty="0">
                <a:latin typeface="Tw Cen MT (Body)"/>
                <a:cs typeface="Arial MT"/>
              </a:rPr>
              <a:t> </a:t>
            </a:r>
            <a:r>
              <a:rPr sz="3200" spc="-30" dirty="0">
                <a:latin typeface="Tw Cen MT (Body)"/>
                <a:cs typeface="Arial MT"/>
              </a:rPr>
              <a:t>capacity,</a:t>
            </a:r>
            <a:r>
              <a:rPr sz="3200" spc="-25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slower</a:t>
            </a:r>
            <a:r>
              <a:rPr sz="3200" spc="-20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access</a:t>
            </a:r>
            <a:r>
              <a:rPr sz="3200" spc="-25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speed</a:t>
            </a:r>
            <a:endParaRPr sz="3200" dirty="0">
              <a:latin typeface="Tw Cen MT (Body)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384" y="762696"/>
            <a:ext cx="4357370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 Condensed (Headings)"/>
                <a:cs typeface="Calibri" panose="020F0502020204030204"/>
              </a:rPr>
              <a:t>Memory</a:t>
            </a:r>
            <a:r>
              <a:rPr spc="-55" dirty="0">
                <a:latin typeface="Tw Cen MT Condensed (Headings)"/>
                <a:cs typeface="Calibri" panose="020F0502020204030204"/>
              </a:rPr>
              <a:t> </a:t>
            </a:r>
            <a:r>
              <a:rPr spc="-30" dirty="0">
                <a:latin typeface="Tw Cen MT Condensed (Headings)"/>
                <a:cs typeface="Calibri" panose="020F0502020204030204"/>
              </a:rPr>
              <a:t>Hierarchy</a:t>
            </a:r>
            <a:endParaRPr dirty="0">
              <a:latin typeface="Tw Cen MT Condensed (Headings)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126413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Storage-Device Hierarchy</a:t>
            </a:r>
            <a:endParaRPr lang="en-US" altLang="en-US"/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3" y="1455738"/>
            <a:ext cx="7483475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1524000"/>
            <a:ext cx="7661909" cy="4789170"/>
            <a:chOff x="610198" y="1219899"/>
            <a:chExt cx="7661909" cy="478917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0198" y="1219899"/>
              <a:ext cx="7661509" cy="471111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71600" y="5638799"/>
              <a:ext cx="6477000" cy="370205"/>
            </a:xfrm>
            <a:custGeom>
              <a:avLst/>
              <a:gdLst/>
              <a:ahLst/>
              <a:cxnLst/>
              <a:rect l="l" t="t" r="r" b="b"/>
              <a:pathLst>
                <a:path w="6477000" h="370204">
                  <a:moveTo>
                    <a:pt x="6477000" y="0"/>
                  </a:moveTo>
                  <a:lnTo>
                    <a:pt x="0" y="0"/>
                  </a:lnTo>
                  <a:lnTo>
                    <a:pt x="0" y="369887"/>
                  </a:lnTo>
                  <a:lnTo>
                    <a:pt x="6477000" y="369887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506038"/>
            <a:ext cx="5867400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w Cen MT Condensed (Headings)"/>
                <a:cs typeface="Calibri" panose="020F0502020204030204"/>
              </a:rPr>
              <a:t>Cache </a:t>
            </a:r>
            <a:r>
              <a:rPr dirty="0">
                <a:latin typeface="Tw Cen MT Condensed (Headings)"/>
                <a:cs typeface="Calibri" panose="020F0502020204030204"/>
              </a:rPr>
              <a:t>and</a:t>
            </a:r>
            <a:r>
              <a:rPr spc="-10" dirty="0">
                <a:latin typeface="Tw Cen MT Condensed (Headings)"/>
                <a:cs typeface="Calibri" panose="020F0502020204030204"/>
              </a:rPr>
              <a:t> </a:t>
            </a:r>
            <a:r>
              <a:rPr spc="-5" dirty="0">
                <a:latin typeface="Tw Cen MT Condensed (Headings)"/>
                <a:cs typeface="Calibri" panose="020F0502020204030204"/>
              </a:rPr>
              <a:t>Main</a:t>
            </a:r>
            <a:r>
              <a:rPr spc="-10" dirty="0">
                <a:latin typeface="Tw Cen MT Condensed (Headings)"/>
                <a:cs typeface="Calibri" panose="020F0502020204030204"/>
              </a:rPr>
              <a:t> </a:t>
            </a:r>
            <a:r>
              <a:rPr dirty="0">
                <a:latin typeface="Tw Cen MT Condensed (Headings)"/>
                <a:cs typeface="Calibri" panose="020F0502020204030204"/>
              </a:rPr>
              <a:t>Memory</a:t>
            </a:r>
            <a:endParaRPr dirty="0">
              <a:latin typeface="Tw Cen MT Condensed (Headings)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4450388"/>
            <a:ext cx="8130732" cy="2164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w Cen MT (Body)"/>
                <a:cs typeface="Arial MT"/>
              </a:rPr>
              <a:t>Caches</a:t>
            </a:r>
            <a:r>
              <a:rPr sz="2400" spc="1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Contains</a:t>
            </a:r>
            <a:r>
              <a:rPr sz="2400" spc="3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copy</a:t>
            </a:r>
            <a:r>
              <a:rPr sz="2400" spc="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of</a:t>
            </a:r>
            <a:r>
              <a:rPr sz="2400" spc="5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a</a:t>
            </a:r>
            <a:r>
              <a:rPr sz="2400" spc="5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portion</a:t>
            </a:r>
            <a:r>
              <a:rPr sz="2400" spc="10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of</a:t>
            </a:r>
            <a:r>
              <a:rPr sz="2400" spc="-15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main</a:t>
            </a:r>
            <a:r>
              <a:rPr sz="2400" spc="15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memory</a:t>
            </a:r>
            <a:endParaRPr sz="2400" dirty="0">
              <a:latin typeface="Tw Cen MT (Body)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w Cen MT (Body)"/>
                <a:cs typeface="Arial MT"/>
              </a:rPr>
              <a:t>Processor</a:t>
            </a:r>
            <a:r>
              <a:rPr sz="2400" spc="-10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first</a:t>
            </a:r>
            <a:r>
              <a:rPr sz="2400" spc="-2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checks</a:t>
            </a:r>
            <a:r>
              <a:rPr sz="2400" spc="-1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cache</a:t>
            </a:r>
            <a:endParaRPr sz="2400" dirty="0">
              <a:latin typeface="Tw Cen MT (Body)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w Cen MT (Body)"/>
                <a:cs typeface="Arial MT"/>
              </a:rPr>
              <a:t>–</a:t>
            </a:r>
            <a:r>
              <a:rPr sz="2400" spc="240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If</a:t>
            </a:r>
            <a:r>
              <a:rPr sz="2400" spc="-1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not</a:t>
            </a:r>
            <a:r>
              <a:rPr sz="2400" spc="-1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found,</a:t>
            </a:r>
            <a:r>
              <a:rPr sz="2400" spc="-5" dirty="0">
                <a:latin typeface="Tw Cen MT (Body)"/>
                <a:cs typeface="Arial MT"/>
              </a:rPr>
              <a:t> block</a:t>
            </a:r>
            <a:r>
              <a:rPr sz="2400" spc="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of</a:t>
            </a:r>
            <a:r>
              <a:rPr sz="2400" spc="-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memory</a:t>
            </a:r>
            <a:r>
              <a:rPr sz="2400" spc="-5" dirty="0">
                <a:latin typeface="Tw Cen MT (Body)"/>
                <a:cs typeface="Arial MT"/>
              </a:rPr>
              <a:t> read</a:t>
            </a:r>
            <a:r>
              <a:rPr sz="2400" spc="1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into</a:t>
            </a:r>
            <a:r>
              <a:rPr sz="240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cache</a:t>
            </a:r>
            <a:endParaRPr sz="2400" dirty="0">
              <a:latin typeface="Tw Cen MT (Body)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w Cen MT (Body)"/>
                <a:cs typeface="Arial MT"/>
              </a:rPr>
              <a:t>Because</a:t>
            </a:r>
            <a:r>
              <a:rPr sz="2400" spc="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of </a:t>
            </a:r>
            <a:r>
              <a:rPr sz="2400" spc="-5" dirty="0">
                <a:latin typeface="Tw Cen MT (Body)"/>
                <a:cs typeface="Arial MT"/>
              </a:rPr>
              <a:t>locality</a:t>
            </a:r>
            <a:r>
              <a:rPr sz="2400" spc="2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of</a:t>
            </a:r>
            <a:r>
              <a:rPr sz="2400" spc="5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reference, </a:t>
            </a:r>
            <a:r>
              <a:rPr sz="2400" spc="-5" dirty="0">
                <a:latin typeface="Tw Cen MT (Body)"/>
                <a:cs typeface="Arial MT"/>
              </a:rPr>
              <a:t>likely</a:t>
            </a:r>
            <a:r>
              <a:rPr sz="2400" spc="2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future</a:t>
            </a:r>
            <a:r>
              <a:rPr sz="2400" spc="-1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memory </a:t>
            </a:r>
            <a:r>
              <a:rPr sz="2400" spc="-65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references are</a:t>
            </a:r>
            <a:r>
              <a:rPr sz="2400" spc="5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in</a:t>
            </a:r>
            <a:r>
              <a:rPr sz="2400" spc="-10" dirty="0">
                <a:latin typeface="Tw Cen MT (Body)"/>
                <a:cs typeface="Arial MT"/>
              </a:rPr>
              <a:t> </a:t>
            </a:r>
            <a:r>
              <a:rPr sz="2400" dirty="0">
                <a:latin typeface="Tw Cen MT (Body)"/>
                <a:cs typeface="Arial MT"/>
              </a:rPr>
              <a:t>that</a:t>
            </a:r>
            <a:r>
              <a:rPr sz="2400" spc="-10" dirty="0">
                <a:latin typeface="Tw Cen MT (Body)"/>
                <a:cs typeface="Arial MT"/>
              </a:rPr>
              <a:t> </a:t>
            </a:r>
            <a:r>
              <a:rPr sz="2400" spc="-5" dirty="0">
                <a:latin typeface="Tw Cen MT (Body)"/>
                <a:cs typeface="Arial MT"/>
              </a:rPr>
              <a:t>block</a:t>
            </a:r>
            <a:endParaRPr sz="2400" dirty="0">
              <a:latin typeface="Tw Cen MT (Body)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908" y="1067454"/>
            <a:ext cx="4428490" cy="11676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latin typeface="Tw Cen MT Condensed (Headings)"/>
                <a:cs typeface="Calibri" panose="020F0502020204030204"/>
              </a:rPr>
              <a:t>Migration </a:t>
            </a:r>
            <a:r>
              <a:rPr spc="-10" dirty="0">
                <a:latin typeface="Tw Cen MT Condensed (Headings)"/>
                <a:cs typeface="Calibri" panose="020F0502020204030204"/>
              </a:rPr>
              <a:t>of</a:t>
            </a:r>
            <a:r>
              <a:rPr spc="-20" dirty="0">
                <a:latin typeface="Tw Cen MT Condensed (Headings)"/>
                <a:cs typeface="Calibri" panose="020F0502020204030204"/>
              </a:rPr>
              <a:t> </a:t>
            </a:r>
            <a:r>
              <a:rPr spc="-25" dirty="0">
                <a:latin typeface="Tw Cen MT Condensed (Headings)"/>
                <a:cs typeface="Calibri" panose="020F0502020204030204"/>
              </a:rPr>
              <a:t>Data</a:t>
            </a:r>
            <a:endParaRPr dirty="0">
              <a:latin typeface="Tw Cen MT Condensed (Headings)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0" dirty="0">
                <a:latin typeface="Tw Cen MT Condensed (Headings)"/>
                <a:cs typeface="Calibri" panose="020F0502020204030204"/>
              </a:rPr>
              <a:t>from</a:t>
            </a:r>
            <a:r>
              <a:rPr spc="-5" dirty="0">
                <a:latin typeface="Tw Cen MT Condensed (Headings)"/>
                <a:cs typeface="Calibri" panose="020F0502020204030204"/>
              </a:rPr>
              <a:t> </a:t>
            </a:r>
            <a:r>
              <a:rPr spc="-10" dirty="0">
                <a:latin typeface="Tw Cen MT Condensed (Headings)"/>
                <a:cs typeface="Calibri" panose="020F0502020204030204"/>
              </a:rPr>
              <a:t>Disk</a:t>
            </a:r>
            <a:r>
              <a:rPr spc="-5" dirty="0">
                <a:latin typeface="Tw Cen MT Condensed (Headings)"/>
                <a:cs typeface="Calibri" panose="020F0502020204030204"/>
              </a:rPr>
              <a:t> </a:t>
            </a:r>
            <a:r>
              <a:rPr spc="-25" dirty="0">
                <a:latin typeface="Tw Cen MT Condensed (Headings)"/>
                <a:cs typeface="Calibri" panose="020F0502020204030204"/>
              </a:rPr>
              <a:t>to</a:t>
            </a:r>
            <a:r>
              <a:rPr spc="-15" dirty="0">
                <a:latin typeface="Tw Cen MT Condensed (Headings)"/>
                <a:cs typeface="Calibri" panose="020F0502020204030204"/>
              </a:rPr>
              <a:t> </a:t>
            </a:r>
            <a:r>
              <a:rPr spc="-25" dirty="0">
                <a:latin typeface="Tw Cen MT Condensed (Headings)"/>
                <a:cs typeface="Calibri" panose="020F0502020204030204"/>
              </a:rPr>
              <a:t>Register</a:t>
            </a:r>
            <a:endParaRPr dirty="0">
              <a:latin typeface="Tw Cen MT Condensed (Headings)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95400" y="3276600"/>
            <a:ext cx="6761480" cy="953769"/>
            <a:chOff x="1333500" y="2437129"/>
            <a:chExt cx="6761480" cy="953769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71600" y="2474912"/>
              <a:ext cx="6684899" cy="8778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33500" y="2437129"/>
              <a:ext cx="6761480" cy="953769"/>
            </a:xfrm>
            <a:custGeom>
              <a:avLst/>
              <a:gdLst/>
              <a:ahLst/>
              <a:cxnLst/>
              <a:rect l="l" t="t" r="r" b="b"/>
              <a:pathLst>
                <a:path w="6761480" h="953770">
                  <a:moveTo>
                    <a:pt x="6735699" y="25400"/>
                  </a:moveTo>
                  <a:lnTo>
                    <a:pt x="6722999" y="25400"/>
                  </a:lnTo>
                  <a:lnTo>
                    <a:pt x="6722999" y="38100"/>
                  </a:lnTo>
                  <a:lnTo>
                    <a:pt x="6722999" y="915670"/>
                  </a:lnTo>
                  <a:lnTo>
                    <a:pt x="38100" y="915670"/>
                  </a:lnTo>
                  <a:lnTo>
                    <a:pt x="38100" y="38100"/>
                  </a:lnTo>
                  <a:lnTo>
                    <a:pt x="6722999" y="38100"/>
                  </a:lnTo>
                  <a:lnTo>
                    <a:pt x="6722999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915670"/>
                  </a:lnTo>
                  <a:lnTo>
                    <a:pt x="25400" y="928370"/>
                  </a:lnTo>
                  <a:lnTo>
                    <a:pt x="6735699" y="928370"/>
                  </a:lnTo>
                  <a:lnTo>
                    <a:pt x="6735699" y="915670"/>
                  </a:lnTo>
                  <a:lnTo>
                    <a:pt x="6735699" y="38100"/>
                  </a:lnTo>
                  <a:lnTo>
                    <a:pt x="6735699" y="37719"/>
                  </a:lnTo>
                  <a:lnTo>
                    <a:pt x="6735699" y="25400"/>
                  </a:lnTo>
                  <a:close/>
                </a:path>
                <a:path w="6761480" h="953770">
                  <a:moveTo>
                    <a:pt x="6761099" y="0"/>
                  </a:moveTo>
                  <a:lnTo>
                    <a:pt x="6748399" y="0"/>
                  </a:lnTo>
                  <a:lnTo>
                    <a:pt x="6748399" y="12700"/>
                  </a:lnTo>
                  <a:lnTo>
                    <a:pt x="6748399" y="941070"/>
                  </a:lnTo>
                  <a:lnTo>
                    <a:pt x="12700" y="941070"/>
                  </a:lnTo>
                  <a:lnTo>
                    <a:pt x="12700" y="12700"/>
                  </a:lnTo>
                  <a:lnTo>
                    <a:pt x="6748399" y="12700"/>
                  </a:lnTo>
                  <a:lnTo>
                    <a:pt x="6748399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941070"/>
                  </a:lnTo>
                  <a:lnTo>
                    <a:pt x="0" y="953770"/>
                  </a:lnTo>
                  <a:lnTo>
                    <a:pt x="6761099" y="953770"/>
                  </a:lnTo>
                  <a:lnTo>
                    <a:pt x="6761099" y="941070"/>
                  </a:lnTo>
                  <a:lnTo>
                    <a:pt x="6761099" y="12700"/>
                  </a:lnTo>
                  <a:lnTo>
                    <a:pt x="6761099" y="12319"/>
                  </a:lnTo>
                  <a:lnTo>
                    <a:pt x="6761099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1448" y="1722371"/>
            <a:ext cx="5502952" cy="146304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Computer-System Architecture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 idx="4294967295"/>
          </p:nvPr>
        </p:nvSpPr>
        <p:spPr>
          <a:xfrm>
            <a:off x="1130051" y="414338"/>
            <a:ext cx="7586662" cy="576262"/>
          </a:xfrm>
        </p:spPr>
        <p:txBody>
          <a:bodyPr/>
          <a:lstStyle/>
          <a:p>
            <a:r>
              <a:rPr lang="en-US" altLang="en-US" dirty="0"/>
              <a:t>Computer-System Architecture</a:t>
            </a:r>
            <a:endParaRPr lang="en-US" altLang="en-US" dirty="0"/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>
          <a:xfrm>
            <a:off x="403224" y="990600"/>
            <a:ext cx="8435975" cy="5486400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Modern computers use </a:t>
            </a:r>
            <a:r>
              <a:rPr lang="en-US" altLang="en-US" sz="3600" b="1" dirty="0">
                <a:solidFill>
                  <a:srgbClr val="3366FF"/>
                </a:solidFill>
              </a:rPr>
              <a:t>multi-core</a:t>
            </a:r>
            <a:r>
              <a:rPr lang="en-US" altLang="en-US" sz="2600" dirty="0"/>
              <a:t> general-purpose CPUs instead of single-core ones.</a:t>
            </a:r>
            <a:endParaRPr lang="en-US" altLang="en-US" sz="2600" dirty="0"/>
          </a:p>
          <a:p>
            <a:r>
              <a:rPr lang="en-US" altLang="en-US" sz="2600" dirty="0"/>
              <a:t>They also include special-purpose processors like GPUs and controllers for specific tasks.</a:t>
            </a:r>
            <a:endParaRPr lang="en-US" altLang="en-US" sz="2600" dirty="0"/>
          </a:p>
          <a:p>
            <a:r>
              <a:rPr lang="en-US" altLang="en-US" sz="2600" dirty="0"/>
              <a:t>Multi-core and multiprocessor architectures have become standard, especially in servers, cloud systems, and high-performance computers, due to their speed, efficiency, and scalability. </a:t>
            </a:r>
            <a:endParaRPr lang="en-US" altLang="en-US" sz="2600" dirty="0"/>
          </a:p>
          <a:p>
            <a:r>
              <a:rPr lang="en-US" altLang="en-US" sz="3600" b="1" dirty="0">
                <a:solidFill>
                  <a:srgbClr val="3366FF"/>
                </a:solidFill>
              </a:rPr>
              <a:t>Multiprocessors</a:t>
            </a:r>
            <a:r>
              <a:rPr lang="en-US" altLang="en-US" sz="3600" dirty="0">
                <a:solidFill>
                  <a:srgbClr val="3366FF"/>
                </a:solidFill>
              </a:rPr>
              <a:t> </a:t>
            </a:r>
            <a:r>
              <a:rPr lang="en-US" altLang="en-US" sz="3600" dirty="0"/>
              <a:t>systems </a:t>
            </a:r>
            <a:r>
              <a:rPr lang="en-US" altLang="en-US" sz="2800" dirty="0"/>
              <a:t>Two types:</a:t>
            </a:r>
            <a:endParaRPr lang="en-US" altLang="en-US" sz="2800" dirty="0"/>
          </a:p>
          <a:p>
            <a:pPr marL="802005" lvl="2" indent="-342900">
              <a:buFont typeface="Arial" panose="020B0604020202020204" pitchFamily="34" charset="0"/>
              <a:buAutoNum type="arabicPeriod"/>
            </a:pPr>
            <a:r>
              <a:rPr lang="en-US" altLang="en-US" sz="2000" b="1" dirty="0">
                <a:solidFill>
                  <a:srgbClr val="3366FF"/>
                </a:solidFill>
              </a:rPr>
              <a:t>Asymmetric Multiprocessing </a:t>
            </a:r>
            <a:r>
              <a:rPr lang="en-US" altLang="en-US" sz="2000" dirty="0"/>
              <a:t>– each processor is assigned a specie task.</a:t>
            </a:r>
            <a:endParaRPr lang="en-US" altLang="en-US" sz="2000" dirty="0"/>
          </a:p>
          <a:p>
            <a:pPr marL="802005" lvl="2" indent="-342900">
              <a:buFont typeface="Arial" panose="020B0604020202020204" pitchFamily="34" charset="0"/>
              <a:buAutoNum type="arabicPeriod"/>
            </a:pPr>
            <a:r>
              <a:rPr lang="en-US" altLang="en-US" sz="2000" b="1" dirty="0">
                <a:solidFill>
                  <a:srgbClr val="3366FF"/>
                </a:solidFill>
              </a:rPr>
              <a:t>Symmetric Multiprocessing </a:t>
            </a:r>
            <a:r>
              <a:rPr lang="en-US" altLang="en-US" sz="2000" dirty="0"/>
              <a:t>– each processor performs all tasks</a:t>
            </a:r>
            <a:endParaRPr lang="en-US" altLang="en-US" sz="2000" dirty="0"/>
          </a:p>
          <a:p>
            <a:pPr marL="1200150" lvl="2" indent="-342900">
              <a:buFont typeface="Webdings" panose="05030102010509060703" pitchFamily="18" charset="2"/>
              <a:buNone/>
            </a:pPr>
            <a:endParaRPr lang="en-US" altLang="en-US" sz="2000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latin typeface="Tw Cen MT Condensed (Headings)"/>
                <a:cs typeface="Calibri" panose="020F0502020204030204"/>
              </a:rPr>
              <a:t>Single</a:t>
            </a:r>
            <a:r>
              <a:rPr lang="en-US" spc="-35" dirty="0">
                <a:latin typeface="Tw Cen MT Condensed (Headings)"/>
                <a:cs typeface="Calibri" panose="020F0502020204030204"/>
              </a:rPr>
              <a:t> </a:t>
            </a:r>
            <a:r>
              <a:rPr lang="en-US" spc="-10" dirty="0">
                <a:latin typeface="Tw Cen MT Condensed (Headings)"/>
                <a:cs typeface="Calibri" panose="020F0502020204030204"/>
              </a:rPr>
              <a:t>Processor</a:t>
            </a:r>
            <a:r>
              <a:rPr lang="en-US" spc="-60" dirty="0">
                <a:latin typeface="Tw Cen MT Condensed (Headings)"/>
                <a:cs typeface="Calibri" panose="020F0502020204030204"/>
              </a:rPr>
              <a:t> </a:t>
            </a:r>
            <a:r>
              <a:rPr lang="en-US" spc="-20" dirty="0">
                <a:latin typeface="Tw Cen MT Condensed (Headings)"/>
                <a:cs typeface="Calibri" panose="020F0502020204030204"/>
              </a:rPr>
              <a:t>Systems</a:t>
            </a:r>
            <a:br>
              <a:rPr lang="en-US" dirty="0">
                <a:latin typeface="Tw Cen MT Condensed (Headings)"/>
                <a:cs typeface="Calibri" panose="020F0502020204030204"/>
              </a:rPr>
            </a:br>
            <a:endParaRPr lang="en-US" dirty="0">
              <a:latin typeface="Tw Cen MT Condensed (Headings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IK32 | single computer board | Winmat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10"/>
          <a:stretch>
            <a:fillRect/>
          </a:stretch>
        </p:blipFill>
        <p:spPr bwMode="auto">
          <a:xfrm>
            <a:off x="1025888" y="1752600"/>
            <a:ext cx="6172200" cy="530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910771" y="722312"/>
            <a:ext cx="8229600" cy="641350"/>
          </a:xfrm>
        </p:spPr>
        <p:txBody>
          <a:bodyPr/>
          <a:lstStyle/>
          <a:p>
            <a:r>
              <a:rPr lang="en-US" altLang="en-US" sz="3000" dirty="0"/>
              <a:t>Symmetric Multiprocessing Architecture</a:t>
            </a:r>
            <a:endParaRPr lang="en-US" altLang="en-US" sz="3000" dirty="0"/>
          </a:p>
        </p:txBody>
      </p:sp>
      <p:pic>
        <p:nvPicPr>
          <p:cNvPr id="50179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0200"/>
            <a:ext cx="5051425" cy="382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10" dirty="0">
                <a:latin typeface="Tw Cen MT Condensed (Headings)"/>
                <a:cs typeface="Calibri" panose="020F0502020204030204"/>
              </a:rPr>
              <a:t>Multiprocessor</a:t>
            </a:r>
            <a:r>
              <a:rPr lang="en-US" sz="4000" spc="-45" dirty="0">
                <a:latin typeface="Tw Cen MT Condensed (Headings)"/>
                <a:cs typeface="Calibri" panose="020F0502020204030204"/>
              </a:rPr>
              <a:t> </a:t>
            </a:r>
            <a:r>
              <a:rPr lang="en-US" sz="4000" spc="-20" dirty="0">
                <a:latin typeface="Tw Cen MT Condensed (Headings)"/>
                <a:cs typeface="Calibri" panose="020F0502020204030204"/>
              </a:rPr>
              <a:t>Systems</a:t>
            </a:r>
            <a:br>
              <a:rPr lang="en-US" sz="4000" dirty="0">
                <a:latin typeface="Tw Cen MT Condensed (Headings)"/>
                <a:cs typeface="Calibri" panose="020F0502020204030204"/>
              </a:rPr>
            </a:br>
            <a:endParaRPr lang="en-US" dirty="0">
              <a:latin typeface="Tw Cen MT Condensed (Headings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Symmetric Multiprocessing Syste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7384869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070850" cy="576262"/>
          </a:xfrm>
        </p:spPr>
        <p:txBody>
          <a:bodyPr/>
          <a:lstStyle/>
          <a:p>
            <a:r>
              <a:rPr lang="en-US" altLang="en-US" dirty="0"/>
              <a:t>Dual-Core Design</a:t>
            </a:r>
            <a:endParaRPr lang="en-US" altLang="en-US" dirty="0"/>
          </a:p>
        </p:txBody>
      </p:sp>
      <p:sp>
        <p:nvSpPr>
          <p:cNvPr id="52227" name="Content Placeholder 1"/>
          <p:cNvSpPr>
            <a:spLocks noGrp="1" noChangeArrowheads="1"/>
          </p:cNvSpPr>
          <p:nvPr>
            <p:ph sz="half" idx="1"/>
          </p:nvPr>
        </p:nvSpPr>
        <p:spPr>
          <a:xfrm>
            <a:off x="692151" y="868595"/>
            <a:ext cx="8070849" cy="187460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spc="-15" dirty="0"/>
              <a:t>The definition of multiprocessor has evolved over time and now includes multicore systems, in which multiple computing cores reside on a single chip.</a:t>
            </a:r>
            <a:endParaRPr lang="en-US" sz="2400" spc="-15" dirty="0"/>
          </a:p>
          <a:p>
            <a:pPr algn="just"/>
            <a:r>
              <a:rPr lang="en-US" sz="2400" spc="-15" dirty="0"/>
              <a:t>Multicore systems can be more efficient than multiple chips with single cores</a:t>
            </a:r>
            <a:endParaRPr lang="en-US" altLang="en-US" sz="2400" spc="-15" dirty="0"/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984" y="2590800"/>
            <a:ext cx="4039281" cy="3601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10" dirty="0">
                <a:latin typeface="Tw Cen MT Condensed (Headings)"/>
                <a:cs typeface="Calibri" panose="020F0502020204030204"/>
              </a:rPr>
              <a:t>Multicore </a:t>
            </a:r>
            <a:r>
              <a:rPr lang="en-US" spc="-20" dirty="0">
                <a:latin typeface="Tw Cen MT Condensed (Headings)"/>
                <a:cs typeface="Calibri" panose="020F0502020204030204"/>
              </a:rPr>
              <a:t>Systems</a:t>
            </a:r>
            <a:endParaRPr lang="en-US" dirty="0">
              <a:latin typeface="Tw Cen MT Condensed (Headings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White Paper: Introduction to Intel® Architecture, The Basic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61" y="2084832"/>
            <a:ext cx="7457103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>
          <a:xfrm>
            <a:off x="923925" y="84138"/>
            <a:ext cx="8035925" cy="709612"/>
          </a:xfrm>
        </p:spPr>
        <p:txBody>
          <a:bodyPr/>
          <a:lstStyle/>
          <a:p>
            <a:r>
              <a:rPr lang="en-US" altLang="en-US" dirty="0"/>
              <a:t>Non-Uniform Memory Access System</a:t>
            </a:r>
            <a:endParaRPr lang="en-US" altLang="en-US" dirty="0"/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81" y="1905000"/>
            <a:ext cx="4440238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3924" y="796248"/>
            <a:ext cx="73818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spc="-15" dirty="0">
                <a:latin typeface="Tw Cen MT (Body)"/>
              </a:rPr>
              <a:t>NUMA, is a method of configuring a cluster of microprocessors in a multiprocessing system so they can share memory locally</a:t>
            </a:r>
            <a:r>
              <a:rPr lang="en-US" b="0" i="0" dirty="0">
                <a:solidFill>
                  <a:srgbClr val="4D5156"/>
                </a:solidFill>
                <a:effectLst/>
                <a:latin typeface="Tw Cen MT (Body)"/>
              </a:rPr>
              <a:t>.</a:t>
            </a:r>
            <a:endParaRPr lang="en-US" dirty="0">
              <a:latin typeface="Tw Cen MT (Body)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7963"/>
            <a:ext cx="8061325" cy="576262"/>
          </a:xfrm>
        </p:spPr>
        <p:txBody>
          <a:bodyPr/>
          <a:lstStyle/>
          <a:p>
            <a:r>
              <a:rPr lang="en-US" altLang="en-US" dirty="0"/>
              <a:t>Clustered Systems</a:t>
            </a:r>
            <a:endParaRPr lang="en-US" altLang="en-US" dirty="0"/>
          </a:p>
        </p:txBody>
      </p:sp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059" y="2800966"/>
            <a:ext cx="7273777" cy="373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03423" y="990600"/>
            <a:ext cx="77151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Tw Cen MT (Body)"/>
              </a:rPr>
              <a:t>Clustered systems are created by two or more individual computer systems merged together. Basically, they have independent computer systems with a common storage and the systems work together.</a:t>
            </a:r>
            <a:endParaRPr lang="en-US" altLang="en-US" sz="2400" dirty="0">
              <a:latin typeface="Tw Cen MT (Body)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015288" cy="576263"/>
          </a:xfrm>
        </p:spPr>
        <p:txBody>
          <a:bodyPr/>
          <a:lstStyle/>
          <a:p>
            <a:r>
              <a:rPr lang="en-US" altLang="en-US"/>
              <a:t>PC Motherboard</a:t>
            </a:r>
            <a:endParaRPr lang="en-US" altLang="en-US"/>
          </a:p>
        </p:txBody>
      </p:sp>
      <p:pic>
        <p:nvPicPr>
          <p:cNvPr id="583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0738" y="1046163"/>
            <a:ext cx="6867525" cy="5349875"/>
          </a:xfr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6699"/>
                </a:solidFill>
                <a:ea typeface="+mn-ea"/>
                <a:cs typeface="+mn-cs"/>
              </a:rPr>
              <a:t>Operating-System Operations</a:t>
            </a:r>
            <a:endParaRPr lang="en-US" sz="3200" b="1" dirty="0">
              <a:solidFill>
                <a:srgbClr val="006699"/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6600" y="477044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Operating-System Operations</a:t>
            </a:r>
            <a:endParaRPr lang="en-US" alt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154113"/>
            <a:ext cx="7670800" cy="4938712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/>
              <a:t>OS: Provides an environment to execute programs.</a:t>
            </a:r>
            <a:endParaRPr lang="en-US" altLang="en-US" sz="2400" dirty="0"/>
          </a:p>
          <a:p>
            <a:pPr algn="just"/>
            <a:r>
              <a:rPr lang="en-US" altLang="en-US" sz="2400" dirty="0">
                <a:solidFill>
                  <a:srgbClr val="006699"/>
                </a:solidFill>
              </a:rPr>
              <a:t>Bootstrap</a:t>
            </a:r>
            <a:r>
              <a:rPr lang="en-US" altLang="en-US" sz="2400" dirty="0"/>
              <a:t> Program: Initializes system and loads OS kernel.</a:t>
            </a:r>
            <a:endParaRPr lang="en-US" altLang="en-US" sz="2400" dirty="0"/>
          </a:p>
          <a:p>
            <a:pPr algn="just"/>
            <a:r>
              <a:rPr lang="en-US" altLang="en-US" sz="2400" dirty="0">
                <a:solidFill>
                  <a:srgbClr val="006699"/>
                </a:solidFill>
              </a:rPr>
              <a:t>Daemons</a:t>
            </a:r>
            <a:r>
              <a:rPr lang="en-US" altLang="en-US" sz="2400" dirty="0"/>
              <a:t>: Background processes that provide essential services.</a:t>
            </a:r>
            <a:endParaRPr lang="en-US" altLang="en-US" sz="2400" dirty="0"/>
          </a:p>
          <a:p>
            <a:pPr algn="just"/>
            <a:r>
              <a:rPr lang="en-US" altLang="en-US" sz="2400" dirty="0"/>
              <a:t>Example: "</a:t>
            </a:r>
            <a:r>
              <a:rPr lang="en-US" altLang="en-US" sz="2400" dirty="0" err="1"/>
              <a:t>systemd</a:t>
            </a:r>
            <a:r>
              <a:rPr lang="en-US" altLang="en-US" sz="2400" dirty="0"/>
              <a:t>" on Linux starts and manages other daemons.</a:t>
            </a:r>
            <a:endParaRPr lang="en-US" altLang="en-US" sz="2400" dirty="0"/>
          </a:p>
          <a:p>
            <a:pPr algn="just"/>
            <a:r>
              <a:rPr lang="en-US" altLang="en-US" sz="2400" dirty="0"/>
              <a:t>Run continuously to handle tasks like logging, scheduling, or networking.</a:t>
            </a:r>
            <a:endParaRPr lang="en-US" altLang="en-US" sz="2400" dirty="0"/>
          </a:p>
          <a:p>
            <a:pPr algn="just"/>
            <a:r>
              <a:rPr lang="en-US" altLang="en-US" sz="2400" dirty="0"/>
              <a:t>OS waits for interrupts or events to activate daemons or processes.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863" y="616774"/>
            <a:ext cx="7416928" cy="5905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w Cen MT Condensed (Headings)"/>
                <a:cs typeface="Calibri" panose="020F0502020204030204"/>
              </a:rPr>
              <a:t>Multiprogrammed</a:t>
            </a:r>
            <a:r>
              <a:rPr spc="-110" dirty="0">
                <a:latin typeface="Tw Cen MT Condensed (Headings)"/>
                <a:cs typeface="Calibri" panose="020F0502020204030204"/>
              </a:rPr>
              <a:t> </a:t>
            </a:r>
            <a:r>
              <a:rPr spc="-30" dirty="0">
                <a:latin typeface="Tw Cen MT Condensed (Headings)"/>
                <a:cs typeface="Calibri" panose="020F0502020204030204"/>
              </a:rPr>
              <a:t>Systems</a:t>
            </a:r>
            <a:endParaRPr dirty="0">
              <a:latin typeface="Tw Cen MT Condensed (Headings)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2749" y="1752600"/>
            <a:ext cx="3839845" cy="4483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 marR="5080" indent="-10096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w Cen MT (Body)"/>
                <a:cs typeface="Arial MT"/>
              </a:rPr>
              <a:t>Several</a:t>
            </a:r>
            <a:r>
              <a:rPr sz="3200" spc="-45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jobs</a:t>
            </a:r>
            <a:r>
              <a:rPr sz="3200" spc="-30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are</a:t>
            </a:r>
            <a:r>
              <a:rPr sz="3200" spc="-45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kept </a:t>
            </a:r>
            <a:r>
              <a:rPr sz="3200" spc="-875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in </a:t>
            </a:r>
            <a:r>
              <a:rPr sz="3200" spc="-5" dirty="0">
                <a:latin typeface="Tw Cen MT (Body)"/>
                <a:cs typeface="Arial MT"/>
              </a:rPr>
              <a:t>main memory </a:t>
            </a:r>
            <a:r>
              <a:rPr sz="3200" spc="-10" dirty="0">
                <a:latin typeface="Tw Cen MT (Body)"/>
                <a:cs typeface="Arial MT"/>
              </a:rPr>
              <a:t>at </a:t>
            </a:r>
            <a:r>
              <a:rPr sz="3200" spc="-5" dirty="0">
                <a:latin typeface="Tw Cen MT (Body)"/>
                <a:cs typeface="Arial MT"/>
              </a:rPr>
              <a:t> </a:t>
            </a:r>
            <a:r>
              <a:rPr sz="3200" dirty="0">
                <a:latin typeface="Tw Cen MT (Body)"/>
                <a:cs typeface="Arial MT"/>
              </a:rPr>
              <a:t>the same </a:t>
            </a:r>
            <a:r>
              <a:rPr sz="3200" spc="-5" dirty="0">
                <a:latin typeface="Tw Cen MT (Body)"/>
                <a:cs typeface="Arial MT"/>
              </a:rPr>
              <a:t>time, and </a:t>
            </a:r>
            <a:r>
              <a:rPr sz="3200" dirty="0">
                <a:latin typeface="Tw Cen MT (Body)"/>
                <a:cs typeface="Arial MT"/>
              </a:rPr>
              <a:t> the CPU is </a:t>
            </a:r>
            <a:r>
              <a:rPr sz="3200" spc="5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multiplexed among </a:t>
            </a:r>
            <a:r>
              <a:rPr sz="3200" dirty="0">
                <a:latin typeface="Tw Cen MT (Body)"/>
                <a:cs typeface="Arial MT"/>
              </a:rPr>
              <a:t> </a:t>
            </a:r>
            <a:r>
              <a:rPr sz="3200" spc="-5" dirty="0">
                <a:latin typeface="Tw Cen MT (Body)"/>
                <a:cs typeface="Arial MT"/>
              </a:rPr>
              <a:t>them.</a:t>
            </a:r>
            <a:endParaRPr lang="en-US" sz="3200" spc="-5" dirty="0">
              <a:latin typeface="Tw Cen MT (Body)"/>
              <a:cs typeface="Arial MT"/>
            </a:endParaRPr>
          </a:p>
          <a:p>
            <a:pPr marL="113030" marR="5080" indent="-100965">
              <a:lnSpc>
                <a:spcPct val="100000"/>
              </a:lnSpc>
              <a:spcBef>
                <a:spcPts val="105"/>
              </a:spcBef>
            </a:pPr>
            <a:endParaRPr lang="en-US" sz="3200" spc="-5" dirty="0">
              <a:latin typeface="Tw Cen MT (Body)"/>
              <a:cs typeface="Arial MT"/>
            </a:endParaRPr>
          </a:p>
          <a:p>
            <a:pPr marL="113030" marR="5080" indent="-100965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latin typeface="Tw Cen MT (Body)"/>
                <a:cs typeface="Arial MT"/>
              </a:rPr>
              <a:t>One job selected and run via job scheduling</a:t>
            </a:r>
            <a:endParaRPr lang="en-US" sz="3200" dirty="0">
              <a:latin typeface="Tw Cen MT (Body)"/>
              <a:cs typeface="Arial MT"/>
            </a:endParaRPr>
          </a:p>
          <a:p>
            <a:pPr marL="113030" marR="5080" indent="-100965">
              <a:lnSpc>
                <a:spcPct val="100000"/>
              </a:lnSpc>
              <a:spcBef>
                <a:spcPts val="105"/>
              </a:spcBef>
            </a:pPr>
            <a:endParaRPr sz="3200" dirty="0">
              <a:latin typeface="Tw Cen MT (Body)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05728" y="1600200"/>
            <a:ext cx="368552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4727" y="533400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(Timesharing)</a:t>
            </a:r>
            <a:endParaRPr lang="en-US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98488" y="1444626"/>
            <a:ext cx="8088312" cy="54133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A logical extension of Batch systems– the CPU switches jobs so frequently that users can interact with each job while it is running, creating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interactive</a:t>
            </a:r>
            <a:r>
              <a:rPr lang="en-US" altLang="en-US" sz="2800" dirty="0"/>
              <a:t> computing</a:t>
            </a: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sz="2800" dirty="0"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  <a:sym typeface="Wingdings 3" panose="05040102010807070707" pitchFamily="18" charset="2"/>
              </a:rPr>
              <a:t>CPU scheduling</a:t>
            </a:r>
            <a:endParaRPr lang="en-US" altLang="en-US" sz="2800" b="1" dirty="0">
              <a:solidFill>
                <a:srgbClr val="006699"/>
              </a:solidFill>
              <a:latin typeface="+mj-lt"/>
              <a:sym typeface="Wingdings 3" panose="05040102010807070707" pitchFamily="18" charset="2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6451" y="35297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Dual-mode Operation</a:t>
            </a:r>
            <a:endParaRPr lang="en-US" alt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1" y="1233488"/>
            <a:ext cx="7011168" cy="46247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Dual-mode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operation allows OS to protect itself and other system components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User mode </a:t>
            </a:r>
            <a:r>
              <a:rPr lang="en-US" altLang="en-US" sz="2400" dirty="0"/>
              <a:t>and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kernel mode 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/>
              <a:t>User Mode: Limited privileges (for user programs).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Kernel Mode: Full control (for OS tasks).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Transition: Occurs through interrupts, traps, or system calls.</a:t>
            </a:r>
            <a:endParaRPr lang="en-US" alt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94" y="4191000"/>
            <a:ext cx="7611269" cy="2259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S UMT theme with background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 UMT theme with background</Template>
  <TotalTime>0</TotalTime>
  <Words>9478</Words>
  <Application>WPS Presentation</Application>
  <PresentationFormat>On-screen Show (4:3)</PresentationFormat>
  <Paragraphs>308</Paragraphs>
  <Slides>50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75" baseType="lpstr">
      <vt:lpstr>Arial</vt:lpstr>
      <vt:lpstr>SimSun</vt:lpstr>
      <vt:lpstr>Wingdings</vt:lpstr>
      <vt:lpstr>Tw Cen MT</vt:lpstr>
      <vt:lpstr>Tw Cen MT (Body)</vt:lpstr>
      <vt:lpstr>Wingdings 3</vt:lpstr>
      <vt:lpstr>Arial</vt:lpstr>
      <vt:lpstr>Times New Roman</vt:lpstr>
      <vt:lpstr>Tw Cen MT Condensed (Headings)</vt:lpstr>
      <vt:lpstr>Times New Roman</vt:lpstr>
      <vt:lpstr>Microsoft YaHei</vt:lpstr>
      <vt:lpstr>Arial Unicode MS</vt:lpstr>
      <vt:lpstr>Tw Cen MT Condensed</vt:lpstr>
      <vt:lpstr>Calibri</vt:lpstr>
      <vt:lpstr>Monotype Sorts</vt:lpstr>
      <vt:lpstr>Calibri</vt:lpstr>
      <vt:lpstr>Arial MT</vt:lpstr>
      <vt:lpstr>Helvetica</vt:lpstr>
      <vt:lpstr>MS PGothic</vt:lpstr>
      <vt:lpstr>Webdings</vt:lpstr>
      <vt:lpstr>Verdana</vt:lpstr>
      <vt:lpstr>メイリオ</vt:lpstr>
      <vt:lpstr>Segoe Print</vt:lpstr>
      <vt:lpstr>Wingdings</vt:lpstr>
      <vt:lpstr>OS UMT theme with background</vt:lpstr>
      <vt:lpstr>CC3011 - Operating Systems</vt:lpstr>
      <vt:lpstr>Text Book</vt:lpstr>
      <vt:lpstr>Grading Scheme (tentative)</vt:lpstr>
      <vt:lpstr>Topics</vt:lpstr>
      <vt:lpstr>What Does the Term Operating System  Mean? </vt:lpstr>
      <vt:lpstr>What is Operating system </vt:lpstr>
      <vt:lpstr>What is Operating system </vt:lpstr>
      <vt:lpstr>Computer System Structure</vt:lpstr>
      <vt:lpstr>Computer System Structure</vt:lpstr>
      <vt:lpstr>What Operating Systems Do</vt:lpstr>
      <vt:lpstr>User View</vt:lpstr>
      <vt:lpstr>User View</vt:lpstr>
      <vt:lpstr>Defining Operating Systems</vt:lpstr>
      <vt:lpstr>System View</vt:lpstr>
      <vt:lpstr>Operating System</vt:lpstr>
      <vt:lpstr>Computer Startup</vt:lpstr>
      <vt:lpstr>PowerPoint 演示文稿</vt:lpstr>
      <vt:lpstr>Computer System Organization</vt:lpstr>
      <vt:lpstr>Computer System Organization</vt:lpstr>
      <vt:lpstr>Computer-System Operation</vt:lpstr>
      <vt:lpstr>Interrupt Timeline</vt:lpstr>
      <vt:lpstr>Common Functions of Interrupts</vt:lpstr>
      <vt:lpstr>Computer-System Operation</vt:lpstr>
      <vt:lpstr>Interrupt-drive I/O Cycle</vt:lpstr>
      <vt:lpstr>Transfer of Control via Interrupts</vt:lpstr>
      <vt:lpstr>I/O operations</vt:lpstr>
      <vt:lpstr>Direct Memory Access (DMA)</vt:lpstr>
      <vt:lpstr>How a Modern Computer Works</vt:lpstr>
      <vt:lpstr>PowerPoint 演示文稿</vt:lpstr>
      <vt:lpstr>Storage Structure</vt:lpstr>
      <vt:lpstr>Storage Structure (Cont.)</vt:lpstr>
      <vt:lpstr>Memory Hierarchy</vt:lpstr>
      <vt:lpstr>Storage-Device Hierarchy</vt:lpstr>
      <vt:lpstr>Cache and Main Memory</vt:lpstr>
      <vt:lpstr>from Disk to Register</vt:lpstr>
      <vt:lpstr>PowerPoint 演示文稿</vt:lpstr>
      <vt:lpstr>Computer-System Architecture</vt:lpstr>
      <vt:lpstr>Single Processor Systems </vt:lpstr>
      <vt:lpstr>Symmetric Multiprocessing Architecture</vt:lpstr>
      <vt:lpstr>Multiprocessor Systems </vt:lpstr>
      <vt:lpstr>Dual-Core Design</vt:lpstr>
      <vt:lpstr>Multicore Systems</vt:lpstr>
      <vt:lpstr>Non-Uniform Memory Access System</vt:lpstr>
      <vt:lpstr>Clustered Systems</vt:lpstr>
      <vt:lpstr>PC Motherboard</vt:lpstr>
      <vt:lpstr>Operating-System Operations</vt:lpstr>
      <vt:lpstr>Operating-System Operations</vt:lpstr>
      <vt:lpstr>Multiprogrammed Systems</vt:lpstr>
      <vt:lpstr>Multitasking (Timesharing)</vt:lpstr>
      <vt:lpstr>Dual-mode Operation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CMP-320</dc:title>
  <dc:creator>Adeel</dc:creator>
  <cp:lastModifiedBy>Mr.user</cp:lastModifiedBy>
  <cp:revision>42</cp:revision>
  <dcterms:created xsi:type="dcterms:W3CDTF">2022-10-07T11:02:00Z</dcterms:created>
  <dcterms:modified xsi:type="dcterms:W3CDTF">2026-05-08T04:50:55Z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2015-10-21T05:00:00Z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2022-10-07T05:00:00Z</vt:filetime>
  </property>
  <property fmtid="{D5CDD505-2E9C-101B-9397-08002B2CF9AE}" pid="5" name="KSOProductBuildVer">
    <vt:lpwstr>1033-12.1.0.25242</vt:lpwstr>
  </property>
  <property fmtid="{D5CDD505-2E9C-101B-9397-08002B2CF9AE}" pid="6" name="ICV">
    <vt:lpwstr>11E7533ADC0049FEAFC8F85774024AC4_12</vt:lpwstr>
  </property>
</Properties>
</file>